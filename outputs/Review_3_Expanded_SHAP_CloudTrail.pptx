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f7ba18278d4c22" /><Relationship Type="http://schemas.openxmlformats.org/officeDocument/2006/relationships/extended-properties" Target="/docProps/app.xml" Id="R80365ca0ad1f40fa" /><Relationship Type="http://schemas.openxmlformats.org/officeDocument/2006/relationships/officeDocument" Target="/ppt/presentation.xml" Id="R83c3dbad1201414e" /></Relationships>
</file>

<file path=ppt/presentation.xml><?xml version="1.0" encoding="utf-8"?>
<p:presentation xmlns:p="http://schemas.openxmlformats.org/presentationml/2006/main">
  <p:sldMasterIdLst>
    <p:sldMasterId xmlns:r="http://schemas.openxmlformats.org/officeDocument/2006/relationships" id="2147483648" r:id="R6fcbe603f73f4563"/>
  </p:sldMasterIdLst>
  <p:notesMasterIdLst>
    <p:notesMasterId xmlns:r="http://schemas.openxmlformats.org/officeDocument/2006/relationships" r:id="Rba57d5843fd64436"/>
  </p:notesMasterIdLst>
  <p:sldIdLst>
    <p:sldId xmlns:r="http://schemas.openxmlformats.org/officeDocument/2006/relationships" id="256" r:id="R87f745a2d73d43dd"/>
    <p:sldId xmlns:r="http://schemas.openxmlformats.org/officeDocument/2006/relationships" id="257" r:id="R447391f800b24d44"/>
    <p:sldId xmlns:r="http://schemas.openxmlformats.org/officeDocument/2006/relationships" id="258" r:id="Re24daa237d2641e2"/>
    <p:sldId xmlns:r="http://schemas.openxmlformats.org/officeDocument/2006/relationships" id="259" r:id="R9c96b70dd5e54f06"/>
    <p:sldId xmlns:r="http://schemas.openxmlformats.org/officeDocument/2006/relationships" id="260" r:id="R29efa964686042c9"/>
    <p:sldId xmlns:r="http://schemas.openxmlformats.org/officeDocument/2006/relationships" id="261" r:id="Rc55056ada1cf400c"/>
    <p:sldId xmlns:r="http://schemas.openxmlformats.org/officeDocument/2006/relationships" id="262" r:id="R2b110031da914daa"/>
    <p:sldId xmlns:r="http://schemas.openxmlformats.org/officeDocument/2006/relationships" id="263" r:id="R82245480e9234b98"/>
    <p:sldId xmlns:r="http://schemas.openxmlformats.org/officeDocument/2006/relationships" id="264" r:id="Rafa4eb4439b34679"/>
    <p:sldId xmlns:r="http://schemas.openxmlformats.org/officeDocument/2006/relationships" id="265" r:id="Rbbe29f469b764730"/>
    <p:sldId xmlns:r="http://schemas.openxmlformats.org/officeDocument/2006/relationships" id="266" r:id="R46f90b3fd83b4c8f"/>
    <p:sldId xmlns:r="http://schemas.openxmlformats.org/officeDocument/2006/relationships" id="267" r:id="R018122be4b16476d"/>
    <p:sldId xmlns:r="http://schemas.openxmlformats.org/officeDocument/2006/relationships" id="268" r:id="R5a2c73a57f4b4df9"/>
    <p:sldId xmlns:r="http://schemas.openxmlformats.org/officeDocument/2006/relationships" id="269" r:id="R19437eb074104612"/>
    <p:sldId xmlns:r="http://schemas.openxmlformats.org/officeDocument/2006/relationships" id="270" r:id="Rba12fd09f9b9410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fb01bacc1df45d7" /><Relationship Type="http://schemas.openxmlformats.org/officeDocument/2006/relationships/slideMaster" Target="/ppt/slideMasters/slideMaster1.xml" Id="R6fcbe603f73f4563" /><Relationship Type="http://schemas.openxmlformats.org/officeDocument/2006/relationships/notesMaster" Target="/ppt/notesMasters/notesMaster1.xml" Id="Rba57d5843fd64436" /><Relationship Type="http://schemas.openxmlformats.org/officeDocument/2006/relationships/presProps" Target="/ppt/presProps.xml" Id="R86f5bf31e3994a65" /><Relationship Type="http://schemas.openxmlformats.org/officeDocument/2006/relationships/viewProps" Target="/ppt/viewProps.xml" Id="R517a69f24a204ad3" /><Relationship Type="http://schemas.openxmlformats.org/officeDocument/2006/relationships/tableStyles" Target="/ppt/tableStyles.xml" Id="R3ddd2186b0614f44" /><Relationship Type="http://schemas.openxmlformats.org/officeDocument/2006/relationships/slide" Target="/ppt/slides/slide1.xml" Id="R87f745a2d73d43dd" /><Relationship Type="http://schemas.openxmlformats.org/officeDocument/2006/relationships/slide" Target="/ppt/slides/slide2.xml" Id="R447391f800b24d44" /><Relationship Type="http://schemas.openxmlformats.org/officeDocument/2006/relationships/slide" Target="/ppt/slides/slide3.xml" Id="Re24daa237d2641e2" /><Relationship Type="http://schemas.openxmlformats.org/officeDocument/2006/relationships/slide" Target="/ppt/slides/slide4.xml" Id="R9c96b70dd5e54f06" /><Relationship Type="http://schemas.openxmlformats.org/officeDocument/2006/relationships/slide" Target="/ppt/slides/slide5.xml" Id="R29efa964686042c9" /><Relationship Type="http://schemas.openxmlformats.org/officeDocument/2006/relationships/slide" Target="/ppt/slides/slide6.xml" Id="Rc55056ada1cf400c" /><Relationship Type="http://schemas.openxmlformats.org/officeDocument/2006/relationships/slide" Target="/ppt/slides/slide7.xml" Id="R2b110031da914daa" /><Relationship Type="http://schemas.openxmlformats.org/officeDocument/2006/relationships/slide" Target="/ppt/slides/slide8.xml" Id="R82245480e9234b98" /><Relationship Type="http://schemas.openxmlformats.org/officeDocument/2006/relationships/slide" Target="/ppt/slides/slide9.xml" Id="Rafa4eb4439b34679" /><Relationship Type="http://schemas.openxmlformats.org/officeDocument/2006/relationships/slide" Target="/ppt/slides/slide10.xml" Id="Rbbe29f469b764730" /><Relationship Type="http://schemas.openxmlformats.org/officeDocument/2006/relationships/slide" Target="/ppt/slides/slide11.xml" Id="R46f90b3fd83b4c8f" /><Relationship Type="http://schemas.openxmlformats.org/officeDocument/2006/relationships/slide" Target="/ppt/slides/slide12.xml" Id="R018122be4b16476d" /><Relationship Type="http://schemas.openxmlformats.org/officeDocument/2006/relationships/slide" Target="/ppt/slides/slide13.xml" Id="R5a2c73a57f4b4df9" /><Relationship Type="http://schemas.openxmlformats.org/officeDocument/2006/relationships/slide" Target="/ppt/slides/slide14.xml" Id="R19437eb074104612" /><Relationship Type="http://schemas.openxmlformats.org/officeDocument/2006/relationships/slide" Target="/ppt/slides/slide15.xml" Id="Rba12fd09f9b941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24a72e246e4c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8bfa5856414dc9" /><Relationship Type="http://schemas.openxmlformats.org/officeDocument/2006/relationships/notesMaster" Target="/ppt/notesMasters/notesMaster1.xml" Id="R13b993ae61f846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261f7208e74804" /><Relationship Type="http://schemas.openxmlformats.org/officeDocument/2006/relationships/notesMaster" Target="/ppt/notesMasters/notesMaster1.xml" Id="Re70e921454884b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c95622e708434c" /><Relationship Type="http://schemas.openxmlformats.org/officeDocument/2006/relationships/notesMaster" Target="/ppt/notesMasters/notesMaster1.xml" Id="R776dc8d466dc4f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c2132334554032" /><Relationship Type="http://schemas.openxmlformats.org/officeDocument/2006/relationships/notesMaster" Target="/ppt/notesMasters/notesMaster1.xml" Id="R266493fb452c45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532bc4cf9f4fa5" /><Relationship Type="http://schemas.openxmlformats.org/officeDocument/2006/relationships/notesMaster" Target="/ppt/notesMasters/notesMaster1.xml" Id="R71f135650b9d48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9f9a4ae758466b" /><Relationship Type="http://schemas.openxmlformats.org/officeDocument/2006/relationships/notesMaster" Target="/ppt/notesMasters/notesMaster1.xml" Id="R7e196546ea374a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3171b9964a4b79" /><Relationship Type="http://schemas.openxmlformats.org/officeDocument/2006/relationships/notesMaster" Target="/ppt/notesMasters/notesMaster1.xml" Id="Rca4ef767029b4e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a9e9e12b344448" /><Relationship Type="http://schemas.openxmlformats.org/officeDocument/2006/relationships/notesMaster" Target="/ppt/notesMasters/notesMaster1.xml" Id="R45f6721c6e5b48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cbc70e46004d79" /><Relationship Type="http://schemas.openxmlformats.org/officeDocument/2006/relationships/notesMaster" Target="/ppt/notesMasters/notesMaster1.xml" Id="R8280d4bd199743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b8808a278c48b1" /><Relationship Type="http://schemas.openxmlformats.org/officeDocument/2006/relationships/notesMaster" Target="/ppt/notesMasters/notesMaster1.xml" Id="R69dec90655f240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d440af89d94a3d" /><Relationship Type="http://schemas.openxmlformats.org/officeDocument/2006/relationships/notesMaster" Target="/ppt/notesMasters/notesMaster1.xml" Id="Rdbaa099ae85949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d528091ac448d4" /><Relationship Type="http://schemas.openxmlformats.org/officeDocument/2006/relationships/notesMaster" Target="/ppt/notesMasters/notesMaster1.xml" Id="Rc7d00ea5317542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89a5a409d646e9" /><Relationship Type="http://schemas.openxmlformats.org/officeDocument/2006/relationships/notesMaster" Target="/ppt/notesMasters/notesMaster1.xml" Id="R7bf7b85e743243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b8941441d948ab" /><Relationship Type="http://schemas.openxmlformats.org/officeDocument/2006/relationships/notesMaster" Target="/ppt/notesMasters/notesMaster1.xml" Id="R2b896961bc154c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a653af48eb4818" /><Relationship Type="http://schemas.openxmlformats.org/officeDocument/2006/relationships/notesMaster" Target="/ppt/notesMasters/notesMaster1.xml" Id="Re4058257d91d42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template requires actual guide approval. No approval email was supplied. Replace this status with the authentic email before presenting if it is available. Do not show the sample approval screenshot as proof.</a:t>
            </a:r>
          </a:p>
          <a:p xmlns:a="http://schemas.openxmlformats.org/drawingml/2006/main">
            <a:r>
              <a:t/>
            </a:r>
          </a:p>
          <a:p xmlns:a="http://schemas.openxmlformats.org/drawingml/2006/main">
            <a:r>
              <a:t>Sources: </a:t>
            </a:r>
          </a:p>
          <a:p xmlns:a="http://schemas.openxmlformats.org/drawingml/2006/main">
            <a:r>
              <a:t/>
            </a:r>
          </a:p>
          <a:p xmlns:a="http://schemas.openxmlformats.org/drawingml/2006/main">
            <a:r>
              <a:t>Presentation explanation</a:t>
            </a:r>
          </a:p>
          <a:p xmlns:a="http://schemas.openxmlformats.org/drawingml/2006/main">
            <a:r>
              <a:t>Explain that the project keeps the same historical corpus but now asks when the detector should be updated. The approval slide is a required administrative section, and an authentic guide email is still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Drift means that data changes over time. Adaptation means updating or retraining the detector. The method uses available observations and model explanations, while labels remain part of evaluation.</a:t>
            </a:r>
          </a:p>
          <a:p xmlns:a="http://schemas.openxmlformats.org/drawingml/2006/main">
            <a:r>
              <a:t/>
            </a:r>
          </a:p>
          <a:p xmlns:a="http://schemas.openxmlformats.org/drawingml/2006/main">
            <a:r>
              <a:t>Sources: docs/research_gap.md; docs/capstone_report_content.md</a:t>
            </a:r>
          </a:p>
          <a:p xmlns:a="http://schemas.openxmlformats.org/drawingml/2006/main">
            <a:r>
              <a:t/>
            </a:r>
          </a:p>
          <a:p xmlns:a="http://schemas.openxmlformats.org/drawingml/2006/main">
            <a:r>
              <a:t>Presentation explanation</a:t>
            </a:r>
          </a:p>
          <a:p xmlns:a="http://schemas.openxmlformats.org/drawingml/2006/main">
            <a:r>
              <a:t>A new region or service can be normal. Updating after every change can waste work or learn unwanted behaviour. The aim is to compare what changed in the data with what changed in the model’s explanations before refitting.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has 18 columns and 45 monthly windows. The calendar split is 27 training, 9 validation and 9 test months. Controlled scenario validation/test seeds are a different protocol from those calendar partitions. Real-data findings are observational.</a:t>
            </a:r>
          </a:p>
          <a:p xmlns:a="http://schemas.openxmlformats.org/drawingml/2006/main">
            <a:r>
              <a:t/>
            </a:r>
          </a:p>
          <a:p xmlns:a="http://schemas.openxmlformats.org/drawingml/2006/main">
            <a:r>
              <a:t>Sources: data_manifest/real_cloudtrail_manifest.json; data/processed/temporal_split.json</a:t>
            </a:r>
          </a:p>
          <a:p xmlns:a="http://schemas.openxmlformats.org/drawingml/2006/main">
            <a:r>
              <a:t/>
            </a:r>
          </a:p>
          <a:p xmlns:a="http://schemas.openxmlformats.org/drawingml/2006/main">
            <a:r>
              <a:t>Presentation explanation</a:t>
            </a:r>
          </a:p>
          <a:p xmlns:a="http://schemas.openxmlformats.org/drawingml/2006/main">
            <a:r>
              <a:t>Use two evidence tracks: describe real monthly changes without claiming attack accuracy, then use controlled changes with known masks to measure decisions. The independent labelled dataset supplies a separate validation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literature only. This is not a claim that the separate 100-record PRISMA collection is a completed systematic review. Sethi and Kantardzic DOI 10.1016/j.eswa.2017.04.008; Han et al. DOI 10.14722/ndss.2023.24830; Lee et al. DOI 10.32604/cmc.2023.040235; Varma and Ramya DOI 10.1109/ICNGN67480.2025.11413642.</a:t>
            </a:r>
          </a:p>
          <a:p xmlns:a="http://schemas.openxmlformats.org/drawingml/2006/main">
            <a:r>
              <a:t/>
            </a:r>
          </a:p>
          <a:p xmlns:a="http://schemas.openxmlformats.org/drawingml/2006/main">
            <a:r>
              <a:t>Sources: docs/literature_matrix.csv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Coupling is cosine similarity between per-feature PSI and absolute SHAP displacement on five shared categorical features. A conservative variant also uses centred alignment. These mathematical tools are established. The contribution is their CloudTrail-specific integration and evaluation. High coupling does not confirm an attack. Current controlled results are neutral relative to the simpler dual rule.</a:t>
            </a:r>
          </a:p>
          <a:p xmlns:a="http://schemas.openxmlformats.org/drawingml/2006/main">
            <a:r>
              <a:t/>
            </a:r>
          </a:p>
          <a:p xmlns:a="http://schemas.openxmlformats.org/drawingml/2006/main">
            <a:r>
              <a:t>Sources: docs/attribution_feature_coupling.md; src/drift/drift_monitor.py</a:t>
            </a:r>
          </a:p>
          <a:p xmlns:a="http://schemas.openxmlformats.org/drawingml/2006/main">
            <a:r>
              <a:t/>
            </a:r>
          </a:p>
          <a:p xmlns:a="http://schemas.openxmlformats.org/drawingml/2006/main">
            <a:r>
              <a:t>Presentation explanation</a:t>
            </a:r>
          </a:p>
          <a:p xmlns:a="http://schemas.openxmlformats.org/drawingml/2006/main">
            <a:r>
              <a:t>For each of five shared fields, calculate a data-change score and an attribution-change score. Cosine similarity measures how well these two patterns line up. Low change, benign drift, model-relevant drift and disagreement lead to different decisions. The score is a proposal to evaluate, not proof of malicious intent.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SDG links describe the project’s intended relevance, not measured social impact. The capstone outcome is a working research prototype, code, evaluation artifacts and report.</a:t>
            </a:r>
          </a:p>
          <a:p xmlns:a="http://schemas.openxmlformats.org/drawingml/2006/main">
            <a:r>
              <a:t/>
            </a:r>
          </a:p>
          <a:p xmlns:a="http://schemas.openxmlformats.org/drawingml/2006/main">
            <a:r>
              <a:t>Sources: docs/capstone_report_content.md</a:t>
            </a:r>
          </a:p>
          <a:p xmlns:a="http://schemas.openxmlformats.org/drawingml/2006/main">
            <a:r>
              <a:t/>
            </a:r>
          </a:p>
          <a:p xmlns:a="http://schemas.openxmlformats.org/drawingml/2006/main">
            <a:r>
              <a:t>Presentation explanation</a:t>
            </a:r>
          </a:p>
          <a:p xmlns:a="http://schemas.openxmlformats.org/drawingml/2006/main">
            <a:r>
              <a:t>Define unnecessary update as a requested update in a stable or routine-change scenario, divided by all evaluated scenario runs. Report it alongside F1 and false positives rather than using it as the only success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produces detector and explanation evidence. The lower row measures changes and applies the selected update rule. The pipeline is offline and does not change IAM policies or deploy AWS resources. A protected update uses replay data plus baseline-normal candidates, with a minimum candidate count of 10. Each controlled run starts from the baseline, rather than a persistent online model.</a:t>
            </a:r>
          </a:p>
          <a:p xmlns:a="http://schemas.openxmlformats.org/drawingml/2006/main">
            <a:r>
              <a:t/>
            </a:r>
          </a:p>
          <a:p xmlns:a="http://schemas.openxmlformats.org/drawingml/2006/main">
            <a:r>
              <a:t>Sources: src/adaptation/controller.py; scripts/run_all.py</a:t>
            </a:r>
          </a:p>
          <a:p xmlns:a="http://schemas.openxmlformats.org/drawingml/2006/main">
            <a:r>
              <a:t/>
            </a:r>
          </a:p>
          <a:p xmlns:a="http://schemas.openxmlformats.org/drawingml/2006/main">
            <a:r>
              <a:t>Presentation explanation</a:t>
            </a:r>
          </a:p>
          <a:p xmlns:a="http://schemas.openxmlformats.org/drawingml/2006/main">
            <a:r>
              <a:t>Isolation Forest learns unusual feature combinations. Contamination 0.05 sets its outlier cutoff and does not mean that five percent of the real data is attacked. The safeguard admits only baseline-normal current rows and keeps replay data. This reduces exposure but cannot guarantee zero contamination.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detector inputs are eventName, eventSource, awsRegion, userIdentitytype, errorCode, requestParametersinstanceType and derived isRoot. Unknown categorical values map to -1. The main export has month-level time, limiting event-sequence analysis.</a:t>
            </a:r>
          </a:p>
          <a:p xmlns:a="http://schemas.openxmlformats.org/drawingml/2006/main">
            <a:r>
              <a:t/>
            </a:r>
          </a:p>
          <a:p xmlns:a="http://schemas.openxmlformats.org/drawingml/2006/main">
            <a:r>
              <a:t>Sources: src/features/event_features.py; configs/model.yaml</a:t>
            </a:r>
          </a:p>
          <a:p xmlns:a="http://schemas.openxmlformats.org/drawingml/2006/main">
            <a:r>
              <a:t/>
            </a:r>
          </a:p>
          <a:p xmlns:a="http://schemas.openxmlformats.org/drawingml/2006/main">
            <a:r>
              <a:t>Presentation explanation</a:t>
            </a:r>
          </a:p>
          <a:p xmlns:a="http://schemas.openxmlformats.org/drawingml/2006/main">
            <a:r>
              <a:t>The seven model inputs are a subset of the eighteen original columns. Direct account IDs and access-key strings are not model inputs. The mapping is fixed after training so later categories do not alter the learned vocabulary.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modules: src/features/event_features.py; src/explain/shap_explainer.py; src/drift/drift_monitor.py; src/drift/diagnosis.py; src/adaptation/controller.py; src/evaluation/metrics.py. This slide describes the current repository rather than the earlier cloud-remediation backend.</a:t>
            </a:r>
          </a:p>
          <a:p xmlns:a="http://schemas.openxmlformats.org/drawingml/2006/main">
            <a:r>
              <a:t/>
            </a:r>
          </a:p>
          <a:p xmlns:a="http://schemas.openxmlformats.org/drawingml/2006/main">
            <a:r>
              <a:t>Sources: src; README.md</a:t>
            </a:r>
          </a:p>
          <a:p xmlns:a="http://schemas.openxmlformats.org/drawingml/2006/main">
            <a:r>
              <a:t/>
            </a:r>
          </a:p>
          <a:p xmlns:a="http://schemas.openxmlformats.org/drawingml/2006/main">
            <a:r>
              <a:t>Presentation explanation</a:t>
            </a:r>
          </a:p>
          <a:p xmlns:a="http://schemas.openxmlformats.org/drawingml/2006/main">
            <a:r>
              <a:t>PSI measures how category proportions changed. SHAP drift measures how the explanation distribution changed. The additivity check reconstructs the explained model output, which checks numerical consistency and does not prove the detector is correct about 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benchmark only: 7 scenario families times 10 held-out seeds gives 70 paired scenario-seed units per policy. Five separate validation seeds tune thresholds. Dual validation diagnosis macro-F1 is 0.7306. The paired dual-minus-static FPR difference is -0.088478, 95% CI [-0.127232,-0.056106], BH q=0.000434. Paired F1 difference is -0.002796 with CI [-0.018096,0.011245]. The interval crosses zero. Unnecessary update rate uses all evaluated runs as denominator. Coupling and SHAP-only match dual under current settings, including the conservative-coupling ablation. These are not attack metrics on the primary unlabelled corpus.</a:t>
            </a:r>
          </a:p>
          <a:p xmlns:a="http://schemas.openxmlformats.org/drawingml/2006/main">
            <a:r>
              <a:t/>
            </a:r>
          </a:p>
          <a:p xmlns:a="http://schemas.openxmlformats.org/drawingml/2006/main">
            <a:r>
              <a:t>Sources: results/adaptation_summary.csv; results/paired_inference.csv; data/benchmark/diagnosis_thresholds.json</a:t>
            </a:r>
          </a:p>
          <a:p xmlns:a="http://schemas.openxmlformats.org/drawingml/2006/main">
            <a:r>
              <a:t/>
            </a:r>
          </a:p>
          <a:p xmlns:a="http://schemas.openxmlformats.org/drawingml/2006/main">
            <a:r>
              <a:t>Presentation explanation</a:t>
            </a:r>
          </a:p>
          <a:p xmlns:a="http://schemas.openxmlformats.org/drawingml/2006/main">
            <a:r>
              <a:t>Read the whole table. Data-only updates achieve a lower false-positive rate but trigger many unnecessary changes and have lower mean F1. Dual and coupling have the same current outcome. Explain the 8.85 percentage-point FPR reduction relative to the static baseline and retain the inconclusive F1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two evaluation units separate. Detector-only evaluation uses 16,495 benign training and 24,087 mixed test records (2,585 attack-labelled, 21,502 benign). The temporal checkpoint uses 12 scenario windows, including 10 security and 2 benign windows. Feature-only, SHAP-only and dual match. Source coupling transferred poorly. Unsupervised largest-gap calibration selects 0.4990795305 from target conservative scores after source-locked feature/SHAP gates. It uses the evaluated target batch, so this is exploratory transductive calibration, not prospective validation or full post-adaptation recovery.</a:t>
            </a:r>
          </a:p>
          <a:p xmlns:a="http://schemas.openxmlformats.org/drawingml/2006/main">
            <a:r>
              <a:t/>
            </a:r>
          </a:p>
          <a:p xmlns:a="http://schemas.openxmlformats.org/drawingml/2006/main">
            <a:r>
              <a:t>Sources: data/external_validation/external_validation_manifest.json; data/external_validation/external_detector_metrics.csv; data/external_validation/external_temporal_diagnosis_metrics.json; docs/unsupervised_transfer_calibration.md</a:t>
            </a:r>
          </a:p>
          <a:p xmlns:a="http://schemas.openxmlformats.org/drawingml/2006/main">
            <a:r>
              <a:t/>
            </a:r>
          </a:p>
          <a:p xmlns:a="http://schemas.openxmlformats.org/drawingml/2006/main">
            <a:r>
              <a:t>Presentation explanation</a:t>
            </a:r>
          </a:p>
          <a:p xmlns:a="http://schemas.openxmlformats.org/drawingml/2006/main">
            <a:r>
              <a:t>Separate event-level detector metrics from scenario-window diagnosis metrics. A threshold that worked on the source transferred poorly. The largest-gap threshold uses the current target scores without attack labels, so its perfect twelve-window result still needs prospective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coupling superiority or general reliability from the current results. The primary corpus has no attack labels. Controlled perturbations and target-batch calibration have specific limitations. Future work includes consistent derived features, matched-size refits and independent temporal recovery.</a:t>
            </a:r>
          </a:p>
          <a:p xmlns:a="http://schemas.openxmlformats.org/drawingml/2006/main">
            <a:r>
              <a:t/>
            </a:r>
          </a:p>
          <a:p xmlns:a="http://schemas.openxmlformats.org/drawingml/2006/main">
            <a:r>
              <a:t>Sources: LIMITATIONS.md; docs/next_experiments.md</a:t>
            </a:r>
          </a:p>
          <a:p xmlns:a="http://schemas.openxmlformats.org/drawingml/2006/main">
            <a:r>
              <a:t/>
            </a:r>
          </a:p>
          <a:p xmlns:a="http://schemas.openxmlformats.org/drawingml/2006/main">
            <a:r>
              <a:t>Presentation explanation</a:t>
            </a:r>
          </a:p>
          <a:p xmlns:a="http://schemas.openxmlformats.org/drawingml/2006/main">
            <a:r>
              <a:t>The capstone delivers a working integrated prototype and a tested research question. Stronger research needs realistic changes, consistent features, independent time periods and a persistent sequence of updates. No policy wins every assumed cost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Demonstration path: manifest and temporal split; model feature contract; score and SHAP samples; monthly drift and coupling CSVs; controlled diagnosis and adaptation rows; independent transfer metrics. Commands: python scripts/run_all.py; python scripts/run_external_temporal_diagnosis.py; python -m pytest tests -q. A fresh run on 27 October 2026 passed all 28 tests. The source CSV is external and required for full regeneration. A 100-record literature collection is not a finished PRISMA review. Publication, patent, outcome-form submission and supervisor approval are not established by this presentation.</a:t>
            </a:r>
          </a:p>
          <a:p xmlns:a="http://schemas.openxmlformats.org/drawingml/2006/main">
            <a:r>
              <a:t/>
            </a:r>
          </a:p>
          <a:p xmlns:a="http://schemas.openxmlformats.org/drawingml/2006/main">
            <a:r>
              <a:t>Sources: docs/final_validation.md; README.md; outputs/BCSE497J_Capstone_Report_Final.docx</a:t>
            </a:r>
          </a:p>
          <a:p xmlns:a="http://schemas.openxmlformats.org/drawingml/2006/main">
            <a:r>
              <a:t/>
            </a:r>
          </a:p>
          <a:p xmlns:a="http://schemas.openxmlformats.org/drawingml/2006/main">
            <a:r>
              <a:t>Presentation explanation</a:t>
            </a:r>
          </a:p>
          <a:p xmlns:a="http://schemas.openxmlformats.org/drawingml/2006/main">
            <a:r>
              <a:t>Open the manifest, temporal split and one monthly drift row. Follow that row’s feature and SHAP evidence to the diagnosis, then show a controlled policy result with its candidate count. Finish by running python -m pytest tests -q and opening the external validation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sources: [1] https://doi.org/10.1109/ICDM.2008.17 [2] https://proceedings.neurips.cc/paper_files/paper/2017/hash/8a20a8621978632d76c43dfd28b67767-Abstract.html [3] https://doi.org/10.1016/j.eswa.2017.04.008 [4] https://doi.org/10.1016/j.compeleceng.2022.108239 [5] https://doi.org/10.14722/ndss.2023.24830 [6] https://doi.org/10.32604/cmc.2023.040235 [7] https://doi.org/10.1145/3638777 [8] https://doi.org/10.1109/ICNGN67480.2025.11413642 [9] https://docs.aws.amazon.com/awscloudtrail/latest/userguide/cloudtrail-events.html and https://docs.aws.amazon.com/sagemaker/latest/dg/clarify-model-monitor-feature-attribution-drift.html.</a:t>
            </a:r>
          </a:p>
          <a:p xmlns:a="http://schemas.openxmlformats.org/drawingml/2006/main">
            <a:r>
              <a:t/>
            </a:r>
          </a:p>
          <a:p xmlns:a="http://schemas.openxmlformats.org/drawingml/2006/main">
            <a:r>
              <a:t>Sources: docs/literature_matrix.csv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6081c078324e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d114835dbf4d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7bb2d5f7d14d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2d0d6ddb7e40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045de4d40041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ba68dadbb74da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cde308634b94bc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8e84248a264440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b78a9cc1df04cf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c67c8b04e33456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72649d26f1a442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2592BF-19BE-9BF0-E2FC-07A36D054E1D}"/>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83AB4F9-CBB3-B18D-E917-C3B06418676D}"/>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50F18A0-E201-1900-A139-E830DD3EA1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3E78AE-7F97-4550-9DD8-BF69171FDC30}" type="datetime1">
              <a:t>05/10/26</a:t>
            </a:fld>
            <a:endParaRPr/>
          </a:p>
        </p:txBody>
      </p:sp>
      <p:sp>
        <p:nvSpPr>
          <p:cNvPr id="5" name="Footer Placeholder 4">
            <a:extLst xmlns:a="http://schemas.openxmlformats.org/drawingml/2006/main">
              <a:ext uri="{FF2B5EF4-FFF2-40B4-BE49-F238E27FC236}">
                <a16:creationId xmlns:a16="http://schemas.microsoft.com/office/drawing/2014/main" id="{ED0906B9-B1F6-B52E-2EE0-7595B1EBF0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97A13AE1-F96E-D540-8DE1-8D903DB30C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532F7EA-3EC9-99AF-13A9-22A3F8B2D2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C71419B-73DB-15DA-D2EE-0FC01B435F2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B080259-8D20-E29B-4DC5-312C3DB01B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A886FF-1BA7-4533-94E6-869CE1E2970B}" type="datetime1">
              <a:t>05/10/26</a:t>
            </a:fld>
            <a:endParaRPr/>
          </a:p>
        </p:txBody>
      </p:sp>
      <p:sp>
        <p:nvSpPr>
          <p:cNvPr id="5" name="Footer Placeholder 4">
            <a:extLst xmlns:a="http://schemas.openxmlformats.org/drawingml/2006/main">
              <a:ext uri="{FF2B5EF4-FFF2-40B4-BE49-F238E27FC236}">
                <a16:creationId xmlns:a16="http://schemas.microsoft.com/office/drawing/2014/main" id="{E101830E-3502-194A-88FA-DC3E0F1B30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ECF6703C-229C-43C6-0484-38EC263AD4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0CE344-6494-09A6-A5E4-811EEE0CD2A0}"/>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351A0E2-2B9B-B96E-A3FD-0B26BDDBEB4D}"/>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767CE67-8E8A-4D0D-42DF-DDC842B1B1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3E22BD8-A2C4-424B-809A-C64DDCC305D9}" type="datetime1">
              <a:t>05/10/26</a:t>
            </a:fld>
            <a:endParaRPr/>
          </a:p>
        </p:txBody>
      </p:sp>
      <p:sp>
        <p:nvSpPr>
          <p:cNvPr id="5" name="Footer Placeholder 4">
            <a:extLst xmlns:a="http://schemas.openxmlformats.org/drawingml/2006/main">
              <a:ext uri="{FF2B5EF4-FFF2-40B4-BE49-F238E27FC236}">
                <a16:creationId xmlns:a16="http://schemas.microsoft.com/office/drawing/2014/main" id="{73A78C3E-C139-1FD1-979B-D71679959D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9932F297-889B-B694-6DD5-92F8A6AAFF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92C89C-FEA2-11F6-7988-ADD14A7B22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0E5DE7B-A406-1142-36EA-1C149874023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4355A2B-361E-86CB-ABBE-C510D2B2215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50DA5E84-A1E0-A1C4-F7E6-DA9E7B124C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20F4BC-B3A4-46AF-9AEC-8478EF1369D5}" type="datetime1">
              <a:t>05/10/26</a:t>
            </a:fld>
            <a:endParaRPr/>
          </a:p>
        </p:txBody>
      </p:sp>
      <p:sp>
        <p:nvSpPr>
          <p:cNvPr id="6" name="Footer Placeholder 5">
            <a:extLst xmlns:a="http://schemas.openxmlformats.org/drawingml/2006/main">
              <a:ext uri="{FF2B5EF4-FFF2-40B4-BE49-F238E27FC236}">
                <a16:creationId xmlns:a16="http://schemas.microsoft.com/office/drawing/2014/main" id="{D5DDA460-54C8-F2AC-C053-53FF3FAFCC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EE6F132A-BD40-58D2-CEEC-A1BA2B9E2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5823BE-2514-8722-ED45-41E13E46B67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4BFEE3B-6ABA-1D24-97FE-717EBBC999E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C653C42-4C6D-988F-42A0-8639A508A612}"/>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2B662B4-F942-A78F-394F-74F6037179B2}"/>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B445FBE-A81E-92E1-36E3-99D1586F831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6D20C02-77C2-CB2A-62F8-60B8C62629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C9A2993-B405-4F4D-B968-A01C27211659}" type="datetime1">
              <a:t>05/10/26</a:t>
            </a:fld>
            <a:endParaRPr/>
          </a:p>
        </p:txBody>
      </p:sp>
      <p:sp>
        <p:nvSpPr>
          <p:cNvPr id="8" name="Footer Placeholder 7">
            <a:extLst xmlns:a="http://schemas.openxmlformats.org/drawingml/2006/main">
              <a:ext uri="{FF2B5EF4-FFF2-40B4-BE49-F238E27FC236}">
                <a16:creationId xmlns:a16="http://schemas.microsoft.com/office/drawing/2014/main" id="{AD033241-EB08-777E-F678-5D641F6495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9" name="Slide Number Placeholder 8">
            <a:extLst xmlns:a="http://schemas.openxmlformats.org/drawingml/2006/main">
              <a:ext uri="{FF2B5EF4-FFF2-40B4-BE49-F238E27FC236}">
                <a16:creationId xmlns:a16="http://schemas.microsoft.com/office/drawing/2014/main" id="{40D711ED-181F-C690-A3B3-1D82670FC5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7468B4-E355-69B3-7598-80ADF2F9CC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2F1AB3B-AFC6-3627-62E6-22313061FA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9378C8C-5FBB-4DD7-A06D-BE263480794B}" type="datetime1">
              <a:t>05/10/26</a:t>
            </a:fld>
            <a:endParaRPr/>
          </a:p>
        </p:txBody>
      </p:sp>
      <p:sp>
        <p:nvSpPr>
          <p:cNvPr id="4" name="Footer Placeholder 3">
            <a:extLst xmlns:a="http://schemas.openxmlformats.org/drawingml/2006/main">
              <a:ext uri="{FF2B5EF4-FFF2-40B4-BE49-F238E27FC236}">
                <a16:creationId xmlns:a16="http://schemas.microsoft.com/office/drawing/2014/main" id="{2B2C6591-48E4-480E-7965-DE9F830154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5" name="Slide Number Placeholder 4">
            <a:extLst xmlns:a="http://schemas.openxmlformats.org/drawingml/2006/main">
              <a:ext uri="{FF2B5EF4-FFF2-40B4-BE49-F238E27FC236}">
                <a16:creationId xmlns:a16="http://schemas.microsoft.com/office/drawing/2014/main" id="{F10C9D68-A16A-B2D3-C8A6-B5221AF744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23F289A-3AD7-C11D-1594-90A35E592B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1FD2985-06EC-459B-80C8-F6F4362A1C03}" type="datetime1">
              <a:t>05/10/26</a:t>
            </a:fld>
            <a:endParaRPr/>
          </a:p>
        </p:txBody>
      </p:sp>
      <p:sp>
        <p:nvSpPr>
          <p:cNvPr id="3" name="Footer Placeholder 2">
            <a:extLst xmlns:a="http://schemas.openxmlformats.org/drawingml/2006/main">
              <a:ext uri="{FF2B5EF4-FFF2-40B4-BE49-F238E27FC236}">
                <a16:creationId xmlns:a16="http://schemas.microsoft.com/office/drawing/2014/main" id="{8C252269-BBE3-199F-299B-38D4E9CC18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4" name="Slide Number Placeholder 3">
            <a:extLst xmlns:a="http://schemas.openxmlformats.org/drawingml/2006/main">
              <a:ext uri="{FF2B5EF4-FFF2-40B4-BE49-F238E27FC236}">
                <a16:creationId xmlns:a16="http://schemas.microsoft.com/office/drawing/2014/main" id="{F7407FDC-B2A9-1304-047F-5808A0B6B2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5A4847-FC20-D9BF-0BDE-26EC7EF7435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8D9C584-AC19-D7B4-9DFE-7C1BC2E1BCC5}"/>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2F4A3262-CE8D-2419-DCCC-C536E9FDAC3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94758D6-7AF2-29C5-E0EE-3B7BE155EC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1D7E9DA-13C6-48A4-9305-B592482DE8CE}" type="datetime1">
              <a:t>05/10/26</a:t>
            </a:fld>
            <a:endParaRPr/>
          </a:p>
        </p:txBody>
      </p:sp>
      <p:sp>
        <p:nvSpPr>
          <p:cNvPr id="6" name="Footer Placeholder 5">
            <a:extLst xmlns:a="http://schemas.openxmlformats.org/drawingml/2006/main">
              <a:ext uri="{FF2B5EF4-FFF2-40B4-BE49-F238E27FC236}">
                <a16:creationId xmlns:a16="http://schemas.microsoft.com/office/drawing/2014/main" id="{45AAC7E7-68C4-7616-2DE1-0333E2C446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5E9EF51B-1685-66FF-0783-23584C2517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939D0E-3A71-7252-C837-B8281F0DED9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FE3D557-6893-299F-57A8-A7B173F10143}"/>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4CC8BA2-BB08-F4E3-5660-C7370BA568C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E57E1CE-C7CA-966D-8661-1E99A7DA21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45E7C4B-C575-4DCF-9B63-045662930500}" type="datetime1">
              <a:t>05/10/26</a:t>
            </a:fld>
            <a:endParaRPr/>
          </a:p>
        </p:txBody>
      </p:sp>
      <p:sp>
        <p:nvSpPr>
          <p:cNvPr id="6" name="Footer Placeholder 5">
            <a:extLst xmlns:a="http://schemas.openxmlformats.org/drawingml/2006/main">
              <a:ext uri="{FF2B5EF4-FFF2-40B4-BE49-F238E27FC236}">
                <a16:creationId xmlns:a16="http://schemas.microsoft.com/office/drawing/2014/main" id="{66055516-3E64-07E5-10C5-DE056657E4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AFBA5AD5-9867-E76D-C035-2856CCFBC1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71D7EC-16EA-5009-5D33-ABFC55F2813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B09EC6D-8ED5-29E9-9444-CC2D6A1CB8A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1ADFC6-7CEA-ABEE-94C2-870B1E6573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576931C-EA1A-43DD-B3B3-66F5BA587712}" type="datetime1">
              <a:t>05/10/26</a:t>
            </a:fld>
            <a:endParaRPr/>
          </a:p>
        </p:txBody>
      </p:sp>
      <p:sp>
        <p:nvSpPr>
          <p:cNvPr id="5" name="Footer Placeholder 4">
            <a:extLst xmlns:a="http://schemas.openxmlformats.org/drawingml/2006/main">
              <a:ext uri="{FF2B5EF4-FFF2-40B4-BE49-F238E27FC236}">
                <a16:creationId xmlns:a16="http://schemas.microsoft.com/office/drawing/2014/main" id="{7B1FA3A5-596E-6C2A-F853-30C5DC6FBF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312CE6B1-CE87-B68F-9494-FA6D109F38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F0FF105-FC99-2BCB-131F-2B902F8BAE21}"/>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0354FD6-064F-6E12-E8DE-81EC913CDB0B}"/>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F1D2109-32D1-4A0F-F903-5142A204EF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2C9B0E1-7C95-4C20-B9C6-BA51F388E878}" type="datetime1">
              <a:t>05/10/26</a:t>
            </a:fld>
            <a:endParaRPr/>
          </a:p>
        </p:txBody>
      </p:sp>
      <p:sp>
        <p:nvSpPr>
          <p:cNvPr id="5" name="Footer Placeholder 4">
            <a:extLst xmlns:a="http://schemas.openxmlformats.org/drawingml/2006/main">
              <a:ext uri="{FF2B5EF4-FFF2-40B4-BE49-F238E27FC236}">
                <a16:creationId xmlns:a16="http://schemas.microsoft.com/office/drawing/2014/main" id="{73E5353D-EEF9-CF3C-A97F-F0F0EBFA7C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3DF2F1DC-3958-BCDE-9A16-88E928E7E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a4aba3a2f94b75" /><Relationship Type="http://schemas.openxmlformats.org/officeDocument/2006/relationships/slideLayout" Target="/ppt/slideLayouts/slideLayout1.xml" Id="Rdd29b3ef83274209" /><Relationship Type="http://schemas.openxmlformats.org/officeDocument/2006/relationships/slideLayout" Target="/ppt/slideLayouts/slideLayout2.xml" Id="Re2c8747387714be0" /><Relationship Type="http://schemas.openxmlformats.org/officeDocument/2006/relationships/slideLayout" Target="/ppt/slideLayouts/slideLayout3.xml" Id="R35d7dacdb38a4203" /><Relationship Type="http://schemas.openxmlformats.org/officeDocument/2006/relationships/slideLayout" Target="/ppt/slideLayouts/slideLayout4.xml" Id="Rcd515d58d2b240f2" /><Relationship Type="http://schemas.openxmlformats.org/officeDocument/2006/relationships/slideLayout" Target="/ppt/slideLayouts/slideLayout5.xml" Id="R9d1736a226974aef" /><Relationship Type="http://schemas.openxmlformats.org/officeDocument/2006/relationships/slideLayout" Target="/ppt/slideLayouts/slideLayout6.xml" Id="R5e232cca135445ed" /><Relationship Type="http://schemas.openxmlformats.org/officeDocument/2006/relationships/slideLayout" Target="/ppt/slideLayouts/slideLayout7.xml" Id="R2899751e2aad4cef" /><Relationship Type="http://schemas.openxmlformats.org/officeDocument/2006/relationships/slideLayout" Target="/ppt/slideLayouts/slideLayout8.xml" Id="R4061e47862384e6b" /><Relationship Type="http://schemas.openxmlformats.org/officeDocument/2006/relationships/slideLayout" Target="/ppt/slideLayouts/slideLayout9.xml" Id="Rd3781b9fb43d410f" /><Relationship Type="http://schemas.openxmlformats.org/officeDocument/2006/relationships/slideLayout" Target="/ppt/slideLayouts/slideLayout10.xml" Id="R510877b5069c4738" /><Relationship Type="http://schemas.openxmlformats.org/officeDocument/2006/relationships/slideLayout" Target="/ppt/slideLayouts/slideLayout11.xml" Id="Rf3ffb499229e406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5454249-E28B-CF91-F4A6-9762E4F38B7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1E3D641-7C66-CA7D-30A7-7F95AC27EF4C}"/>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5E1D408-B228-838E-3E43-4304680A536B}"/>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3827C3E-786B-4150-9177-1C28966A2ADC}" type="datetime1">
              <a:t>05/10/26</a:t>
            </a:fld>
            <a:endParaRPr/>
          </a:p>
        </p:txBody>
      </p:sp>
      <p:sp>
        <p:nvSpPr>
          <p:cNvPr id="5" name="Footer Placeholder 4">
            <a:extLst xmlns:a="http://schemas.openxmlformats.org/drawingml/2006/main">
              <a:ext uri="{FF2B5EF4-FFF2-40B4-BE49-F238E27FC236}">
                <a16:creationId xmlns:a16="http://schemas.microsoft.com/office/drawing/2014/main" id="{DCEC7A69-1922-F157-900C-FF956683161C}"/>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51B80E76-E345-1553-9664-0BCF569B55B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65201FD4-9D8D-4491-815B-63C7BF4F003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29b3ef83274209"/>
    <p:sldLayoutId xmlns:r="http://schemas.openxmlformats.org/officeDocument/2006/relationships" id="2147483650" r:id="Re2c8747387714be0"/>
    <p:sldLayoutId xmlns:r="http://schemas.openxmlformats.org/officeDocument/2006/relationships" id="2147483651" r:id="R35d7dacdb38a4203"/>
    <p:sldLayoutId xmlns:r="http://schemas.openxmlformats.org/officeDocument/2006/relationships" id="2147483652" r:id="Rcd515d58d2b240f2"/>
    <p:sldLayoutId xmlns:r="http://schemas.openxmlformats.org/officeDocument/2006/relationships" id="2147483653" r:id="R9d1736a226974aef"/>
    <p:sldLayoutId xmlns:r="http://schemas.openxmlformats.org/officeDocument/2006/relationships" id="2147483654" r:id="R5e232cca135445ed"/>
    <p:sldLayoutId xmlns:r="http://schemas.openxmlformats.org/officeDocument/2006/relationships" id="2147483655" r:id="R2899751e2aad4cef"/>
    <p:sldLayoutId xmlns:r="http://schemas.openxmlformats.org/officeDocument/2006/relationships" id="2147483656" r:id="R4061e47862384e6b"/>
    <p:sldLayoutId xmlns:r="http://schemas.openxmlformats.org/officeDocument/2006/relationships" id="2147483657" r:id="Rd3781b9fb43d410f"/>
    <p:sldLayoutId xmlns:r="http://schemas.openxmlformats.org/officeDocument/2006/relationships" id="2147483658" r:id="R510877b5069c4738"/>
    <p:sldLayoutId xmlns:r="http://schemas.openxmlformats.org/officeDocument/2006/relationships" id="2147483659" r:id="Rf3ffb499229e406d"/>
  </p:sldLayoutIdLst>
  <p:hf hdr="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17b2b3ad874998" /><Relationship Type="http://schemas.openxmlformats.org/officeDocument/2006/relationships/image" Target="/ppt/media/image.png" Id="R202ec49ff7114da5" /><Relationship Type="http://schemas.openxmlformats.org/officeDocument/2006/relationships/notesSlide" Target="/ppt/notesSlides/notesSlide1.xml" Id="Rc08cc87023214f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ec85c8a8f4b419b" /><Relationship Type="http://schemas.openxmlformats.org/officeDocument/2006/relationships/notesSlide" Target="/ppt/notesSlides/notesSlide2.xml" Id="R017bd64de0004e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982150e5c9c4ff2" /><Relationship Type="http://schemas.openxmlformats.org/officeDocument/2006/relationships/notesSlide" Target="/ppt/notesSlides/notesSlide3.xml" Id="R6d1e41e9cb0f48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2547d8bb9a8408a" /><Relationship Type="http://schemas.openxmlformats.org/officeDocument/2006/relationships/notesSlide" Target="/ppt/notesSlides/notesSlide4.xml" Id="R2735a4b031aa49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00053ea6c1749f5" /><Relationship Type="http://schemas.openxmlformats.org/officeDocument/2006/relationships/notesSlide" Target="/ppt/notesSlides/notesSlide5.xml" Id="R062eb0c2443047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13f29af797342a8" /><Relationship Type="http://schemas.openxmlformats.org/officeDocument/2006/relationships/notesSlide" Target="/ppt/notesSlides/notesSlide6.xml" Id="R0dba4cc3da7b42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0799eee8fed4e74" /><Relationship Type="http://schemas.openxmlformats.org/officeDocument/2006/relationships/notesSlide" Target="/ppt/notesSlides/notesSlide7.xml" Id="R471cf0ecaee04d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2f7424ae4a14804" /><Relationship Type="http://schemas.openxmlformats.org/officeDocument/2006/relationships/notesSlide" Target="/ppt/notesSlides/notesSlide8.xml" Id="R1b617e0373e941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ee66e4c6ede4dc2" /><Relationship Type="http://schemas.openxmlformats.org/officeDocument/2006/relationships/notesSlide" Target="/ppt/notesSlides/notesSlide9.xml" Id="R4885cf563b404b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e97dd6e547441ee" /><Relationship Type="http://schemas.openxmlformats.org/officeDocument/2006/relationships/notesSlide" Target="/ppt/notesSlides/notesSlide10.xml" Id="R4ccbb15540214c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82306b7432d4a8d" /><Relationship Type="http://schemas.openxmlformats.org/officeDocument/2006/relationships/notesSlide" Target="/ppt/notesSlides/notesSlide11.xml" Id="R3c511114559a48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73c033cc2da48c7" /><Relationship Type="http://schemas.openxmlformats.org/officeDocument/2006/relationships/notesSlide" Target="/ppt/notesSlides/notesSlide12.xml" Id="R388352294ca944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27ddf71cdef4abe" /><Relationship Type="http://schemas.openxmlformats.org/officeDocument/2006/relationships/notesSlide" Target="/ppt/notesSlides/notesSlide13.xml" Id="Rb70d87b4752046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b9302a707904f33" /><Relationship Type="http://schemas.openxmlformats.org/officeDocument/2006/relationships/notesSlide" Target="/ppt/notesSlides/notesSlide14.xml" Id="Re02628007ae24e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0eee687d9454402" /><Relationship Type="http://schemas.openxmlformats.org/officeDocument/2006/relationships/notesSlide" Target="/ppt/notesSlides/notesSlide15.xml" Id="Rbb2521019b7c44e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24C2AB3C-15A6-4D75-9AA4-19A0FF8FD148}"/>
              </a:ext>
            </a:extLst>
          </p:cNvPr>
          <p:cNvPicPr>
            <a:picLocks xmlns:a="http://schemas.openxmlformats.org/drawingml/2006/main" noChangeAspect="1"/>
          </p:cNvPicPr>
          <p:nvPr/>
        </p:nvPicPr>
        <p:blipFill>
          <a:blip xmlns:r="http://schemas.openxmlformats.org/officeDocument/2006/relationships" xmlns:a="http://schemas.openxmlformats.org/drawingml/2006/main" r:embed="R202ec49ff7114da5"/>
          <a:stretch xmlns:a="http://schemas.openxmlformats.org/drawingml/2006/main">
            <a:fillRect l="0" t="0" r="0" b="0"/>
          </a:stretch>
        </p:blipFill>
        <p:spPr>
          <a:xfrm xmlns:a="http://schemas.openxmlformats.org/drawingml/2006/main">
            <a:off x="3837236" y="0"/>
            <a:ext cx="4517528" cy="1871634"/>
          </a:xfrm>
          <a:prstGeom xmlns:a="http://schemas.openxmlformats.org/drawingml/2006/main" prst="rect">
            <a:avLst/>
          </a:prstGeom>
        </p:spPr>
      </p:pic>
      <p:sp>
        <p:nvSpPr>
          <p:cNvPr id="6" name="B.Tech. BCSE497J Project-I&#10;SHAP-Guided Drift ">
            <a:extLst xmlns:a="http://schemas.openxmlformats.org/drawingml/2006/main">
              <a:ext uri="{FF2B5EF4-FFF2-40B4-BE49-F238E27FC236}">
                <a16:creationId xmlns:a16="http://schemas.microsoft.com/office/drawing/2014/main" id="{6F8AB836-65B3-4FBB-AADE-011B1CA53B6A}"/>
              </a:ext>
            </a:extLst>
          </p:cNvPr>
          <p:cNvSpPr>
            <a:spLocks xmlns:a="http://schemas.openxmlformats.org/drawingml/2006/main" noGrp="1"/>
          </p:cNvSpPr>
          <p:nvPr/>
        </p:nvSpPr>
        <p:spPr>
          <a:xfrm xmlns:a="http://schemas.openxmlformats.org/drawingml/2006/main">
            <a:off x="1907477" y="1934147"/>
            <a:ext cx="8924544"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2000" b="1">
                <a:solidFill>
                  <a:srgbClr val="000000"/>
                </a:solidFill>
                <a:latin typeface="Times New Roman"/>
                <a:ea typeface="Times New Roman"/>
                <a:cs typeface="Times New Roman"/>
              </a:defRPr>
            </a:defPPr>
            <a:lvl1pPr algn="ctr">
              <a:defRPr sz="2000" b="1">
                <a:solidFill>
                  <a:srgbClr val="000000"/>
                </a:solidFill>
                <a:latin typeface="Times New Roman"/>
                <a:ea typeface="Times New Roman"/>
                <a:cs typeface="Times New Roman"/>
              </a:defRPr>
            </a:lvl1pPr>
            <a:lvl2pPr algn="ctr">
              <a:defRPr sz="2000" b="1">
                <a:solidFill>
                  <a:srgbClr val="000000"/>
                </a:solidFill>
                <a:latin typeface="Times New Roman"/>
                <a:ea typeface="Times New Roman"/>
                <a:cs typeface="Times New Roman"/>
              </a:defRPr>
            </a:lvl2pPr>
            <a:lvl3pPr algn="ctr">
              <a:defRPr sz="2000" b="1">
                <a:solidFill>
                  <a:srgbClr val="000000"/>
                </a:solidFill>
                <a:latin typeface="Times New Roman"/>
                <a:ea typeface="Times New Roman"/>
                <a:cs typeface="Times New Roman"/>
              </a:defRPr>
            </a:lvl3pPr>
            <a:lvl4pPr algn="ctr">
              <a:defRPr sz="2000" b="1">
                <a:solidFill>
                  <a:srgbClr val="000000"/>
                </a:solidFill>
                <a:latin typeface="Times New Roman"/>
                <a:ea typeface="Times New Roman"/>
                <a:cs typeface="Times New Roman"/>
              </a:defRPr>
            </a:lvl4pPr>
            <a:lvl5pPr algn="ctr">
              <a:defRPr sz="2000" b="1">
                <a:solidFill>
                  <a:srgbClr val="000000"/>
                </a:solidFill>
                <a:latin typeface="Times New Roman"/>
                <a:ea typeface="Times New Roman"/>
                <a:cs typeface="Times New Roman"/>
              </a:defRPr>
            </a:lvl5pPr>
            <a:lvl6pPr algn="ctr">
              <a:defRPr sz="2000" b="1">
                <a:solidFill>
                  <a:srgbClr val="000000"/>
                </a:solidFill>
                <a:latin typeface="Times New Roman"/>
                <a:ea typeface="Times New Roman"/>
                <a:cs typeface="Times New Roman"/>
              </a:defRPr>
            </a:lvl6pPr>
            <a:lvl7pPr algn="ctr">
              <a:defRPr sz="2000" b="1">
                <a:solidFill>
                  <a:srgbClr val="000000"/>
                </a:solidFill>
                <a:latin typeface="Times New Roman"/>
                <a:ea typeface="Times New Roman"/>
                <a:cs typeface="Times New Roman"/>
              </a:defRPr>
            </a:lvl7pPr>
            <a:lvl8pPr algn="ctr">
              <a:defRPr sz="2000" b="1">
                <a:solidFill>
                  <a:srgbClr val="000000"/>
                </a:solidFill>
                <a:latin typeface="Times New Roman"/>
                <a:ea typeface="Times New Roman"/>
                <a:cs typeface="Times New Roman"/>
              </a:defRPr>
            </a:lvl8pPr>
            <a:lvl9pPr algn="ctr">
              <a:defRPr sz="2000" b="1">
                <a:solidFill>
                  <a:srgbClr val="000000"/>
                </a:solidFill>
                <a:latin typeface="Times New Roman"/>
                <a:ea typeface="Times New Roman"/>
                <a:cs typeface="Times New Roman"/>
              </a:defRPr>
            </a:lvl9pPr>
          </a:lstStyle>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B.Tech. BCSE497J Project-I</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SHAP-Guided Drift Diagnosis for Adaptive</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Anomaly Detection in AWS CloudTrail</a:t>
            </a:r>
          </a:p>
        </p:txBody>
      </p:sp>
      <p:sp>
        <p:nvSpPr>
          <p:cNvPr id="7" name="Team member&#10;SANIDHYA BHANDARI (23BCT0029)&#10;&#10;Fa">
            <a:extLst xmlns:a="http://schemas.openxmlformats.org/drawingml/2006/main">
              <a:ext uri="{FF2B5EF4-FFF2-40B4-BE49-F238E27FC236}">
                <a16:creationId xmlns:a16="http://schemas.microsoft.com/office/drawing/2014/main" id="{EF5D4927-EA46-498F-837A-20D25CAE6C49}"/>
              </a:ext>
            </a:extLst>
          </p:cNvPr>
          <p:cNvSpPr>
            <a:spLocks xmlns:a="http://schemas.openxmlformats.org/drawingml/2006/main" noGrp="1"/>
          </p:cNvSpPr>
          <p:nvPr/>
        </p:nvSpPr>
        <p:spPr>
          <a:xfrm xmlns:a="http://schemas.openxmlformats.org/drawingml/2006/main">
            <a:off x="2609088" y="3208496"/>
            <a:ext cx="7071360" cy="2460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2000" b="0">
                <a:solidFill>
                  <a:srgbClr val="000000"/>
                </a:solidFill>
                <a:latin typeface="Times New Roman"/>
                <a:ea typeface="Times New Roman"/>
                <a:cs typeface="Times New Roman"/>
              </a:defRPr>
            </a:defPPr>
            <a:lvl1pPr algn="ctr">
              <a:defRPr sz="2000" b="0">
                <a:solidFill>
                  <a:srgbClr val="000000"/>
                </a:solidFill>
                <a:latin typeface="Times New Roman"/>
                <a:ea typeface="Times New Roman"/>
                <a:cs typeface="Times New Roman"/>
              </a:defRPr>
            </a:lvl1pPr>
            <a:lvl2pPr algn="ctr">
              <a:defRPr sz="2000" b="0">
                <a:solidFill>
                  <a:srgbClr val="000000"/>
                </a:solidFill>
                <a:latin typeface="Times New Roman"/>
                <a:ea typeface="Times New Roman"/>
                <a:cs typeface="Times New Roman"/>
              </a:defRPr>
            </a:lvl2pPr>
            <a:lvl3pPr algn="ctr">
              <a:defRPr sz="2000" b="0">
                <a:solidFill>
                  <a:srgbClr val="000000"/>
                </a:solidFill>
                <a:latin typeface="Times New Roman"/>
                <a:ea typeface="Times New Roman"/>
                <a:cs typeface="Times New Roman"/>
              </a:defRPr>
            </a:lvl3pPr>
            <a:lvl4pPr algn="ctr">
              <a:defRPr sz="2000" b="0">
                <a:solidFill>
                  <a:srgbClr val="000000"/>
                </a:solidFill>
                <a:latin typeface="Times New Roman"/>
                <a:ea typeface="Times New Roman"/>
                <a:cs typeface="Times New Roman"/>
              </a:defRPr>
            </a:lvl4pPr>
            <a:lvl5pPr algn="ctr">
              <a:defRPr sz="2000" b="0">
                <a:solidFill>
                  <a:srgbClr val="000000"/>
                </a:solidFill>
                <a:latin typeface="Times New Roman"/>
                <a:ea typeface="Times New Roman"/>
                <a:cs typeface="Times New Roman"/>
              </a:defRPr>
            </a:lvl5pPr>
            <a:lvl6pPr algn="ctr">
              <a:defRPr sz="2000" b="0">
                <a:solidFill>
                  <a:srgbClr val="000000"/>
                </a:solidFill>
                <a:latin typeface="Times New Roman"/>
                <a:ea typeface="Times New Roman"/>
                <a:cs typeface="Times New Roman"/>
              </a:defRPr>
            </a:lvl6pPr>
            <a:lvl7pPr algn="ctr">
              <a:defRPr sz="2000" b="0">
                <a:solidFill>
                  <a:srgbClr val="000000"/>
                </a:solidFill>
                <a:latin typeface="Times New Roman"/>
                <a:ea typeface="Times New Roman"/>
                <a:cs typeface="Times New Roman"/>
              </a:defRPr>
            </a:lvl7pPr>
            <a:lvl8pPr algn="ctr">
              <a:defRPr sz="2000" b="0">
                <a:solidFill>
                  <a:srgbClr val="000000"/>
                </a:solidFill>
                <a:latin typeface="Times New Roman"/>
                <a:ea typeface="Times New Roman"/>
                <a:cs typeface="Times New Roman"/>
              </a:defRPr>
            </a:lvl8pPr>
            <a:lvl9pPr algn="ctr">
              <a:defRPr sz="2000" b="0">
                <a:solidFill>
                  <a:srgbClr val="000000"/>
                </a:solidFill>
                <a:latin typeface="Times New Roman"/>
                <a:ea typeface="Times New Roman"/>
                <a:cs typeface="Times New Roman"/>
              </a:defRPr>
            </a:lvl9pPr>
          </a:lstStyle>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Team member</a:t>
            </a:r>
          </a:p>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SANIDHYA BHANDARI (23BCT0029)</a:t>
            </a:r>
          </a:p>
          <a:p xmlns:a="http://schemas.openxmlformats.org/drawingml/2006/main">
            <a:r>
              <a:t/>
            </a:r>
          </a:p>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Faculty guide</a:t>
            </a:r>
          </a:p>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Dr. Badrinath N</a:t>
            </a:r>
          </a:p>
          <a:p xmlns:a="http://schemas.openxmlformats.org/drawingml/2006/main">
            <a:r>
              <a:t/>
            </a:r>
          </a:p>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Review 3: 28 October 2026</a:t>
            </a:r>
          </a:p>
        </p:txBody>
      </p:sp>
    </p:spTree>
    <p:extLst>
      <p:ext uri="{BB962C8B-B14F-4D97-AF65-F5344CB8AC3E}">
        <p14:creationId xmlns:p14="http://schemas.microsoft.com/office/powerpoint/2010/main" val="42430368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Guide Approval and Project Context">
            <a:extLst xmlns:a="http://schemas.openxmlformats.org/drawingml/2006/main">
              <a:ext uri="{FF2B5EF4-FFF2-40B4-BE49-F238E27FC236}">
                <a16:creationId xmlns:a16="http://schemas.microsoft.com/office/drawing/2014/main" id="{9F83C6C3-4C4C-47D7-9C9E-22BC81ADB7E8}"/>
              </a:ext>
            </a:extLst>
          </p:cNvPr>
          <p:cNvSpPr>
            <a:spLocks xmlns:a="http://schemas.openxmlformats.org/drawingml/2006/main" noGrp="1"/>
          </p:cNvSpPr>
          <p:nvPr/>
        </p:nvSpPr>
        <p:spPr>
          <a:xfrm xmlns:a="http://schemas.openxmlformats.org/drawingml/2006/main">
            <a:off x="460248" y="681038"/>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algn="l">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Guide Approval and Project Context</a:t>
            </a:r>
          </a:p>
        </p:txBody>
      </p:sp>
      <p:sp>
        <p:nvSpPr>
          <p:cNvPr id="2" name="28-10-2026">
            <a:extLst xmlns:a="http://schemas.openxmlformats.org/drawingml/2006/main">
              <a:ext uri="{FF2B5EF4-FFF2-40B4-BE49-F238E27FC236}">
                <a16:creationId xmlns:a16="http://schemas.microsoft.com/office/drawing/2014/main" id="{41F5B0EC-41C1-4CC2-9B04-3EDDA531F667}"/>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3" name="SCOPE">
            <a:extLst xmlns:a="http://schemas.openxmlformats.org/drawingml/2006/main">
              <a:ext uri="{FF2B5EF4-FFF2-40B4-BE49-F238E27FC236}">
                <a16:creationId xmlns:a16="http://schemas.microsoft.com/office/drawing/2014/main" id="{507DCE66-1CC8-4E73-9573-D7194FC12619}"/>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4" name="2">
            <a:extLst xmlns:a="http://schemas.openxmlformats.org/drawingml/2006/main">
              <a:ext uri="{FF2B5EF4-FFF2-40B4-BE49-F238E27FC236}">
                <a16:creationId xmlns:a16="http://schemas.microsoft.com/office/drawing/2014/main" id="{F6AC7697-206B-41DD-98D0-2D1440D5F07B}"/>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a:t>
            </a:r>
          </a:p>
        </p:txBody>
      </p:sp>
      <p:sp>
        <p:nvSpPr>
          <p:cNvPr id="5" name="Faculty guide: Dr. Badrinath N&#10;Guide approval">
            <a:extLst xmlns:a="http://schemas.openxmlformats.org/drawingml/2006/main">
              <a:ext uri="{FF2B5EF4-FFF2-40B4-BE49-F238E27FC236}">
                <a16:creationId xmlns:a16="http://schemas.microsoft.com/office/drawing/2014/main" id="{731BAC7E-324C-4313-9055-297E0257D9E9}"/>
              </a:ext>
            </a:extLst>
          </p:cNvPr>
          <p:cNvSpPr>
            <a:spLocks xmlns:a="http://schemas.openxmlformats.org/drawingml/2006/main" noGrp="1"/>
          </p:cNvSpPr>
          <p:nvPr/>
        </p:nvSpPr>
        <p:spPr>
          <a:xfrm xmlns:a="http://schemas.openxmlformats.org/drawingml/2006/main">
            <a:off x="838200" y="1619250"/>
            <a:ext cx="1051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0">
                <a:solidFill>
                  <a:srgbClr val="000000"/>
                </a:solidFill>
                <a:latin typeface="Times New Roman"/>
                <a:ea typeface="Times New Roman"/>
                <a:cs typeface="Times New Roman"/>
              </a:defRPr>
            </a:defPPr>
            <a:lvl1pPr algn="l">
              <a:defRPr sz="2400" b="0">
                <a:solidFill>
                  <a:srgbClr val="000000"/>
                </a:solidFill>
                <a:latin typeface="Times New Roman"/>
                <a:ea typeface="Times New Roman"/>
                <a:cs typeface="Times New Roman"/>
              </a:defRPr>
            </a:lvl1pPr>
            <a:lvl2pPr algn="l">
              <a:defRPr sz="2400" b="0">
                <a:solidFill>
                  <a:srgbClr val="000000"/>
                </a:solidFill>
                <a:latin typeface="Times New Roman"/>
                <a:ea typeface="Times New Roman"/>
                <a:cs typeface="Times New Roman"/>
              </a:defRPr>
            </a:lvl2pPr>
            <a:lvl3pPr algn="l">
              <a:defRPr sz="2400" b="0">
                <a:solidFill>
                  <a:srgbClr val="000000"/>
                </a:solidFill>
                <a:latin typeface="Times New Roman"/>
                <a:ea typeface="Times New Roman"/>
                <a:cs typeface="Times New Roman"/>
              </a:defRPr>
            </a:lvl3pPr>
            <a:lvl4pPr algn="l">
              <a:defRPr sz="2400" b="0">
                <a:solidFill>
                  <a:srgbClr val="000000"/>
                </a:solidFill>
                <a:latin typeface="Times New Roman"/>
                <a:ea typeface="Times New Roman"/>
                <a:cs typeface="Times New Roman"/>
              </a:defRPr>
            </a:lvl4pPr>
            <a:lvl5pPr algn="l">
              <a:defRPr sz="2400" b="0">
                <a:solidFill>
                  <a:srgbClr val="000000"/>
                </a:solidFill>
                <a:latin typeface="Times New Roman"/>
                <a:ea typeface="Times New Roman"/>
                <a:cs typeface="Times New Roman"/>
              </a:defRPr>
            </a:lvl5pPr>
            <a:lvl6pPr algn="l">
              <a:defRPr sz="2400" b="0">
                <a:solidFill>
                  <a:srgbClr val="000000"/>
                </a:solidFill>
                <a:latin typeface="Times New Roman"/>
                <a:ea typeface="Times New Roman"/>
                <a:cs typeface="Times New Roman"/>
              </a:defRPr>
            </a:lvl6pPr>
            <a:lvl7pPr algn="l">
              <a:defRPr sz="2400" b="0">
                <a:solidFill>
                  <a:srgbClr val="000000"/>
                </a:solidFill>
                <a:latin typeface="Times New Roman"/>
                <a:ea typeface="Times New Roman"/>
                <a:cs typeface="Times New Roman"/>
              </a:defRPr>
            </a:lvl7pPr>
            <a:lvl8pPr algn="l">
              <a:defRPr sz="2400" b="0">
                <a:solidFill>
                  <a:srgbClr val="000000"/>
                </a:solidFill>
                <a:latin typeface="Times New Roman"/>
                <a:ea typeface="Times New Roman"/>
                <a:cs typeface="Times New Roman"/>
              </a:defRPr>
            </a:lvl8pPr>
            <a:lvl9pPr algn="l">
              <a:defRPr sz="2400" b="0">
                <a:solidFill>
                  <a:srgbClr val="000000"/>
                </a:solidFill>
                <a:latin typeface="Times New Roman"/>
                <a:ea typeface="Times New Roman"/>
                <a:cs typeface="Times New Roman"/>
              </a:defRPr>
            </a:lvl9pPr>
          </a:lstStyle>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Faculty guide: Dr. Badrinath N</a:t>
            </a:r>
          </a:p>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Guide approval email: copy not attached</a:t>
            </a:r>
          </a:p>
        </p:txBody>
      </p:sp>
      <p:sp>
        <p:nvSpPr>
          <p:cNvPr id="6" name="Project context">
            <a:extLst xmlns:a="http://schemas.openxmlformats.org/drawingml/2006/main">
              <a:ext uri="{FF2B5EF4-FFF2-40B4-BE49-F238E27FC236}">
                <a16:creationId xmlns:a16="http://schemas.microsoft.com/office/drawing/2014/main" id="{C88BEB8D-6A32-43AB-86F3-5D6CA3312675}"/>
              </a:ext>
            </a:extLst>
          </p:cNvPr>
          <p:cNvSpPr>
            <a:spLocks xmlns:a="http://schemas.openxmlformats.org/drawingml/2006/main" noGrp="1"/>
          </p:cNvSpPr>
          <p:nvPr/>
        </p:nvSpPr>
        <p:spPr>
          <a:xfrm xmlns:a="http://schemas.openxmlformats.org/drawingml/2006/main">
            <a:off x="838200" y="2905125"/>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000000"/>
                </a:solidFill>
                <a:latin typeface="Times New Roman"/>
                <a:ea typeface="Times New Roman"/>
                <a:cs typeface="Times New Roman"/>
              </a:defRPr>
            </a:defPPr>
            <a:lvl1pPr algn="l">
              <a:defRPr sz="2400" b="1">
                <a:solidFill>
                  <a:srgbClr val="000000"/>
                </a:solidFill>
                <a:latin typeface="Times New Roman"/>
                <a:ea typeface="Times New Roman"/>
                <a:cs typeface="Times New Roman"/>
              </a:defRPr>
            </a:lvl1pPr>
            <a:lvl2pPr algn="l">
              <a:defRPr sz="2400" b="1">
                <a:solidFill>
                  <a:srgbClr val="000000"/>
                </a:solidFill>
                <a:latin typeface="Times New Roman"/>
                <a:ea typeface="Times New Roman"/>
                <a:cs typeface="Times New Roman"/>
              </a:defRPr>
            </a:lvl2pPr>
            <a:lvl3pPr algn="l">
              <a:defRPr sz="2400" b="1">
                <a:solidFill>
                  <a:srgbClr val="000000"/>
                </a:solidFill>
                <a:latin typeface="Times New Roman"/>
                <a:ea typeface="Times New Roman"/>
                <a:cs typeface="Times New Roman"/>
              </a:defRPr>
            </a:lvl3pPr>
            <a:lvl4pPr algn="l">
              <a:defRPr sz="2400" b="1">
                <a:solidFill>
                  <a:srgbClr val="000000"/>
                </a:solidFill>
                <a:latin typeface="Times New Roman"/>
                <a:ea typeface="Times New Roman"/>
                <a:cs typeface="Times New Roman"/>
              </a:defRPr>
            </a:lvl4pPr>
            <a:lvl5pPr algn="l">
              <a:defRPr sz="2400" b="1">
                <a:solidFill>
                  <a:srgbClr val="000000"/>
                </a:solidFill>
                <a:latin typeface="Times New Roman"/>
                <a:ea typeface="Times New Roman"/>
                <a:cs typeface="Times New Roman"/>
              </a:defRPr>
            </a:lvl5pPr>
            <a:lvl6pPr algn="l">
              <a:defRPr sz="2400" b="1">
                <a:solidFill>
                  <a:srgbClr val="000000"/>
                </a:solidFill>
                <a:latin typeface="Times New Roman"/>
                <a:ea typeface="Times New Roman"/>
                <a:cs typeface="Times New Roman"/>
              </a:defRPr>
            </a:lvl6pPr>
            <a:lvl7pPr algn="l">
              <a:defRPr sz="2400" b="1">
                <a:solidFill>
                  <a:srgbClr val="000000"/>
                </a:solidFill>
                <a:latin typeface="Times New Roman"/>
                <a:ea typeface="Times New Roman"/>
                <a:cs typeface="Times New Roman"/>
              </a:defRPr>
            </a:lvl7pPr>
            <a:lvl8pPr algn="l">
              <a:defRPr sz="2400" b="1">
                <a:solidFill>
                  <a:srgbClr val="000000"/>
                </a:solidFill>
                <a:latin typeface="Times New Roman"/>
                <a:ea typeface="Times New Roman"/>
                <a:cs typeface="Times New Roman"/>
              </a:defRPr>
            </a:lvl8pPr>
            <a:lvl9pPr algn="l">
              <a:defRPr sz="2400" b="1">
                <a:solidFill>
                  <a:srgbClr val="000000"/>
                </a:solidFill>
                <a:latin typeface="Times New Roman"/>
                <a:ea typeface="Times New Roman"/>
                <a:cs typeface="Times New Roman"/>
              </a:defRPr>
            </a:lvl9pPr>
          </a:lstStyle>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Project context</a:t>
            </a:r>
          </a:p>
        </p:txBody>
      </p:sp>
      <p:sp>
        <p:nvSpPr>
          <p:cNvPr id="7" name="">
            <a:extLst xmlns:a="http://schemas.openxmlformats.org/drawingml/2006/main">
              <a:ext uri="{FF2B5EF4-FFF2-40B4-BE49-F238E27FC236}">
                <a16:creationId xmlns:a16="http://schemas.microsoft.com/office/drawing/2014/main" id="{179F5279-F5DE-4632-AE2F-CE78CFD0E38D}"/>
              </a:ext>
            </a:extLst>
          </p:cNvPr>
          <p:cNvSpPr>
            <a:spLocks xmlns:a="http://schemas.openxmlformats.org/drawingml/2006/main" noGrp="1"/>
          </p:cNvSpPr>
          <p:nvPr/>
        </p:nvSpPr>
        <p:spPr>
          <a:xfrm xmlns:a="http://schemas.openxmlformats.org/drawingml/2006/main">
            <a:off x="838200" y="3381375"/>
            <a:ext cx="105156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Capstone course: BCSE497J Project-I, B.Tech. CSE with IoT specialisation.</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Current focus: drift diagnosis and selective updates for an anomaly detector.</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Data continuity: the same CloudTrail corpus as the earlier project.</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Deliverables: working code, experiments, report and project demonstration.</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Final review: 28 October 2026.</a:t>
            </a:r>
          </a:p>
        </p:txBody>
      </p:sp>
      <p:sp>
        <p:nvSpPr>
          <p:cNvPr id="8" name="The guide’s approval email should cover the r">
            <a:extLst xmlns:a="http://schemas.openxmlformats.org/drawingml/2006/main">
              <a:ext uri="{FF2B5EF4-FFF2-40B4-BE49-F238E27FC236}">
                <a16:creationId xmlns:a16="http://schemas.microsoft.com/office/drawing/2014/main" id="{0EAE0CA3-4ED3-48A6-8C04-8C750C8C4B59}"/>
              </a:ext>
            </a:extLst>
          </p:cNvPr>
          <p:cNvSpPr>
            <a:spLocks xmlns:a="http://schemas.openxmlformats.org/drawingml/2006/main" noGrp="1"/>
          </p:cNvSpPr>
          <p:nvPr/>
        </p:nvSpPr>
        <p:spPr>
          <a:xfrm xmlns:a="http://schemas.openxmlformats.org/drawingml/2006/main">
            <a:off x="838200" y="5715000"/>
            <a:ext cx="10515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The guide’s approval email should cover the report, slides, demo and project outcome.</a:t>
            </a:r>
          </a:p>
        </p:txBody>
      </p:sp>
    </p:spTree>
    <p:extLst>
      <p:ext uri="{BB962C8B-B14F-4D97-AF65-F5344CB8AC3E}">
        <p14:creationId xmlns:p14="http://schemas.microsoft.com/office/powerpoint/2010/main" val="12565606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027305EA-516C-11F8-8A54-2BA046094ABC}"/>
              </a:ext>
            </a:extLst>
          </p:cNvPr>
          <p:cNvSpPr>
            <a:spLocks xmlns:a="http://schemas.openxmlformats.org/drawingml/2006/main" noGrp="1"/>
          </p:cNvSpPr>
          <p:nvPr>
            <p:ph type="title" idx="0"/>
          </p:nvPr>
        </p:nvSpPr>
        <p:spPr>
          <a:xfrm xmlns:a="http://schemas.openxmlformats.org/drawingml/2006/main">
            <a:off x="838200" y="739558"/>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spc="-25">
                <a:solidFill>
                  <a:srgbClr val="000000"/>
                </a:solidFill>
                <a:latin typeface="Times New Roman"/>
                <a:ea typeface="Times New Roman"/>
                <a:cs typeface="Times New Roman"/>
              </a:rPr>
              <a:t>Aim and Scope</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D8521255-4468-43B1-89C6-C0737BAD02AF}"/>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A29869F3-14A6-44BF-8BE4-8FB77C251968}"/>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3">
            <a:extLst xmlns:a="http://schemas.openxmlformats.org/drawingml/2006/main">
              <a:ext uri="{FF2B5EF4-FFF2-40B4-BE49-F238E27FC236}">
                <a16:creationId xmlns:a16="http://schemas.microsoft.com/office/drawing/2014/main" id="{40742327-E34F-4399-9F3E-E2EE9358266D}"/>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3</a:t>
            </a:r>
          </a:p>
        </p:txBody>
      </p:sp>
      <p:sp>
        <p:nvSpPr>
          <p:cNvPr id="8" name="Aim">
            <a:extLst xmlns:a="http://schemas.openxmlformats.org/drawingml/2006/main">
              <a:ext uri="{FF2B5EF4-FFF2-40B4-BE49-F238E27FC236}">
                <a16:creationId xmlns:a16="http://schemas.microsoft.com/office/drawing/2014/main" id="{3A0E983B-0797-42B7-97C9-180E81D9CFBD}"/>
              </a:ext>
            </a:extLst>
          </p:cNvPr>
          <p:cNvSpPr>
            <a:spLocks xmlns:a="http://schemas.openxmlformats.org/drawingml/2006/main" noGrp="1"/>
          </p:cNvSpPr>
          <p:nvPr/>
        </p:nvSpPr>
        <p:spPr>
          <a:xfrm xmlns:a="http://schemas.openxmlformats.org/drawingml/2006/main">
            <a:off x="838200" y="1619250"/>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000000"/>
                </a:solidFill>
                <a:latin typeface="Times New Roman"/>
                <a:ea typeface="Times New Roman"/>
                <a:cs typeface="Times New Roman"/>
              </a:defRPr>
            </a:defPPr>
            <a:lvl1pPr algn="l">
              <a:defRPr sz="2400" b="1">
                <a:solidFill>
                  <a:srgbClr val="000000"/>
                </a:solidFill>
                <a:latin typeface="Times New Roman"/>
                <a:ea typeface="Times New Roman"/>
                <a:cs typeface="Times New Roman"/>
              </a:defRPr>
            </a:lvl1pPr>
            <a:lvl2pPr algn="l">
              <a:defRPr sz="2400" b="1">
                <a:solidFill>
                  <a:srgbClr val="000000"/>
                </a:solidFill>
                <a:latin typeface="Times New Roman"/>
                <a:ea typeface="Times New Roman"/>
                <a:cs typeface="Times New Roman"/>
              </a:defRPr>
            </a:lvl2pPr>
            <a:lvl3pPr algn="l">
              <a:defRPr sz="2400" b="1">
                <a:solidFill>
                  <a:srgbClr val="000000"/>
                </a:solidFill>
                <a:latin typeface="Times New Roman"/>
                <a:ea typeface="Times New Roman"/>
                <a:cs typeface="Times New Roman"/>
              </a:defRPr>
            </a:lvl3pPr>
            <a:lvl4pPr algn="l">
              <a:defRPr sz="2400" b="1">
                <a:solidFill>
                  <a:srgbClr val="000000"/>
                </a:solidFill>
                <a:latin typeface="Times New Roman"/>
                <a:ea typeface="Times New Roman"/>
                <a:cs typeface="Times New Roman"/>
              </a:defRPr>
            </a:lvl4pPr>
            <a:lvl5pPr algn="l">
              <a:defRPr sz="2400" b="1">
                <a:solidFill>
                  <a:srgbClr val="000000"/>
                </a:solidFill>
                <a:latin typeface="Times New Roman"/>
                <a:ea typeface="Times New Roman"/>
                <a:cs typeface="Times New Roman"/>
              </a:defRPr>
            </a:lvl5pPr>
            <a:lvl6pPr algn="l">
              <a:defRPr sz="2400" b="1">
                <a:solidFill>
                  <a:srgbClr val="000000"/>
                </a:solidFill>
                <a:latin typeface="Times New Roman"/>
                <a:ea typeface="Times New Roman"/>
                <a:cs typeface="Times New Roman"/>
              </a:defRPr>
            </a:lvl6pPr>
            <a:lvl7pPr algn="l">
              <a:defRPr sz="2400" b="1">
                <a:solidFill>
                  <a:srgbClr val="000000"/>
                </a:solidFill>
                <a:latin typeface="Times New Roman"/>
                <a:ea typeface="Times New Roman"/>
                <a:cs typeface="Times New Roman"/>
              </a:defRPr>
            </a:lvl7pPr>
            <a:lvl8pPr algn="l">
              <a:defRPr sz="2400" b="1">
                <a:solidFill>
                  <a:srgbClr val="000000"/>
                </a:solidFill>
                <a:latin typeface="Times New Roman"/>
                <a:ea typeface="Times New Roman"/>
                <a:cs typeface="Times New Roman"/>
              </a:defRPr>
            </a:lvl8pPr>
            <a:lvl9pPr algn="l">
              <a:defRPr sz="2400" b="1">
                <a:solidFill>
                  <a:srgbClr val="000000"/>
                </a:solidFill>
                <a:latin typeface="Times New Roman"/>
                <a:ea typeface="Times New Roman"/>
                <a:cs typeface="Times New Roman"/>
              </a:defRPr>
            </a:lvl9pPr>
          </a:lstStyle>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Aim</a:t>
            </a:r>
          </a:p>
        </p:txBody>
      </p:sp>
      <p:sp>
        <p:nvSpPr>
          <p:cNvPr id="9" name="To decide when an AWS CloudTrail anomaly dete">
            <a:extLst xmlns:a="http://schemas.openxmlformats.org/drawingml/2006/main">
              <a:ext uri="{FF2B5EF4-FFF2-40B4-BE49-F238E27FC236}">
                <a16:creationId xmlns:a16="http://schemas.microsoft.com/office/drawing/2014/main" id="{E3E0EBC4-A16C-40DC-833F-17AAB5C0205D}"/>
              </a:ext>
            </a:extLst>
          </p:cNvPr>
          <p:cNvSpPr>
            <a:spLocks xmlns:a="http://schemas.openxmlformats.org/drawingml/2006/main" noGrp="1"/>
          </p:cNvSpPr>
          <p:nvPr/>
        </p:nvSpPr>
        <p:spPr>
          <a:xfrm xmlns:a="http://schemas.openxmlformats.org/drawingml/2006/main">
            <a:off x="838200" y="2076450"/>
            <a:ext cx="1051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0">
                <a:solidFill>
                  <a:srgbClr val="000000"/>
                </a:solidFill>
                <a:latin typeface="Times New Roman"/>
                <a:ea typeface="Times New Roman"/>
                <a:cs typeface="Times New Roman"/>
              </a:defRPr>
            </a:defPPr>
            <a:lvl1pPr algn="l">
              <a:defRPr sz="2400" b="0">
                <a:solidFill>
                  <a:srgbClr val="000000"/>
                </a:solidFill>
                <a:latin typeface="Times New Roman"/>
                <a:ea typeface="Times New Roman"/>
                <a:cs typeface="Times New Roman"/>
              </a:defRPr>
            </a:lvl1pPr>
            <a:lvl2pPr algn="l">
              <a:defRPr sz="2400" b="0">
                <a:solidFill>
                  <a:srgbClr val="000000"/>
                </a:solidFill>
                <a:latin typeface="Times New Roman"/>
                <a:ea typeface="Times New Roman"/>
                <a:cs typeface="Times New Roman"/>
              </a:defRPr>
            </a:lvl2pPr>
            <a:lvl3pPr algn="l">
              <a:defRPr sz="2400" b="0">
                <a:solidFill>
                  <a:srgbClr val="000000"/>
                </a:solidFill>
                <a:latin typeface="Times New Roman"/>
                <a:ea typeface="Times New Roman"/>
                <a:cs typeface="Times New Roman"/>
              </a:defRPr>
            </a:lvl3pPr>
            <a:lvl4pPr algn="l">
              <a:defRPr sz="2400" b="0">
                <a:solidFill>
                  <a:srgbClr val="000000"/>
                </a:solidFill>
                <a:latin typeface="Times New Roman"/>
                <a:ea typeface="Times New Roman"/>
                <a:cs typeface="Times New Roman"/>
              </a:defRPr>
            </a:lvl4pPr>
            <a:lvl5pPr algn="l">
              <a:defRPr sz="2400" b="0">
                <a:solidFill>
                  <a:srgbClr val="000000"/>
                </a:solidFill>
                <a:latin typeface="Times New Roman"/>
                <a:ea typeface="Times New Roman"/>
                <a:cs typeface="Times New Roman"/>
              </a:defRPr>
            </a:lvl5pPr>
            <a:lvl6pPr algn="l">
              <a:defRPr sz="2400" b="0">
                <a:solidFill>
                  <a:srgbClr val="000000"/>
                </a:solidFill>
                <a:latin typeface="Times New Roman"/>
                <a:ea typeface="Times New Roman"/>
                <a:cs typeface="Times New Roman"/>
              </a:defRPr>
            </a:lvl6pPr>
            <a:lvl7pPr algn="l">
              <a:defRPr sz="2400" b="0">
                <a:solidFill>
                  <a:srgbClr val="000000"/>
                </a:solidFill>
                <a:latin typeface="Times New Roman"/>
                <a:ea typeface="Times New Roman"/>
                <a:cs typeface="Times New Roman"/>
              </a:defRPr>
            </a:lvl7pPr>
            <a:lvl8pPr algn="l">
              <a:defRPr sz="2400" b="0">
                <a:solidFill>
                  <a:srgbClr val="000000"/>
                </a:solidFill>
                <a:latin typeface="Times New Roman"/>
                <a:ea typeface="Times New Roman"/>
                <a:cs typeface="Times New Roman"/>
              </a:defRPr>
            </a:lvl8pPr>
            <a:lvl9pPr algn="l">
              <a:defRPr sz="2400" b="0">
                <a:solidFill>
                  <a:srgbClr val="000000"/>
                </a:solidFill>
                <a:latin typeface="Times New Roman"/>
                <a:ea typeface="Times New Roman"/>
                <a:cs typeface="Times New Roman"/>
              </a:defRPr>
            </a:lvl9pPr>
          </a:lstStyle>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To decide when an AWS CloudTrail anomaly detector needs an update by comparing changes in its input data with changes in its SHAP explanations.</a:t>
            </a:r>
          </a:p>
        </p:txBody>
      </p:sp>
      <p:sp>
        <p:nvSpPr>
          <p:cNvPr id="10" name="Scope">
            <a:extLst xmlns:a="http://schemas.openxmlformats.org/drawingml/2006/main">
              <a:ext uri="{FF2B5EF4-FFF2-40B4-BE49-F238E27FC236}">
                <a16:creationId xmlns:a16="http://schemas.microsoft.com/office/drawing/2014/main" id="{7A7404E6-9146-4918-B150-DBF39DAC9C8D}"/>
              </a:ext>
            </a:extLst>
          </p:cNvPr>
          <p:cNvSpPr>
            <a:spLocks xmlns:a="http://schemas.openxmlformats.org/drawingml/2006/main" noGrp="1"/>
          </p:cNvSpPr>
          <p:nvPr/>
        </p:nvSpPr>
        <p:spPr>
          <a:xfrm xmlns:a="http://schemas.openxmlformats.org/drawingml/2006/main">
            <a:off x="838200" y="328612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000000"/>
                </a:solidFill>
                <a:latin typeface="Times New Roman"/>
                <a:ea typeface="Times New Roman"/>
                <a:cs typeface="Times New Roman"/>
              </a:defRPr>
            </a:defPPr>
            <a:lvl1pPr algn="l">
              <a:defRPr sz="2400" b="1">
                <a:solidFill>
                  <a:srgbClr val="000000"/>
                </a:solidFill>
                <a:latin typeface="Times New Roman"/>
                <a:ea typeface="Times New Roman"/>
                <a:cs typeface="Times New Roman"/>
              </a:defRPr>
            </a:lvl1pPr>
            <a:lvl2pPr algn="l">
              <a:defRPr sz="2400" b="1">
                <a:solidFill>
                  <a:srgbClr val="000000"/>
                </a:solidFill>
                <a:latin typeface="Times New Roman"/>
                <a:ea typeface="Times New Roman"/>
                <a:cs typeface="Times New Roman"/>
              </a:defRPr>
            </a:lvl2pPr>
            <a:lvl3pPr algn="l">
              <a:defRPr sz="2400" b="1">
                <a:solidFill>
                  <a:srgbClr val="000000"/>
                </a:solidFill>
                <a:latin typeface="Times New Roman"/>
                <a:ea typeface="Times New Roman"/>
                <a:cs typeface="Times New Roman"/>
              </a:defRPr>
            </a:lvl3pPr>
            <a:lvl4pPr algn="l">
              <a:defRPr sz="2400" b="1">
                <a:solidFill>
                  <a:srgbClr val="000000"/>
                </a:solidFill>
                <a:latin typeface="Times New Roman"/>
                <a:ea typeface="Times New Roman"/>
                <a:cs typeface="Times New Roman"/>
              </a:defRPr>
            </a:lvl4pPr>
            <a:lvl5pPr algn="l">
              <a:defRPr sz="2400" b="1">
                <a:solidFill>
                  <a:srgbClr val="000000"/>
                </a:solidFill>
                <a:latin typeface="Times New Roman"/>
                <a:ea typeface="Times New Roman"/>
                <a:cs typeface="Times New Roman"/>
              </a:defRPr>
            </a:lvl5pPr>
            <a:lvl6pPr algn="l">
              <a:defRPr sz="2400" b="1">
                <a:solidFill>
                  <a:srgbClr val="000000"/>
                </a:solidFill>
                <a:latin typeface="Times New Roman"/>
                <a:ea typeface="Times New Roman"/>
                <a:cs typeface="Times New Roman"/>
              </a:defRPr>
            </a:lvl6pPr>
            <a:lvl7pPr algn="l">
              <a:defRPr sz="2400" b="1">
                <a:solidFill>
                  <a:srgbClr val="000000"/>
                </a:solidFill>
                <a:latin typeface="Times New Roman"/>
                <a:ea typeface="Times New Roman"/>
                <a:cs typeface="Times New Roman"/>
              </a:defRPr>
            </a:lvl7pPr>
            <a:lvl8pPr algn="l">
              <a:defRPr sz="2400" b="1">
                <a:solidFill>
                  <a:srgbClr val="000000"/>
                </a:solidFill>
                <a:latin typeface="Times New Roman"/>
                <a:ea typeface="Times New Roman"/>
                <a:cs typeface="Times New Roman"/>
              </a:defRPr>
            </a:lvl8pPr>
            <a:lvl9pPr algn="l">
              <a:defRPr sz="2400" b="1">
                <a:solidFill>
                  <a:srgbClr val="000000"/>
                </a:solidFill>
                <a:latin typeface="Times New Roman"/>
                <a:ea typeface="Times New Roman"/>
                <a:cs typeface="Times New Roman"/>
              </a:defRPr>
            </a:lvl9pPr>
          </a:lstStyle>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Scope</a:t>
            </a:r>
          </a:p>
        </p:txBody>
      </p:sp>
      <p:sp>
        <p:nvSpPr>
          <p:cNvPr id="11" name="">
            <a:extLst xmlns:a="http://schemas.openxmlformats.org/drawingml/2006/main">
              <a:ext uri="{FF2B5EF4-FFF2-40B4-BE49-F238E27FC236}">
                <a16:creationId xmlns:a16="http://schemas.microsoft.com/office/drawing/2014/main" id="{B00A4834-8866-4475-B9EF-3B5D4AE48AD0}"/>
              </a:ext>
            </a:extLst>
          </p:cNvPr>
          <p:cNvSpPr>
            <a:spLocks xmlns:a="http://schemas.openxmlformats.org/drawingml/2006/main" noGrp="1"/>
          </p:cNvSpPr>
          <p:nvPr/>
        </p:nvSpPr>
        <p:spPr>
          <a:xfrm xmlns:a="http://schemas.openxmlformats.org/drawingml/2006/main">
            <a:off x="838200" y="3762375"/>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Build an unsupervised detector from historical cloud activity.</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Separate routine changes from changes that affect the model’s decisions.</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Compare update rules and reduce unnecessary retraining.</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Evaluate the method through controlled tests and independent cloud logs.</a:t>
            </a:r>
          </a:p>
        </p:txBody>
      </p:sp>
      <p:sp>
        <p:nvSpPr>
          <p:cNvPr id="12" name="The implementation runs locally. Model-update">
            <a:extLst xmlns:a="http://schemas.openxmlformats.org/drawingml/2006/main">
              <a:ext uri="{FF2B5EF4-FFF2-40B4-BE49-F238E27FC236}">
                <a16:creationId xmlns:a16="http://schemas.microsoft.com/office/drawing/2014/main" id="{D9047151-697E-498B-8813-BF528D3CCA4B}"/>
              </a:ext>
            </a:extLst>
          </p:cNvPr>
          <p:cNvSpPr>
            <a:spLocks xmlns:a="http://schemas.openxmlformats.org/drawingml/2006/main" noGrp="1"/>
          </p:cNvSpPr>
          <p:nvPr/>
        </p:nvSpPr>
        <p:spPr>
          <a:xfrm xmlns:a="http://schemas.openxmlformats.org/drawingml/2006/main">
            <a:off x="838200" y="5715000"/>
            <a:ext cx="10515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The implementation runs locally. Model-update decisions are recorded for review.</a:t>
            </a:r>
          </a:p>
        </p:txBody>
      </p:sp>
    </p:spTree>
    <p:extLst>
      <p:ext uri="{BB962C8B-B14F-4D97-AF65-F5344CB8AC3E}">
        <p14:creationId xmlns:p14="http://schemas.microsoft.com/office/powerpoint/2010/main" val="25435188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156C6ACB-BF9E-DB99-B99C-4896C652737E}"/>
              </a:ext>
            </a:extLst>
          </p:cNvPr>
          <p:cNvSpPr>
            <a:spLocks xmlns:a="http://schemas.openxmlformats.org/drawingml/2006/main" noGrp="1"/>
          </p:cNvSpPr>
          <p:nvPr>
            <p:ph type="title" idx="0"/>
          </p:nvPr>
        </p:nvSpPr>
        <p:spPr>
          <a:xfrm xmlns:a="http://schemas.openxmlformats.org/drawingml/2006/main">
            <a:off x="838200" y="739558"/>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spc="-25">
                <a:solidFill>
                  <a:srgbClr val="000000"/>
                </a:solidFill>
                <a:latin typeface="Times New Roman"/>
                <a:ea typeface="Times New Roman"/>
                <a:cs typeface="Times New Roman"/>
              </a:rPr>
              <a:t>Abstract and Dataset</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D178CC71-33B7-48C1-9416-7972FC6CB7E4}"/>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BA28E20E-3785-4A13-95B3-0D39D6B9163A}"/>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4">
            <a:extLst xmlns:a="http://schemas.openxmlformats.org/drawingml/2006/main">
              <a:ext uri="{FF2B5EF4-FFF2-40B4-BE49-F238E27FC236}">
                <a16:creationId xmlns:a16="http://schemas.microsoft.com/office/drawing/2014/main" id="{EDE466E1-A826-4D32-92BF-A368C7E4926D}"/>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4</a:t>
            </a:r>
          </a:p>
        </p:txBody>
      </p:sp>
      <p:sp>
        <p:nvSpPr>
          <p:cNvPr id="8" name="">
            <a:extLst xmlns:a="http://schemas.openxmlformats.org/drawingml/2006/main">
              <a:ext uri="{FF2B5EF4-FFF2-40B4-BE49-F238E27FC236}">
                <a16:creationId xmlns:a16="http://schemas.microsoft.com/office/drawing/2014/main" id="{1B2455A4-17CC-4D02-A754-61F0D1A2C70B}"/>
              </a:ext>
            </a:extLst>
          </p:cNvPr>
          <p:cNvSpPr>
            <a:spLocks xmlns:a="http://schemas.openxmlformats.org/drawingml/2006/main" noGrp="1"/>
          </p:cNvSpPr>
          <p:nvPr/>
        </p:nvSpPr>
        <p:spPr>
          <a:xfrm xmlns:a="http://schemas.openxmlformats.org/drawingml/2006/main">
            <a:off x="838200" y="1619250"/>
            <a:ext cx="105156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CloudTrail records AWS API calls, services, regions and identity details.</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New workloads and normal behaviour changes can increase false alarms.</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Isolation Forest scores unusual events. SHAP shows which inputs affect its output.</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The framework measures data drift, explanation drift and their feature-level coupling.</a:t>
            </a:r>
          </a:p>
        </p:txBody>
      </p:sp>
      <p:sp>
        <p:nvSpPr>
          <p:cNvPr id="9" name="Dataset and time split">
            <a:extLst xmlns:a="http://schemas.openxmlformats.org/drawingml/2006/main">
              <a:ext uri="{FF2B5EF4-FFF2-40B4-BE49-F238E27FC236}">
                <a16:creationId xmlns:a16="http://schemas.microsoft.com/office/drawing/2014/main" id="{AB414EAF-3EA6-411C-8628-03E50391A46A}"/>
              </a:ext>
            </a:extLst>
          </p:cNvPr>
          <p:cNvSpPr>
            <a:spLocks xmlns:a="http://schemas.openxmlformats.org/drawingml/2006/main" noGrp="1"/>
          </p:cNvSpPr>
          <p:nvPr/>
        </p:nvSpPr>
        <p:spPr>
          <a:xfrm xmlns:a="http://schemas.openxmlformats.org/drawingml/2006/main">
            <a:off x="838200" y="371475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000000"/>
                </a:solidFill>
                <a:latin typeface="Times New Roman"/>
                <a:ea typeface="Times New Roman"/>
                <a:cs typeface="Times New Roman"/>
              </a:defRPr>
            </a:defPPr>
            <a:lvl1pPr algn="l">
              <a:defRPr sz="2400" b="1">
                <a:solidFill>
                  <a:srgbClr val="000000"/>
                </a:solidFill>
                <a:latin typeface="Times New Roman"/>
                <a:ea typeface="Times New Roman"/>
                <a:cs typeface="Times New Roman"/>
              </a:defRPr>
            </a:lvl1pPr>
            <a:lvl2pPr algn="l">
              <a:defRPr sz="2400" b="1">
                <a:solidFill>
                  <a:srgbClr val="000000"/>
                </a:solidFill>
                <a:latin typeface="Times New Roman"/>
                <a:ea typeface="Times New Roman"/>
                <a:cs typeface="Times New Roman"/>
              </a:defRPr>
            </a:lvl2pPr>
            <a:lvl3pPr algn="l">
              <a:defRPr sz="2400" b="1">
                <a:solidFill>
                  <a:srgbClr val="000000"/>
                </a:solidFill>
                <a:latin typeface="Times New Roman"/>
                <a:ea typeface="Times New Roman"/>
                <a:cs typeface="Times New Roman"/>
              </a:defRPr>
            </a:lvl3pPr>
            <a:lvl4pPr algn="l">
              <a:defRPr sz="2400" b="1">
                <a:solidFill>
                  <a:srgbClr val="000000"/>
                </a:solidFill>
                <a:latin typeface="Times New Roman"/>
                <a:ea typeface="Times New Roman"/>
                <a:cs typeface="Times New Roman"/>
              </a:defRPr>
            </a:lvl4pPr>
            <a:lvl5pPr algn="l">
              <a:defRPr sz="2400" b="1">
                <a:solidFill>
                  <a:srgbClr val="000000"/>
                </a:solidFill>
                <a:latin typeface="Times New Roman"/>
                <a:ea typeface="Times New Roman"/>
                <a:cs typeface="Times New Roman"/>
              </a:defRPr>
            </a:lvl5pPr>
            <a:lvl6pPr algn="l">
              <a:defRPr sz="2400" b="1">
                <a:solidFill>
                  <a:srgbClr val="000000"/>
                </a:solidFill>
                <a:latin typeface="Times New Roman"/>
                <a:ea typeface="Times New Roman"/>
                <a:cs typeface="Times New Roman"/>
              </a:defRPr>
            </a:lvl6pPr>
            <a:lvl7pPr algn="l">
              <a:defRPr sz="2400" b="1">
                <a:solidFill>
                  <a:srgbClr val="000000"/>
                </a:solidFill>
                <a:latin typeface="Times New Roman"/>
                <a:ea typeface="Times New Roman"/>
                <a:cs typeface="Times New Roman"/>
              </a:defRPr>
            </a:lvl7pPr>
            <a:lvl8pPr algn="l">
              <a:defRPr sz="2400" b="1">
                <a:solidFill>
                  <a:srgbClr val="000000"/>
                </a:solidFill>
                <a:latin typeface="Times New Roman"/>
                <a:ea typeface="Times New Roman"/>
                <a:cs typeface="Times New Roman"/>
              </a:defRPr>
            </a:lvl8pPr>
            <a:lvl9pPr algn="l">
              <a:defRPr sz="2400" b="1">
                <a:solidFill>
                  <a:srgbClr val="000000"/>
                </a:solidFill>
                <a:latin typeface="Times New Roman"/>
                <a:ea typeface="Times New Roman"/>
                <a:cs typeface="Times New Roman"/>
              </a:defRPr>
            </a:lvl9pPr>
          </a:lstStyle>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Dataset and time split</a:t>
            </a:r>
          </a:p>
        </p:txBody>
      </p:sp>
      <p:sp>
        <p:nvSpPr>
          <p:cNvPr id="10" name="1,939,207 records, 18 source columns and 45 m">
            <a:extLst xmlns:a="http://schemas.openxmlformats.org/drawingml/2006/main">
              <a:ext uri="{FF2B5EF4-FFF2-40B4-BE49-F238E27FC236}">
                <a16:creationId xmlns:a16="http://schemas.microsoft.com/office/drawing/2014/main" id="{759A0FFD-766F-42DD-B643-567EF1E1B373}"/>
              </a:ext>
            </a:extLst>
          </p:cNvPr>
          <p:cNvSpPr>
            <a:spLocks xmlns:a="http://schemas.openxmlformats.org/drawingml/2006/main" noGrp="1"/>
          </p:cNvSpPr>
          <p:nvPr/>
        </p:nvSpPr>
        <p:spPr>
          <a:xfrm xmlns:a="http://schemas.openxmlformats.org/drawingml/2006/main">
            <a:off x="838200" y="4171950"/>
            <a:ext cx="10515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1,939,207 records, 18 source columns and 45 monthly windows</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February 2017 to October 2020</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27 training months, 9 validation months and 9 held-out test months</a:t>
            </a:r>
          </a:p>
        </p:txBody>
      </p:sp>
      <p:sp>
        <p:nvSpPr>
          <p:cNvPr id="11" name="The original corpus has no attack labels. Rea">
            <a:extLst xmlns:a="http://schemas.openxmlformats.org/drawingml/2006/main">
              <a:ext uri="{FF2B5EF4-FFF2-40B4-BE49-F238E27FC236}">
                <a16:creationId xmlns:a16="http://schemas.microsoft.com/office/drawing/2014/main" id="{36051652-D77B-4860-8A9B-5521773DB47F}"/>
              </a:ext>
            </a:extLst>
          </p:cNvPr>
          <p:cNvSpPr>
            <a:spLocks xmlns:a="http://schemas.openxmlformats.org/drawingml/2006/main" noGrp="1"/>
          </p:cNvSpPr>
          <p:nvPr/>
        </p:nvSpPr>
        <p:spPr>
          <a:xfrm xmlns:a="http://schemas.openxmlformats.org/drawingml/2006/main">
            <a:off x="838200" y="55721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The original corpus has no attack labels. Real months show observed change; controlled scenarios provide separate evaluation targets.</a:t>
            </a:r>
          </a:p>
        </p:txBody>
      </p:sp>
    </p:spTree>
    <p:extLst>
      <p:ext uri="{BB962C8B-B14F-4D97-AF65-F5344CB8AC3E}">
        <p14:creationId xmlns:p14="http://schemas.microsoft.com/office/powerpoint/2010/main" val="345309793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435FB437-6170-6BA2-1A38-A902855A3E61}"/>
              </a:ext>
            </a:extLst>
          </p:cNvPr>
          <p:cNvSpPr>
            <a:spLocks xmlns:a="http://schemas.openxmlformats.org/drawingml/2006/main" noGrp="1"/>
          </p:cNvSpPr>
          <p:nvPr>
            <p:ph type="title" idx="0"/>
          </p:nvPr>
        </p:nvSpPr>
        <p:spPr>
          <a:xfrm xmlns:a="http://schemas.openxmlformats.org/drawingml/2006/main">
            <a:off x="448056"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spc="-25">
                <a:solidFill>
                  <a:srgbClr val="000000"/>
                </a:solidFill>
                <a:latin typeface="Times New Roman"/>
                <a:ea typeface="Times New Roman"/>
                <a:cs typeface="Times New Roman"/>
              </a:rPr>
              <a:t>Literature Review</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6334154A-0AB7-4BB8-BA07-73ADB3FF279D}"/>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72EC0DF9-55E2-4059-94CF-F14B2202682F}"/>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5">
            <a:extLst xmlns:a="http://schemas.openxmlformats.org/drawingml/2006/main">
              <a:ext uri="{FF2B5EF4-FFF2-40B4-BE49-F238E27FC236}">
                <a16:creationId xmlns:a16="http://schemas.microsoft.com/office/drawing/2014/main" id="{91A12540-8A44-4758-A33A-C2FD860C74A9}"/>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5</a:t>
            </a:r>
          </a:p>
        </p:txBody>
      </p:sp>
      <p:graphicFrame>
        <p:nvGraphicFramePr>
          <p:cNvPr id="8" name="">
            <a:extLst xmlns:a="http://schemas.openxmlformats.org/drawingml/2006/main">
              <a:ext uri="{FF2B5EF4-FFF2-40B4-BE49-F238E27FC236}">
                <a16:creationId xmlns:a16="http://schemas.microsoft.com/office/drawing/2014/main" id="{2885FF34-B7AC-46C9-9122-514BA5C3426E}"/>
              </a:ext>
            </a:extLst>
          </p:cNvPr>
          <p:cNvGraphicFramePr/>
          <p:nvPr/>
        </p:nvGraphicFramePr>
        <p:xfrm>
          <a:off xmlns:a="http://schemas.openxmlformats.org/drawingml/2006/main" x="838200" y="1619250"/>
          <a:ext xmlns:a="http://schemas.openxmlformats.org/drawingml/2006/main" cx="10515600" cy="3667125"/>
        </p:xfrm>
        <a:graphic xmlns:a="http://schemas.openxmlformats.org/drawingml/2006/main">
          <a:graphicData uri="http://schemas.openxmlformats.org/drawingml/2006/table">
            <a:tbl>
              <a:tblPr firstRow="1" bandRow="0"/>
              <a:tblGrid>
                <a:gridCol w="1857375"/>
                <a:gridCol w="2000250"/>
                <a:gridCol w="2095500"/>
                <a:gridCol w="2428875"/>
                <a:gridCol w="2133600"/>
              </a:tblGrid>
              <a:tr h="733425">
                <a:tc>
                  <a:txBody>
                    <a:bodyPr/>
                    <a:lstStyle/>
                    <a:p>
                      <a:pPr algn="l"/>
                      <a:r>
                        <a:rPr sz="1800" b="1">
                          <a:solidFill>
                            <a:srgbClr val="FFFFFF"/>
                          </a:solidFill>
                          <a:latin typeface="Times New Roman"/>
                          <a:ea typeface="Times New Roman"/>
                          <a:cs typeface="Times New Roman"/>
                        </a:rPr>
                        <a:t>Paper</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Objective</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Method</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Strength / limit</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Finding</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733425">
                <a:tc>
                  <a:txBody>
                    <a:bodyPr/>
                    <a:lstStyle/>
                    <a:p>
                      <a:pPr algn="l"/>
                      <a:r>
                        <a:rPr sz="1800" b="0">
                          <a:solidFill>
                            <a:srgbClr val="000000"/>
                          </a:solidFill>
                          <a:latin typeface="Times New Roman"/>
                          <a:ea typeface="Times New Roman"/>
                          <a:cs typeface="Times New Roman"/>
                        </a:rPr>
                        <a:t>Sethi &amp;</a:t>
                      </a:r>
                    </a:p>
                    <a:p>
                      <a:pPr algn="l"/>
                      <a:r>
                        <a:rPr sz="1800" b="0">
                          <a:solidFill>
                            <a:srgbClr val="000000"/>
                          </a:solidFill>
                          <a:latin typeface="Times New Roman"/>
                          <a:ea typeface="Times New Roman"/>
                          <a:cs typeface="Times New Roman"/>
                        </a:rPr>
                        <a:t>Kantardzic, 2017</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Find drift without labels</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Monitor changes in unlabelled data</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May flag changes unrelated to decisions</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Input drift needs model context</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733425">
                <a:tc>
                  <a:txBody>
                    <a:bodyPr/>
                    <a:lstStyle/>
                    <a:p>
                      <a:pPr algn="l"/>
                      <a:r>
                        <a:rPr sz="1800" b="0">
                          <a:solidFill>
                            <a:srgbClr val="000000"/>
                          </a:solidFill>
                          <a:latin typeface="Times New Roman"/>
                          <a:ea typeface="Times New Roman"/>
                          <a:cs typeface="Times New Roman"/>
                        </a:rPr>
                        <a:t>Han et al.</a:t>
                      </a:r>
                    </a:p>
                    <a:p>
                      <a:pPr algn="l"/>
                      <a:r>
                        <a:rPr sz="1800" b="0">
                          <a:solidFill>
                            <a:srgbClr val="000000"/>
                          </a:solidFill>
                          <a:latin typeface="Times New Roman"/>
                          <a:ea typeface="Times New Roman"/>
                          <a:cs typeface="Times New Roman"/>
                        </a:rPr>
                        <a:t>2023</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Handle changes in normal behaviour</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Detect, explain and adapt to shifts</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Security setting</a:t>
                      </a:r>
                    </a:p>
                    <a:p>
                      <a:pPr algn="l"/>
                      <a:r>
                        <a:rPr sz="1800" b="0">
                          <a:solidFill>
                            <a:srgbClr val="000000"/>
                          </a:solidFill>
                          <a:latin typeface="Times New Roman"/>
                          <a:ea typeface="Times New Roman"/>
                          <a:cs typeface="Times New Roman"/>
                        </a:rPr>
                        <a:t>Different data</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Updates must protect normality</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733425">
                <a:tc>
                  <a:txBody>
                    <a:bodyPr/>
                    <a:lstStyle/>
                    <a:p>
                      <a:pPr algn="l"/>
                      <a:r>
                        <a:rPr sz="1800" b="0">
                          <a:solidFill>
                            <a:srgbClr val="000000"/>
                          </a:solidFill>
                          <a:latin typeface="Times New Roman"/>
                          <a:ea typeface="Times New Roman"/>
                          <a:cs typeface="Times New Roman"/>
                        </a:rPr>
                        <a:t>Lee et al.</a:t>
                      </a:r>
                    </a:p>
                    <a:p>
                      <a:pPr algn="l"/>
                      <a:r>
                        <a:rPr sz="1800" b="0">
                          <a:solidFill>
                            <a:srgbClr val="000000"/>
                          </a:solidFill>
                          <a:latin typeface="Times New Roman"/>
                          <a:ea typeface="Times New Roman"/>
                          <a:cs typeface="Times New Roman"/>
                        </a:rPr>
                        <a:t>2023</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Monitor model drift</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Compare SHAP-based evidence</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Uses explanations</a:t>
                      </a:r>
                    </a:p>
                    <a:p>
                      <a:pPr algn="l"/>
                      <a:r>
                        <a:rPr sz="1800" b="0">
                          <a:solidFill>
                            <a:srgbClr val="000000"/>
                          </a:solidFill>
                          <a:latin typeface="Times New Roman"/>
                          <a:ea typeface="Times New Roman"/>
                          <a:cs typeface="Times New Roman"/>
                        </a:rPr>
                        <a:t>Different setting</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SHAP drift is established</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733425">
                <a:tc>
                  <a:txBody>
                    <a:bodyPr/>
                    <a:lstStyle/>
                    <a:p>
                      <a:pPr algn="l"/>
                      <a:r>
                        <a:rPr sz="1800" b="0">
                          <a:solidFill>
                            <a:srgbClr val="000000"/>
                          </a:solidFill>
                          <a:latin typeface="Times New Roman"/>
                          <a:ea typeface="Times New Roman"/>
                          <a:cs typeface="Times New Roman"/>
                        </a:rPr>
                        <a:t>Varma &amp; Ramya</a:t>
                      </a:r>
                    </a:p>
                    <a:p>
                      <a:pPr algn="l"/>
                      <a:r>
                        <a:rPr sz="1800" b="0">
                          <a:solidFill>
                            <a:srgbClr val="000000"/>
                          </a:solidFill>
                          <a:latin typeface="Times New Roman"/>
                          <a:ea typeface="Times New Roman"/>
                          <a:cs typeface="Times New Roman"/>
                        </a:rPr>
                        <a:t>2025</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Explain CloudTrail anomalies</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ML and contextual explanations</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CloudTrail focus</a:t>
                      </a:r>
                    </a:p>
                    <a:p>
                      <a:pPr algn="l"/>
                      <a:r>
                        <a:rPr sz="1800" b="0">
                          <a:solidFill>
                            <a:srgbClr val="000000"/>
                          </a:solidFill>
                          <a:latin typeface="Times New Roman"/>
                          <a:ea typeface="Times New Roman"/>
                          <a:cs typeface="Times New Roman"/>
                        </a:rPr>
                        <a:t>No coupling gate</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Cloud audit explanations are useful</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bl>
          </a:graphicData>
        </a:graphic>
      </p:graphicFrame>
      <p:sp>
        <p:nvSpPr>
          <p:cNvPr id="9" name="Related work: Kuppa and Le-Khac (2022) study ">
            <a:extLst xmlns:a="http://schemas.openxmlformats.org/drawingml/2006/main">
              <a:ext uri="{FF2B5EF4-FFF2-40B4-BE49-F238E27FC236}">
                <a16:creationId xmlns:a16="http://schemas.microsoft.com/office/drawing/2014/main" id="{3E55F2D2-2269-4FDC-AE4B-1F64E56D3402}"/>
              </a:ext>
            </a:extLst>
          </p:cNvPr>
          <p:cNvSpPr>
            <a:spLocks xmlns:a="http://schemas.openxmlformats.org/drawingml/2006/main" noGrp="1"/>
          </p:cNvSpPr>
          <p:nvPr/>
        </p:nvSpPr>
        <p:spPr>
          <a:xfrm xmlns:a="http://schemas.openxmlformats.org/drawingml/2006/main">
            <a:off x="838200" y="5715000"/>
            <a:ext cx="10515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000000"/>
                </a:solidFill>
                <a:latin typeface="Times New Roman"/>
                <a:ea typeface="Times New Roman"/>
                <a:cs typeface="Times New Roman"/>
              </a:defRPr>
            </a:defPPr>
            <a:lvl1pPr algn="l">
              <a:defRPr sz="1800" b="0">
                <a:solidFill>
                  <a:srgbClr val="000000"/>
                </a:solidFill>
                <a:latin typeface="Times New Roman"/>
                <a:ea typeface="Times New Roman"/>
                <a:cs typeface="Times New Roman"/>
              </a:defRPr>
            </a:lvl1pPr>
            <a:lvl2pPr algn="l">
              <a:defRPr sz="1800" b="0">
                <a:solidFill>
                  <a:srgbClr val="000000"/>
                </a:solidFill>
                <a:latin typeface="Times New Roman"/>
                <a:ea typeface="Times New Roman"/>
                <a:cs typeface="Times New Roman"/>
              </a:defRPr>
            </a:lvl2pPr>
            <a:lvl3pPr algn="l">
              <a:defRPr sz="1800" b="0">
                <a:solidFill>
                  <a:srgbClr val="000000"/>
                </a:solidFill>
                <a:latin typeface="Times New Roman"/>
                <a:ea typeface="Times New Roman"/>
                <a:cs typeface="Times New Roman"/>
              </a:defRPr>
            </a:lvl3pPr>
            <a:lvl4pPr algn="l">
              <a:defRPr sz="1800" b="0">
                <a:solidFill>
                  <a:srgbClr val="000000"/>
                </a:solidFill>
                <a:latin typeface="Times New Roman"/>
                <a:ea typeface="Times New Roman"/>
                <a:cs typeface="Times New Roman"/>
              </a:defRPr>
            </a:lvl4pPr>
            <a:lvl5pPr algn="l">
              <a:defRPr sz="1800" b="0">
                <a:solidFill>
                  <a:srgbClr val="000000"/>
                </a:solidFill>
                <a:latin typeface="Times New Roman"/>
                <a:ea typeface="Times New Roman"/>
                <a:cs typeface="Times New Roman"/>
              </a:defRPr>
            </a:lvl5pPr>
            <a:lvl6pPr algn="l">
              <a:defRPr sz="1800" b="0">
                <a:solidFill>
                  <a:srgbClr val="000000"/>
                </a:solidFill>
                <a:latin typeface="Times New Roman"/>
                <a:ea typeface="Times New Roman"/>
                <a:cs typeface="Times New Roman"/>
              </a:defRPr>
            </a:lvl6pPr>
            <a:lvl7pPr algn="l">
              <a:defRPr sz="1800" b="0">
                <a:solidFill>
                  <a:srgbClr val="000000"/>
                </a:solidFill>
                <a:latin typeface="Times New Roman"/>
                <a:ea typeface="Times New Roman"/>
                <a:cs typeface="Times New Roman"/>
              </a:defRPr>
            </a:lvl7pPr>
            <a:lvl8pPr algn="l">
              <a:defRPr sz="1800" b="0">
                <a:solidFill>
                  <a:srgbClr val="000000"/>
                </a:solidFill>
                <a:latin typeface="Times New Roman"/>
                <a:ea typeface="Times New Roman"/>
                <a:cs typeface="Times New Roman"/>
              </a:defRPr>
            </a:lvl8pPr>
            <a:lvl9pPr algn="l">
              <a:defRPr sz="1800" b="0">
                <a:solidFill>
                  <a:srgbClr val="000000"/>
                </a:solidFill>
                <a:latin typeface="Times New Roman"/>
                <a:ea typeface="Times New Roman"/>
                <a:cs typeface="Times New Roman"/>
              </a:defRPr>
            </a:lvl9pPr>
          </a:lstStyle>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Related work: Kuppa and Le-Khac (2022) study security drift. Li et al. (2024) use drift type to guide updates. This project tests feature-level coupling in CloudTrail.</a:t>
            </a:r>
          </a:p>
        </p:txBody>
      </p:sp>
    </p:spTree>
    <p:extLst>
      <p:ext uri="{BB962C8B-B14F-4D97-AF65-F5344CB8AC3E}">
        <p14:creationId xmlns:p14="http://schemas.microsoft.com/office/powerpoint/2010/main" val="8574497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2E07AC55-BA5E-4123-39E6-B79860C6C9EE}"/>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Research Gap and Novelty</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CE9750A5-429B-4BF3-A234-0E14A316E97B}"/>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E685F679-51DE-4A20-A6A1-52B1BD412EED}"/>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6">
            <a:extLst xmlns:a="http://schemas.openxmlformats.org/drawingml/2006/main">
              <a:ext uri="{FF2B5EF4-FFF2-40B4-BE49-F238E27FC236}">
                <a16:creationId xmlns:a16="http://schemas.microsoft.com/office/drawing/2014/main" id="{31E8A7A3-01D3-4F6B-A94B-64F9B2F6F4F8}"/>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6</a:t>
            </a:r>
          </a:p>
        </p:txBody>
      </p:sp>
      <p:sp>
        <p:nvSpPr>
          <p:cNvPr id="8" name="Gap: a change in input data does not show how">
            <a:extLst xmlns:a="http://schemas.openxmlformats.org/drawingml/2006/main">
              <a:ext uri="{FF2B5EF4-FFF2-40B4-BE49-F238E27FC236}">
                <a16:creationId xmlns:a16="http://schemas.microsoft.com/office/drawing/2014/main" id="{0BCC80E4-F627-408A-B860-F14EE6DFE092}"/>
              </a:ext>
            </a:extLst>
          </p:cNvPr>
          <p:cNvSpPr>
            <a:spLocks xmlns:a="http://schemas.openxmlformats.org/drawingml/2006/main" noGrp="1"/>
          </p:cNvSpPr>
          <p:nvPr/>
        </p:nvSpPr>
        <p:spPr>
          <a:xfrm xmlns:a="http://schemas.openxmlformats.org/drawingml/2006/main">
            <a:off x="838200" y="1571625"/>
            <a:ext cx="1051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Gap: a change in input data does not show how much the detector is affected.</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Our method compares each feature’s data shift with its SHAP attribution shift.</a:t>
            </a:r>
          </a:p>
        </p:txBody>
      </p:sp>
      <p:graphicFrame>
        <p:nvGraphicFramePr>
          <p:cNvPr id="9" name="">
            <a:extLst xmlns:a="http://schemas.openxmlformats.org/drawingml/2006/main">
              <a:ext uri="{FF2B5EF4-FFF2-40B4-BE49-F238E27FC236}">
                <a16:creationId xmlns:a16="http://schemas.microsoft.com/office/drawing/2014/main" id="{DD6FE2F8-745A-4CAC-BF91-22097544BE82}"/>
              </a:ext>
            </a:extLst>
          </p:cNvPr>
          <p:cNvGraphicFramePr/>
          <p:nvPr/>
        </p:nvGraphicFramePr>
        <p:xfrm>
          <a:off xmlns:a="http://schemas.openxmlformats.org/drawingml/2006/main" x="838200" y="2809875"/>
          <a:ext xmlns:a="http://schemas.openxmlformats.org/drawingml/2006/main" cx="10515600" cy="2333625"/>
        </p:xfrm>
        <a:graphic xmlns:a="http://schemas.openxmlformats.org/drawingml/2006/main">
          <a:graphicData uri="http://schemas.openxmlformats.org/drawingml/2006/table">
            <a:tbl>
              <a:tblPr firstRow="1" bandRow="0"/>
              <a:tblGrid>
                <a:gridCol w="5619750"/>
                <a:gridCol w="4895850"/>
              </a:tblGrid>
              <a:tr h="466725">
                <a:tc>
                  <a:txBody>
                    <a:bodyPr/>
                    <a:lstStyle/>
                    <a:p>
                      <a:pPr algn="l"/>
                      <a:r>
                        <a:rPr sz="2000" b="1">
                          <a:solidFill>
                            <a:srgbClr val="FFFFFF"/>
                          </a:solidFill>
                          <a:latin typeface="Times New Roman"/>
                          <a:ea typeface="Times New Roman"/>
                          <a:cs typeface="Times New Roman"/>
                        </a:rPr>
                        <a:t>Observed change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2000" b="1">
                          <a:solidFill>
                            <a:srgbClr val="FFFFFF"/>
                          </a:solidFill>
                          <a:latin typeface="Times New Roman"/>
                          <a:ea typeface="Times New Roman"/>
                          <a:cs typeface="Times New Roman"/>
                        </a:rPr>
                        <a:t>Possible meaning</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466725">
                <a:tc>
                  <a:txBody>
                    <a:bodyPr/>
                    <a:lstStyle/>
                    <a:p>
                      <a:pPr algn="l"/>
                      <a:r>
                        <a:rPr sz="2000" b="0">
                          <a:solidFill>
                            <a:srgbClr val="000000"/>
                          </a:solidFill>
                          <a:latin typeface="Times New Roman"/>
                          <a:ea typeface="Times New Roman"/>
                          <a:cs typeface="Times New Roman"/>
                        </a:rPr>
                        <a:t>Little change in data and explanations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Stable period</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466725">
                <a:tc>
                  <a:txBody>
                    <a:bodyPr/>
                    <a:lstStyle/>
                    <a:p>
                      <a:pPr algn="l"/>
                      <a:r>
                        <a:rPr sz="2000" b="0">
                          <a:solidFill>
                            <a:srgbClr val="000000"/>
                          </a:solidFill>
                          <a:latin typeface="Times New Roman"/>
                          <a:ea typeface="Times New Roman"/>
                          <a:cs typeface="Times New Roman"/>
                        </a:rPr>
                        <a:t>Data changes, explanations stay similar</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Likely routine change</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466725">
                <a:tc>
                  <a:txBody>
                    <a:bodyPr/>
                    <a:lstStyle/>
                    <a:p>
                      <a:pPr algn="l"/>
                      <a:r>
                        <a:rPr sz="2000" b="0">
                          <a:solidFill>
                            <a:srgbClr val="000000"/>
                          </a:solidFill>
                          <a:latin typeface="Times New Roman"/>
                          <a:ea typeface="Times New Roman"/>
                          <a:cs typeface="Times New Roman"/>
                        </a:rPr>
                        <a:t>Both change on the same features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May need a model update</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466725">
                <a:tc>
                  <a:txBody>
                    <a:bodyPr/>
                    <a:lstStyle/>
                    <a:p>
                      <a:pPr algn="l"/>
                      <a:r>
                        <a:rPr sz="2000" b="0">
                          <a:solidFill>
                            <a:srgbClr val="000000"/>
                          </a:solidFill>
                          <a:latin typeface="Times New Roman"/>
                          <a:ea typeface="Times New Roman"/>
                          <a:cs typeface="Times New Roman"/>
                        </a:rPr>
                        <a:t>Only explanations change, or signals disagree</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Model instability or closer review</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bl>
          </a:graphicData>
        </a:graphic>
      </p:graphicFrame>
      <p:sp>
        <p:nvSpPr>
          <p:cNvPr id="10" name="Coupling score: cosine similarity between fea">
            <a:extLst xmlns:a="http://schemas.openxmlformats.org/drawingml/2006/main">
              <a:ext uri="{FF2B5EF4-FFF2-40B4-BE49-F238E27FC236}">
                <a16:creationId xmlns:a16="http://schemas.microsoft.com/office/drawing/2014/main" id="{103CEA3C-1077-496C-B78F-0788916F280C}"/>
              </a:ext>
            </a:extLst>
          </p:cNvPr>
          <p:cNvSpPr>
            <a:spLocks xmlns:a="http://schemas.openxmlformats.org/drawingml/2006/main" noGrp="1"/>
          </p:cNvSpPr>
          <p:nvPr/>
        </p:nvSpPr>
        <p:spPr>
          <a:xfrm xmlns:a="http://schemas.openxmlformats.org/drawingml/2006/main">
            <a:off x="838200" y="5334000"/>
            <a:ext cx="10515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Coupling score: cosine similarity between feature-drift scores and SHAP displacement.</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A high score means the changes line up on the same features. Magnitude thresholds still apply.</a:t>
            </a:r>
          </a:p>
        </p:txBody>
      </p:sp>
    </p:spTree>
    <p:extLst>
      <p:ext uri="{BB962C8B-B14F-4D97-AF65-F5344CB8AC3E}">
        <p14:creationId xmlns:p14="http://schemas.microsoft.com/office/powerpoint/2010/main" val="262310282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22BADD22-870A-4D8F-B788-CCCD5C223F9A}"/>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Objectives and Evaluation Plan</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9476D2F3-A962-4D3A-B4DB-6A4FD465B7D9}"/>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64C1FFC9-1EE2-4E5A-8918-1347E8B6A803}"/>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7">
            <a:extLst xmlns:a="http://schemas.openxmlformats.org/drawingml/2006/main">
              <a:ext uri="{FF2B5EF4-FFF2-40B4-BE49-F238E27FC236}">
                <a16:creationId xmlns:a16="http://schemas.microsoft.com/office/drawing/2014/main" id="{CB3ADC17-D8A7-432E-A18F-FD0F7BFD2DAE}"/>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7</a:t>
            </a:r>
          </a:p>
        </p:txBody>
      </p:sp>
      <p:sp>
        <p:nvSpPr>
          <p:cNvPr id="8" name="">
            <a:extLst xmlns:a="http://schemas.openxmlformats.org/drawingml/2006/main">
              <a:ext uri="{FF2B5EF4-FFF2-40B4-BE49-F238E27FC236}">
                <a16:creationId xmlns:a16="http://schemas.microsoft.com/office/drawing/2014/main" id="{4951013C-B941-4F3F-BB70-9EA764A9FAB3}"/>
              </a:ext>
            </a:extLst>
          </p:cNvPr>
          <p:cNvSpPr>
            <a:spLocks xmlns:a="http://schemas.openxmlformats.org/drawingml/2006/main" noGrp="1"/>
          </p:cNvSpPr>
          <p:nvPr/>
        </p:nvSpPr>
        <p:spPr>
          <a:xfrm xmlns:a="http://schemas.openxmlformats.org/drawingml/2006/main">
            <a:off x="838200" y="1619250"/>
            <a:ext cx="105156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Audit the dataset, record its checksum and preserve time order.</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Train Isolation Forest and verify that SHAP explanations match its output.</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Measure feature drift, explanation drift and coupling across windows.</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Test stable, routine-change and security-related scenarios.</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Compare no update, periodic, single-signal, dual-signal and coupling rules.</a:t>
            </a:r>
          </a:p>
          <a:p xmlns:a="http://schemas.openxmlformats.org/drawingml/2006/main">
            <a:pPr algn="l">
              <a:spcAft>
                <a:spcPts val="18"/>
              </a:spcAft>
              <a:defRPr sz="2200" b="0">
                <a:solidFill>
                  <a:srgbClr val="000000"/>
                </a:solidFill>
                <a:latin typeface="Times New Roman"/>
                <a:ea typeface="Times New Roman"/>
                <a:cs typeface="Times New Roman"/>
              </a:defRPr>
            </a:pPr>
            <a:r>
              <a:rPr sz="2200">
                <a:latin typeface="Times New Roman"/>
                <a:ea typeface="Times New Roman"/>
                <a:cs typeface="Times New Roman"/>
              </a:rPr>
              <a:t>Check how the method behaves on a separate labelled cloud-log dataset.</a:t>
            </a:r>
          </a:p>
        </p:txBody>
      </p:sp>
      <p:sp>
        <p:nvSpPr>
          <p:cNvPr id="9" name="Evaluation measures">
            <a:extLst xmlns:a="http://schemas.openxmlformats.org/drawingml/2006/main">
              <a:ext uri="{FF2B5EF4-FFF2-40B4-BE49-F238E27FC236}">
                <a16:creationId xmlns:a16="http://schemas.microsoft.com/office/drawing/2014/main" id="{748E158F-D806-46E9-9898-51704E9C8E23}"/>
              </a:ext>
            </a:extLst>
          </p:cNvPr>
          <p:cNvSpPr>
            <a:spLocks xmlns:a="http://schemas.openxmlformats.org/drawingml/2006/main" noGrp="1"/>
          </p:cNvSpPr>
          <p:nvPr/>
        </p:nvSpPr>
        <p:spPr>
          <a:xfrm xmlns:a="http://schemas.openxmlformats.org/drawingml/2006/main">
            <a:off x="838200" y="4524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00" b="1">
                <a:solidFill>
                  <a:srgbClr val="000000"/>
                </a:solidFill>
                <a:latin typeface="Times New Roman"/>
                <a:ea typeface="Times New Roman"/>
                <a:cs typeface="Times New Roman"/>
              </a:defRPr>
            </a:defPPr>
            <a:lvl1pPr algn="l">
              <a:defRPr sz="2300" b="1">
                <a:solidFill>
                  <a:srgbClr val="000000"/>
                </a:solidFill>
                <a:latin typeface="Times New Roman"/>
                <a:ea typeface="Times New Roman"/>
                <a:cs typeface="Times New Roman"/>
              </a:defRPr>
            </a:lvl1pPr>
            <a:lvl2pPr algn="l">
              <a:defRPr sz="2300" b="1">
                <a:solidFill>
                  <a:srgbClr val="000000"/>
                </a:solidFill>
                <a:latin typeface="Times New Roman"/>
                <a:ea typeface="Times New Roman"/>
                <a:cs typeface="Times New Roman"/>
              </a:defRPr>
            </a:lvl2pPr>
            <a:lvl3pPr algn="l">
              <a:defRPr sz="2300" b="1">
                <a:solidFill>
                  <a:srgbClr val="000000"/>
                </a:solidFill>
                <a:latin typeface="Times New Roman"/>
                <a:ea typeface="Times New Roman"/>
                <a:cs typeface="Times New Roman"/>
              </a:defRPr>
            </a:lvl3pPr>
            <a:lvl4pPr algn="l">
              <a:defRPr sz="2300" b="1">
                <a:solidFill>
                  <a:srgbClr val="000000"/>
                </a:solidFill>
                <a:latin typeface="Times New Roman"/>
                <a:ea typeface="Times New Roman"/>
                <a:cs typeface="Times New Roman"/>
              </a:defRPr>
            </a:lvl4pPr>
            <a:lvl5pPr algn="l">
              <a:defRPr sz="2300" b="1">
                <a:solidFill>
                  <a:srgbClr val="000000"/>
                </a:solidFill>
                <a:latin typeface="Times New Roman"/>
                <a:ea typeface="Times New Roman"/>
                <a:cs typeface="Times New Roman"/>
              </a:defRPr>
            </a:lvl5pPr>
            <a:lvl6pPr algn="l">
              <a:defRPr sz="2300" b="1">
                <a:solidFill>
                  <a:srgbClr val="000000"/>
                </a:solidFill>
                <a:latin typeface="Times New Roman"/>
                <a:ea typeface="Times New Roman"/>
                <a:cs typeface="Times New Roman"/>
              </a:defRPr>
            </a:lvl6pPr>
            <a:lvl7pPr algn="l">
              <a:defRPr sz="2300" b="1">
                <a:solidFill>
                  <a:srgbClr val="000000"/>
                </a:solidFill>
                <a:latin typeface="Times New Roman"/>
                <a:ea typeface="Times New Roman"/>
                <a:cs typeface="Times New Roman"/>
              </a:defRPr>
            </a:lvl7pPr>
            <a:lvl8pPr algn="l">
              <a:defRPr sz="2300" b="1">
                <a:solidFill>
                  <a:srgbClr val="000000"/>
                </a:solidFill>
                <a:latin typeface="Times New Roman"/>
                <a:ea typeface="Times New Roman"/>
                <a:cs typeface="Times New Roman"/>
              </a:defRPr>
            </a:lvl8pPr>
            <a:lvl9pPr algn="l">
              <a:defRPr sz="2300" b="1">
                <a:solidFill>
                  <a:srgbClr val="000000"/>
                </a:solidFill>
                <a:latin typeface="Times New Roman"/>
                <a:ea typeface="Times New Roman"/>
                <a:cs typeface="Times New Roman"/>
              </a:defRPr>
            </a:lvl9pPr>
          </a:lstStyle>
          <a:p xmlns:a="http://schemas.openxmlformats.org/drawingml/2006/main">
            <a:pPr algn="l">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Evaluation measures</a:t>
            </a:r>
          </a:p>
        </p:txBody>
      </p:sp>
      <p:sp>
        <p:nvSpPr>
          <p:cNvPr id="10" name="Precision, recall, F1, false-positive rate, u">
            <a:extLst xmlns:a="http://schemas.openxmlformats.org/drawingml/2006/main">
              <a:ext uri="{FF2B5EF4-FFF2-40B4-BE49-F238E27FC236}">
                <a16:creationId xmlns:a16="http://schemas.microsoft.com/office/drawing/2014/main" id="{012E9495-EB7C-4CA5-A062-393977E257BD}"/>
              </a:ext>
            </a:extLst>
          </p:cNvPr>
          <p:cNvSpPr>
            <a:spLocks xmlns:a="http://schemas.openxmlformats.org/drawingml/2006/main" noGrp="1"/>
          </p:cNvSpPr>
          <p:nvPr/>
        </p:nvSpPr>
        <p:spPr>
          <a:xfrm xmlns:a="http://schemas.openxmlformats.org/drawingml/2006/main">
            <a:off x="838200" y="4953000"/>
            <a:ext cx="1051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Precision, recall, F1, false-positive rate, update frequency and unnecessary updates.</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Use paired comparisons and confidence intervals to judge differences.</a:t>
            </a:r>
          </a:p>
        </p:txBody>
      </p:sp>
      <p:sp>
        <p:nvSpPr>
          <p:cNvPr id="11" name="SDG 9: reliable digital infrastructure. SDG 1">
            <a:extLst xmlns:a="http://schemas.openxmlformats.org/drawingml/2006/main">
              <a:ext uri="{FF2B5EF4-FFF2-40B4-BE49-F238E27FC236}">
                <a16:creationId xmlns:a16="http://schemas.microsoft.com/office/drawing/2014/main" id="{45D1C1D4-8C92-493C-A616-C1C18D298272}"/>
              </a:ext>
            </a:extLst>
          </p:cNvPr>
          <p:cNvSpPr>
            <a:spLocks xmlns:a="http://schemas.openxmlformats.org/drawingml/2006/main" noGrp="1"/>
          </p:cNvSpPr>
          <p:nvPr/>
        </p:nvSpPr>
        <p:spPr>
          <a:xfrm xmlns:a="http://schemas.openxmlformats.org/drawingml/2006/main">
            <a:off x="838200" y="5905500"/>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000000"/>
                </a:solidFill>
                <a:latin typeface="Times New Roman"/>
                <a:ea typeface="Times New Roman"/>
                <a:cs typeface="Times New Roman"/>
              </a:defRPr>
            </a:defPPr>
            <a:lvl1pPr algn="l">
              <a:defRPr sz="1800" b="0">
                <a:solidFill>
                  <a:srgbClr val="000000"/>
                </a:solidFill>
                <a:latin typeface="Times New Roman"/>
                <a:ea typeface="Times New Roman"/>
                <a:cs typeface="Times New Roman"/>
              </a:defRPr>
            </a:lvl1pPr>
            <a:lvl2pPr algn="l">
              <a:defRPr sz="1800" b="0">
                <a:solidFill>
                  <a:srgbClr val="000000"/>
                </a:solidFill>
                <a:latin typeface="Times New Roman"/>
                <a:ea typeface="Times New Roman"/>
                <a:cs typeface="Times New Roman"/>
              </a:defRPr>
            </a:lvl2pPr>
            <a:lvl3pPr algn="l">
              <a:defRPr sz="1800" b="0">
                <a:solidFill>
                  <a:srgbClr val="000000"/>
                </a:solidFill>
                <a:latin typeface="Times New Roman"/>
                <a:ea typeface="Times New Roman"/>
                <a:cs typeface="Times New Roman"/>
              </a:defRPr>
            </a:lvl3pPr>
            <a:lvl4pPr algn="l">
              <a:defRPr sz="1800" b="0">
                <a:solidFill>
                  <a:srgbClr val="000000"/>
                </a:solidFill>
                <a:latin typeface="Times New Roman"/>
                <a:ea typeface="Times New Roman"/>
                <a:cs typeface="Times New Roman"/>
              </a:defRPr>
            </a:lvl4pPr>
            <a:lvl5pPr algn="l">
              <a:defRPr sz="1800" b="0">
                <a:solidFill>
                  <a:srgbClr val="000000"/>
                </a:solidFill>
                <a:latin typeface="Times New Roman"/>
                <a:ea typeface="Times New Roman"/>
                <a:cs typeface="Times New Roman"/>
              </a:defRPr>
            </a:lvl5pPr>
            <a:lvl6pPr algn="l">
              <a:defRPr sz="1800" b="0">
                <a:solidFill>
                  <a:srgbClr val="000000"/>
                </a:solidFill>
                <a:latin typeface="Times New Roman"/>
                <a:ea typeface="Times New Roman"/>
                <a:cs typeface="Times New Roman"/>
              </a:defRPr>
            </a:lvl6pPr>
            <a:lvl7pPr algn="l">
              <a:defRPr sz="1800" b="0">
                <a:solidFill>
                  <a:srgbClr val="000000"/>
                </a:solidFill>
                <a:latin typeface="Times New Roman"/>
                <a:ea typeface="Times New Roman"/>
                <a:cs typeface="Times New Roman"/>
              </a:defRPr>
            </a:lvl7pPr>
            <a:lvl8pPr algn="l">
              <a:defRPr sz="1800" b="0">
                <a:solidFill>
                  <a:srgbClr val="000000"/>
                </a:solidFill>
                <a:latin typeface="Times New Roman"/>
                <a:ea typeface="Times New Roman"/>
                <a:cs typeface="Times New Roman"/>
              </a:defRPr>
            </a:lvl8pPr>
            <a:lvl9pPr algn="l">
              <a:defRPr sz="1800" b="0">
                <a:solidFill>
                  <a:srgbClr val="000000"/>
                </a:solidFill>
                <a:latin typeface="Times New Roman"/>
                <a:ea typeface="Times New Roman"/>
                <a:cs typeface="Times New Roman"/>
              </a:defRPr>
            </a:lvl9pPr>
          </a:lstStyle>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SDG 9: reliable digital infrastructure. SDG 16: accountable security decisions.</a:t>
            </a:r>
          </a:p>
        </p:txBody>
      </p:sp>
    </p:spTree>
    <p:extLst>
      <p:ext uri="{BB962C8B-B14F-4D97-AF65-F5344CB8AC3E}">
        <p14:creationId xmlns:p14="http://schemas.microsoft.com/office/powerpoint/2010/main" val="23359624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5DE9EA00-8D77-8DC9-1AE3-8B6FD1AF6BCC}"/>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Framework / Architecture</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F18CE1B3-B519-4DB3-8BC9-7C9FDEFC7A9D}"/>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CE34518A-47C7-4225-9928-AF5D4F4297FB}"/>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8">
            <a:extLst xmlns:a="http://schemas.openxmlformats.org/drawingml/2006/main">
              <a:ext uri="{FF2B5EF4-FFF2-40B4-BE49-F238E27FC236}">
                <a16:creationId xmlns:a16="http://schemas.microsoft.com/office/drawing/2014/main" id="{8B2BA1B3-6526-4635-855A-EA7B020EE449}"/>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8</a:t>
            </a:r>
          </a:p>
        </p:txBody>
      </p:sp>
      <p:sp>
        <p:nvSpPr>
          <p:cNvPr id="8" name="CloudTrail&#10;logs">
            <a:extLst xmlns:a="http://schemas.openxmlformats.org/drawingml/2006/main">
              <a:ext uri="{FF2B5EF4-FFF2-40B4-BE49-F238E27FC236}">
                <a16:creationId xmlns:a16="http://schemas.microsoft.com/office/drawing/2014/main" id="{B10CAE74-CFDC-42CC-9FF9-19DD73FCBB29}"/>
              </a:ext>
            </a:extLst>
          </p:cNvPr>
          <p:cNvSpPr>
            <a:spLocks xmlns:a="http://schemas.openxmlformats.org/drawingml/2006/main" noGrp="1"/>
          </p:cNvSpPr>
          <p:nvPr/>
        </p:nvSpPr>
        <p:spPr>
          <a:xfrm xmlns:a="http://schemas.openxmlformats.org/drawingml/2006/main">
            <a:off x="838200" y="1952625"/>
            <a:ext cx="2333625" cy="952500"/>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CloudTrail</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logs</a:t>
            </a:r>
          </a:p>
        </p:txBody>
      </p:sp>
      <p:sp>
        <p:nvSpPr>
          <p:cNvPr id="9" name="Prepare&#10;features">
            <a:extLst xmlns:a="http://schemas.openxmlformats.org/drawingml/2006/main">
              <a:ext uri="{FF2B5EF4-FFF2-40B4-BE49-F238E27FC236}">
                <a16:creationId xmlns:a16="http://schemas.microsoft.com/office/drawing/2014/main" id="{8BAA610B-BE33-4A82-8A5A-B49C62CF1931}"/>
              </a:ext>
            </a:extLst>
          </p:cNvPr>
          <p:cNvSpPr>
            <a:spLocks xmlns:a="http://schemas.openxmlformats.org/drawingml/2006/main" noGrp="1"/>
          </p:cNvSpPr>
          <p:nvPr/>
        </p:nvSpPr>
        <p:spPr>
          <a:xfrm xmlns:a="http://schemas.openxmlformats.org/drawingml/2006/main">
            <a:off x="3571875" y="1952625"/>
            <a:ext cx="2333625" cy="952500"/>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Prepare</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features</a:t>
            </a:r>
          </a:p>
        </p:txBody>
      </p:sp>
      <p:sp>
        <p:nvSpPr>
          <p:cNvPr id="10" name="Isolation Forest&#10;scores">
            <a:extLst xmlns:a="http://schemas.openxmlformats.org/drawingml/2006/main">
              <a:ext uri="{FF2B5EF4-FFF2-40B4-BE49-F238E27FC236}">
                <a16:creationId xmlns:a16="http://schemas.microsoft.com/office/drawing/2014/main" id="{29A581AE-F749-4D67-860C-DD81D244A7CA}"/>
              </a:ext>
            </a:extLst>
          </p:cNvPr>
          <p:cNvSpPr>
            <a:spLocks xmlns:a="http://schemas.openxmlformats.org/drawingml/2006/main" noGrp="1"/>
          </p:cNvSpPr>
          <p:nvPr/>
        </p:nvSpPr>
        <p:spPr>
          <a:xfrm xmlns:a="http://schemas.openxmlformats.org/drawingml/2006/main">
            <a:off x="6305550" y="1952625"/>
            <a:ext cx="2333625" cy="952500"/>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Isolation Forest</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scores</a:t>
            </a:r>
          </a:p>
        </p:txBody>
      </p:sp>
      <p:sp>
        <p:nvSpPr>
          <p:cNvPr id="11" name="SHAP&#10;explanations">
            <a:extLst xmlns:a="http://schemas.openxmlformats.org/drawingml/2006/main">
              <a:ext uri="{FF2B5EF4-FFF2-40B4-BE49-F238E27FC236}">
                <a16:creationId xmlns:a16="http://schemas.microsoft.com/office/drawing/2014/main" id="{5B829E44-FEB4-436C-8BD1-FC3674E51F2E}"/>
              </a:ext>
            </a:extLst>
          </p:cNvPr>
          <p:cNvSpPr>
            <a:spLocks xmlns:a="http://schemas.openxmlformats.org/drawingml/2006/main" noGrp="1"/>
          </p:cNvSpPr>
          <p:nvPr/>
        </p:nvSpPr>
        <p:spPr>
          <a:xfrm xmlns:a="http://schemas.openxmlformats.org/drawingml/2006/main">
            <a:off x="9039225" y="1952625"/>
            <a:ext cx="2333625" cy="952500"/>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SHAP</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explanations</a:t>
            </a:r>
          </a:p>
        </p:txBody>
      </p:sp>
      <p:sp>
        <p:nvSpPr>
          <p:cNvPr id="12" name="Baseline: 100 trees, contamination 0.05, seed">
            <a:extLst xmlns:a="http://schemas.openxmlformats.org/drawingml/2006/main">
              <a:ext uri="{FF2B5EF4-FFF2-40B4-BE49-F238E27FC236}">
                <a16:creationId xmlns:a16="http://schemas.microsoft.com/office/drawing/2014/main" id="{113FE9E9-8752-44EF-B63B-0C3B9D8F07EE}"/>
              </a:ext>
            </a:extLst>
          </p:cNvPr>
          <p:cNvSpPr>
            <a:spLocks xmlns:a="http://schemas.openxmlformats.org/drawingml/2006/main" noGrp="1"/>
          </p:cNvSpPr>
          <p:nvPr/>
        </p:nvSpPr>
        <p:spPr>
          <a:xfrm xmlns:a="http://schemas.openxmlformats.org/drawingml/2006/main">
            <a:off x="838200" y="1476375"/>
            <a:ext cx="1051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Baseline: 100 trees, contamination 0.05, seed 42 and seven inputs. Training-only maps.</a:t>
            </a:r>
          </a:p>
        </p:txBody>
      </p:sp>
      <p:sp>
        <p:nvSpPr>
          <p:cNvPr id="13" name="Flow connector">
            <a:extLst xmlns:a="http://schemas.openxmlformats.org/drawingml/2006/main">
              <a:ext uri="{FF2B5EF4-FFF2-40B4-BE49-F238E27FC236}">
                <a16:creationId xmlns:a16="http://schemas.microsoft.com/office/drawing/2014/main" id="{7F052912-A4B2-4875-8B5F-D043799949B6}"/>
              </a:ext>
            </a:extLst>
          </p:cNvPr>
          <p:cNvSpPr>
            <a:spLocks xmlns:a="http://schemas.openxmlformats.org/drawingml/2006/main" noGrp="1"/>
          </p:cNvSpPr>
          <p:nvPr/>
        </p:nvSpPr>
        <p:spPr>
          <a:xfrm xmlns:a="http://schemas.openxmlformats.org/drawingml/2006/main">
            <a:off x="3209925" y="231457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14" name="Flow connector">
            <a:extLst xmlns:a="http://schemas.openxmlformats.org/drawingml/2006/main">
              <a:ext uri="{FF2B5EF4-FFF2-40B4-BE49-F238E27FC236}">
                <a16:creationId xmlns:a16="http://schemas.microsoft.com/office/drawing/2014/main" id="{27E78D02-6D96-4906-ACDF-15845F6211E9}"/>
              </a:ext>
            </a:extLst>
          </p:cNvPr>
          <p:cNvSpPr>
            <a:spLocks xmlns:a="http://schemas.openxmlformats.org/drawingml/2006/main" noGrp="1"/>
          </p:cNvSpPr>
          <p:nvPr/>
        </p:nvSpPr>
        <p:spPr>
          <a:xfrm xmlns:a="http://schemas.openxmlformats.org/drawingml/2006/main">
            <a:off x="5943600" y="231457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15" name="Flow connector">
            <a:extLst xmlns:a="http://schemas.openxmlformats.org/drawingml/2006/main">
              <a:ext uri="{FF2B5EF4-FFF2-40B4-BE49-F238E27FC236}">
                <a16:creationId xmlns:a16="http://schemas.microsoft.com/office/drawing/2014/main" id="{A32E9C10-2C0B-4B9F-842F-51C651D3701B}"/>
              </a:ext>
            </a:extLst>
          </p:cNvPr>
          <p:cNvSpPr>
            <a:spLocks xmlns:a="http://schemas.openxmlformats.org/drawingml/2006/main" noGrp="1"/>
          </p:cNvSpPr>
          <p:nvPr/>
        </p:nvSpPr>
        <p:spPr>
          <a:xfrm xmlns:a="http://schemas.openxmlformats.org/drawingml/2006/main">
            <a:off x="8677275" y="231457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16" name="Explanations to drift measurement">
            <a:extLst xmlns:a="http://schemas.openxmlformats.org/drawingml/2006/main">
              <a:ext uri="{FF2B5EF4-FFF2-40B4-BE49-F238E27FC236}">
                <a16:creationId xmlns:a16="http://schemas.microsoft.com/office/drawing/2014/main" id="{763D53F6-843C-4138-8146-7C941AC33576}"/>
              </a:ext>
            </a:extLst>
          </p:cNvPr>
          <p:cNvSpPr>
            <a:spLocks xmlns:a="http://schemas.openxmlformats.org/drawingml/2006/main" noGrp="1"/>
          </p:cNvSpPr>
          <p:nvPr/>
        </p:nvSpPr>
        <p:spPr>
          <a:xfrm xmlns:a="http://schemas.openxmlformats.org/drawingml/2006/main">
            <a:off x="10096500" y="2971800"/>
            <a:ext cx="228600" cy="266700"/>
          </a:xfrm>
          <a:prstGeom xmlns:a="http://schemas.openxmlformats.org/drawingml/2006/main" prst="downArrow">
            <a:avLst/>
          </a:prstGeom>
          <a:solidFill xmlns:a="http://schemas.openxmlformats.org/drawingml/2006/main">
            <a:srgbClr val="4F81BD"/>
          </a:solidFill>
          <a:ln xmlns:a="http://schemas.openxmlformats.org/drawingml/2006/main" w="0">
            <a:solidFill>
              <a:srgbClr val="4F81BD"/>
            </a:solidFill>
          </a:ln>
        </p:spPr>
      </p:sp>
      <p:sp>
        <p:nvSpPr>
          <p:cNvPr id="17" name="Continue to the drift stage">
            <a:extLst xmlns:a="http://schemas.openxmlformats.org/drawingml/2006/main">
              <a:ext uri="{FF2B5EF4-FFF2-40B4-BE49-F238E27FC236}">
                <a16:creationId xmlns:a16="http://schemas.microsoft.com/office/drawing/2014/main" id="{19EEEA17-E4CA-47FC-8431-3838DC418195}"/>
              </a:ext>
            </a:extLst>
          </p:cNvPr>
          <p:cNvSpPr>
            <a:spLocks xmlns:a="http://schemas.openxmlformats.org/drawingml/2006/main" noGrp="1"/>
          </p:cNvSpPr>
          <p:nvPr/>
        </p:nvSpPr>
        <p:spPr>
          <a:xfrm xmlns:a="http://schemas.openxmlformats.org/drawingml/2006/main">
            <a:off x="2428875" y="3295650"/>
            <a:ext cx="7905750" cy="190500"/>
          </a:xfrm>
          <a:prstGeom xmlns:a="http://schemas.openxmlformats.org/drawingml/2006/main" prst="leftArrow">
            <a:avLst/>
          </a:prstGeom>
          <a:solidFill xmlns:a="http://schemas.openxmlformats.org/drawingml/2006/main">
            <a:srgbClr val="4F81BD"/>
          </a:solidFill>
          <a:ln xmlns:a="http://schemas.openxmlformats.org/drawingml/2006/main" w="0">
            <a:solidFill>
              <a:srgbClr val="4F81BD"/>
            </a:solidFill>
          </a:ln>
        </p:spPr>
      </p:sp>
      <p:sp>
        <p:nvSpPr>
          <p:cNvPr id="18" name="Enter drift measurement">
            <a:extLst xmlns:a="http://schemas.openxmlformats.org/drawingml/2006/main">
              <a:ext uri="{FF2B5EF4-FFF2-40B4-BE49-F238E27FC236}">
                <a16:creationId xmlns:a16="http://schemas.microsoft.com/office/drawing/2014/main" id="{7EB8927C-DF60-4641-8628-0E3B7E80443C}"/>
              </a:ext>
            </a:extLst>
          </p:cNvPr>
          <p:cNvSpPr>
            <a:spLocks xmlns:a="http://schemas.openxmlformats.org/drawingml/2006/main" noGrp="1"/>
          </p:cNvSpPr>
          <p:nvPr/>
        </p:nvSpPr>
        <p:spPr>
          <a:xfrm xmlns:a="http://schemas.openxmlformats.org/drawingml/2006/main">
            <a:off x="2333625" y="3552825"/>
            <a:ext cx="190500" cy="257175"/>
          </a:xfrm>
          <a:prstGeom xmlns:a="http://schemas.openxmlformats.org/drawingml/2006/main" prst="downArrow">
            <a:avLst/>
          </a:prstGeom>
          <a:solidFill xmlns:a="http://schemas.openxmlformats.org/drawingml/2006/main">
            <a:srgbClr val="4F81BD"/>
          </a:solidFill>
          <a:ln xmlns:a="http://schemas.openxmlformats.org/drawingml/2006/main" w="0">
            <a:solidFill>
              <a:srgbClr val="4F81BD"/>
            </a:solidFill>
          </a:ln>
        </p:spPr>
      </p:sp>
      <p:sp>
        <p:nvSpPr>
          <p:cNvPr id="19" name="Feature drift and SHAP drift">
            <a:extLst xmlns:a="http://schemas.openxmlformats.org/drawingml/2006/main">
              <a:ext uri="{FF2B5EF4-FFF2-40B4-BE49-F238E27FC236}">
                <a16:creationId xmlns:a16="http://schemas.microsoft.com/office/drawing/2014/main" id="{DE83D685-391C-4344-9F87-7CCC27594632}"/>
              </a:ext>
            </a:extLst>
          </p:cNvPr>
          <p:cNvSpPr>
            <a:spLocks xmlns:a="http://schemas.openxmlformats.org/drawingml/2006/main" noGrp="1"/>
          </p:cNvSpPr>
          <p:nvPr/>
        </p:nvSpPr>
        <p:spPr>
          <a:xfrm xmlns:a="http://schemas.openxmlformats.org/drawingml/2006/main">
            <a:off x="838200" y="3857625"/>
            <a:ext cx="3190875" cy="1000125"/>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Feature drift and SHAP drift</a:t>
            </a:r>
          </a:p>
        </p:txBody>
      </p:sp>
      <p:sp>
        <p:nvSpPr>
          <p:cNvPr id="20" name="Coupling and&#10;diagnosis">
            <a:extLst xmlns:a="http://schemas.openxmlformats.org/drawingml/2006/main">
              <a:ext uri="{FF2B5EF4-FFF2-40B4-BE49-F238E27FC236}">
                <a16:creationId xmlns:a16="http://schemas.microsoft.com/office/drawing/2014/main" id="{DD7F8801-FCA3-4DB3-BE71-1A5439D77A50}"/>
              </a:ext>
            </a:extLst>
          </p:cNvPr>
          <p:cNvSpPr>
            <a:spLocks xmlns:a="http://schemas.openxmlformats.org/drawingml/2006/main" noGrp="1"/>
          </p:cNvSpPr>
          <p:nvPr/>
        </p:nvSpPr>
        <p:spPr>
          <a:xfrm xmlns:a="http://schemas.openxmlformats.org/drawingml/2006/main">
            <a:off x="4505325" y="3857625"/>
            <a:ext cx="3190875" cy="1000125"/>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Coupling and</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diagnosis</a:t>
            </a:r>
          </a:p>
        </p:txBody>
      </p:sp>
      <p:sp>
        <p:nvSpPr>
          <p:cNvPr id="21" name="Protected&#10;model update">
            <a:extLst xmlns:a="http://schemas.openxmlformats.org/drawingml/2006/main">
              <a:ext uri="{FF2B5EF4-FFF2-40B4-BE49-F238E27FC236}">
                <a16:creationId xmlns:a16="http://schemas.microsoft.com/office/drawing/2014/main" id="{3BF3AA57-A1D7-46AC-95B8-FDBE30E7906B}"/>
              </a:ext>
            </a:extLst>
          </p:cNvPr>
          <p:cNvSpPr>
            <a:spLocks xmlns:a="http://schemas.openxmlformats.org/drawingml/2006/main" noGrp="1"/>
          </p:cNvSpPr>
          <p:nvPr/>
        </p:nvSpPr>
        <p:spPr>
          <a:xfrm xmlns:a="http://schemas.openxmlformats.org/drawingml/2006/main">
            <a:off x="8172450" y="3857625"/>
            <a:ext cx="3190875" cy="1000125"/>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Protected</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model update</a:t>
            </a:r>
          </a:p>
        </p:txBody>
      </p:sp>
      <p:sp>
        <p:nvSpPr>
          <p:cNvPr id="22" name="Flow connector">
            <a:extLst xmlns:a="http://schemas.openxmlformats.org/drawingml/2006/main">
              <a:ext uri="{FF2B5EF4-FFF2-40B4-BE49-F238E27FC236}">
                <a16:creationId xmlns:a16="http://schemas.microsoft.com/office/drawing/2014/main" id="{D32845A5-A467-455B-99E6-BDDDBEBF07EF}"/>
              </a:ext>
            </a:extLst>
          </p:cNvPr>
          <p:cNvSpPr>
            <a:spLocks xmlns:a="http://schemas.openxmlformats.org/drawingml/2006/main" noGrp="1"/>
          </p:cNvSpPr>
          <p:nvPr/>
        </p:nvSpPr>
        <p:spPr>
          <a:xfrm xmlns:a="http://schemas.openxmlformats.org/drawingml/2006/main">
            <a:off x="4095750" y="423862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23" name="Flow connector">
            <a:extLst xmlns:a="http://schemas.openxmlformats.org/drawingml/2006/main">
              <a:ext uri="{FF2B5EF4-FFF2-40B4-BE49-F238E27FC236}">
                <a16:creationId xmlns:a16="http://schemas.microsoft.com/office/drawing/2014/main" id="{FB11AC19-7F38-4BFA-B3D3-5CD0DCA7E496}"/>
              </a:ext>
            </a:extLst>
          </p:cNvPr>
          <p:cNvSpPr>
            <a:spLocks xmlns:a="http://schemas.openxmlformats.org/drawingml/2006/main" noGrp="1"/>
          </p:cNvSpPr>
          <p:nvPr/>
        </p:nvSpPr>
        <p:spPr>
          <a:xfrm xmlns:a="http://schemas.openxmlformats.org/drawingml/2006/main">
            <a:off x="7762875" y="423862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24" name="When an update is requested, combine past row">
            <a:extLst xmlns:a="http://schemas.openxmlformats.org/drawingml/2006/main">
              <a:ext uri="{FF2B5EF4-FFF2-40B4-BE49-F238E27FC236}">
                <a16:creationId xmlns:a16="http://schemas.microsoft.com/office/drawing/2014/main" id="{8706AD91-51BA-44CE-A99C-2D71B5BD48EC}"/>
              </a:ext>
            </a:extLst>
          </p:cNvPr>
          <p:cNvSpPr>
            <a:spLocks xmlns:a="http://schemas.openxmlformats.org/drawingml/2006/main" noGrp="1"/>
          </p:cNvSpPr>
          <p:nvPr/>
        </p:nvSpPr>
        <p:spPr>
          <a:xfrm xmlns:a="http://schemas.openxmlformats.org/drawingml/2006/main">
            <a:off x="838200" y="5238750"/>
            <a:ext cx="1051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When an update is requested, combine past rows with current rows predicted normal.</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Require at least 10 normal candidates, then fit a 50-tree model and measure the result.</a:t>
            </a:r>
          </a:p>
        </p:txBody>
      </p:sp>
    </p:spTree>
    <p:extLst>
      <p:ext uri="{BB962C8B-B14F-4D97-AF65-F5344CB8AC3E}">
        <p14:creationId xmlns:p14="http://schemas.microsoft.com/office/powerpoint/2010/main" val="638135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0C9A0194-5820-F292-3A94-449C000E51A7}"/>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Functional Requirements and Inputs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BA0AD322-2A21-4520-AEE2-3EB53E32E89B}"/>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B6481215-2A77-470F-A92E-1B9624F05660}"/>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9">
            <a:extLst xmlns:a="http://schemas.openxmlformats.org/drawingml/2006/main">
              <a:ext uri="{FF2B5EF4-FFF2-40B4-BE49-F238E27FC236}">
                <a16:creationId xmlns:a16="http://schemas.microsoft.com/office/drawing/2014/main" id="{00EF6D56-276E-4368-8816-72837CF2951B}"/>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9</a:t>
            </a:r>
          </a:p>
        </p:txBody>
      </p:sp>
      <p:sp>
        <p:nvSpPr>
          <p:cNvPr id="8" name="Seven model inputs">
            <a:extLst xmlns:a="http://schemas.openxmlformats.org/drawingml/2006/main">
              <a:ext uri="{FF2B5EF4-FFF2-40B4-BE49-F238E27FC236}">
                <a16:creationId xmlns:a16="http://schemas.microsoft.com/office/drawing/2014/main" id="{9D36623C-7136-45CB-994C-5F747FB49AC3}"/>
              </a:ext>
            </a:extLst>
          </p:cNvPr>
          <p:cNvSpPr>
            <a:spLocks xmlns:a="http://schemas.openxmlformats.org/drawingml/2006/main" noGrp="1"/>
          </p:cNvSpPr>
          <p:nvPr/>
        </p:nvSpPr>
        <p:spPr>
          <a:xfrm xmlns:a="http://schemas.openxmlformats.org/drawingml/2006/main">
            <a:off x="838200" y="1619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00" b="1">
                <a:solidFill>
                  <a:srgbClr val="000000"/>
                </a:solidFill>
                <a:latin typeface="Times New Roman"/>
                <a:ea typeface="Times New Roman"/>
                <a:cs typeface="Times New Roman"/>
              </a:defRPr>
            </a:defPPr>
            <a:lvl1pPr algn="l">
              <a:defRPr sz="2300" b="1">
                <a:solidFill>
                  <a:srgbClr val="000000"/>
                </a:solidFill>
                <a:latin typeface="Times New Roman"/>
                <a:ea typeface="Times New Roman"/>
                <a:cs typeface="Times New Roman"/>
              </a:defRPr>
            </a:lvl1pPr>
            <a:lvl2pPr algn="l">
              <a:defRPr sz="2300" b="1">
                <a:solidFill>
                  <a:srgbClr val="000000"/>
                </a:solidFill>
                <a:latin typeface="Times New Roman"/>
                <a:ea typeface="Times New Roman"/>
                <a:cs typeface="Times New Roman"/>
              </a:defRPr>
            </a:lvl2pPr>
            <a:lvl3pPr algn="l">
              <a:defRPr sz="2300" b="1">
                <a:solidFill>
                  <a:srgbClr val="000000"/>
                </a:solidFill>
                <a:latin typeface="Times New Roman"/>
                <a:ea typeface="Times New Roman"/>
                <a:cs typeface="Times New Roman"/>
              </a:defRPr>
            </a:lvl3pPr>
            <a:lvl4pPr algn="l">
              <a:defRPr sz="2300" b="1">
                <a:solidFill>
                  <a:srgbClr val="000000"/>
                </a:solidFill>
                <a:latin typeface="Times New Roman"/>
                <a:ea typeface="Times New Roman"/>
                <a:cs typeface="Times New Roman"/>
              </a:defRPr>
            </a:lvl4pPr>
            <a:lvl5pPr algn="l">
              <a:defRPr sz="2300" b="1">
                <a:solidFill>
                  <a:srgbClr val="000000"/>
                </a:solidFill>
                <a:latin typeface="Times New Roman"/>
                <a:ea typeface="Times New Roman"/>
                <a:cs typeface="Times New Roman"/>
              </a:defRPr>
            </a:lvl5pPr>
            <a:lvl6pPr algn="l">
              <a:defRPr sz="2300" b="1">
                <a:solidFill>
                  <a:srgbClr val="000000"/>
                </a:solidFill>
                <a:latin typeface="Times New Roman"/>
                <a:ea typeface="Times New Roman"/>
                <a:cs typeface="Times New Roman"/>
              </a:defRPr>
            </a:lvl6pPr>
            <a:lvl7pPr algn="l">
              <a:defRPr sz="2300" b="1">
                <a:solidFill>
                  <a:srgbClr val="000000"/>
                </a:solidFill>
                <a:latin typeface="Times New Roman"/>
                <a:ea typeface="Times New Roman"/>
                <a:cs typeface="Times New Roman"/>
              </a:defRPr>
            </a:lvl7pPr>
            <a:lvl8pPr algn="l">
              <a:defRPr sz="2300" b="1">
                <a:solidFill>
                  <a:srgbClr val="000000"/>
                </a:solidFill>
                <a:latin typeface="Times New Roman"/>
                <a:ea typeface="Times New Roman"/>
                <a:cs typeface="Times New Roman"/>
              </a:defRPr>
            </a:lvl8pPr>
            <a:lvl9pPr algn="l">
              <a:defRPr sz="2300" b="1">
                <a:solidFill>
                  <a:srgbClr val="000000"/>
                </a:solidFill>
                <a:latin typeface="Times New Roman"/>
                <a:ea typeface="Times New Roman"/>
                <a:cs typeface="Times New Roman"/>
              </a:defRPr>
            </a:lvl9pPr>
          </a:lstStyle>
          <a:p xmlns:a="http://schemas.openxmlformats.org/drawingml/2006/main">
            <a:pPr algn="l">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Seven model inputs</a:t>
            </a:r>
          </a:p>
        </p:txBody>
      </p:sp>
      <p:sp>
        <p:nvSpPr>
          <p:cNvPr id="9" name="eventName&#10;eventSource&#10;awsRegion&#10;userIdentityt">
            <a:extLst xmlns:a="http://schemas.openxmlformats.org/drawingml/2006/main">
              <a:ext uri="{FF2B5EF4-FFF2-40B4-BE49-F238E27FC236}">
                <a16:creationId xmlns:a16="http://schemas.microsoft.com/office/drawing/2014/main" id="{2D450D73-D750-40D7-99B6-45C43D6713A9}"/>
              </a:ext>
            </a:extLst>
          </p:cNvPr>
          <p:cNvSpPr>
            <a:spLocks xmlns:a="http://schemas.openxmlformats.org/drawingml/2006/main" noGrp="1"/>
          </p:cNvSpPr>
          <p:nvPr/>
        </p:nvSpPr>
        <p:spPr>
          <a:xfrm xmlns:a="http://schemas.openxmlformats.org/drawingml/2006/main">
            <a:off x="838200" y="2143125"/>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000000"/>
                </a:solidFill>
                <a:latin typeface="Times New Roman"/>
                <a:ea typeface="Times New Roman"/>
                <a:cs typeface="Times New Roman"/>
              </a:defRPr>
            </a:defPPr>
            <a:lvl1pPr algn="l">
              <a:defRPr sz="2100" b="0">
                <a:solidFill>
                  <a:srgbClr val="000000"/>
                </a:solidFill>
                <a:latin typeface="Times New Roman"/>
                <a:ea typeface="Times New Roman"/>
                <a:cs typeface="Times New Roman"/>
              </a:defRPr>
            </a:lvl1pPr>
            <a:lvl2pPr algn="l">
              <a:defRPr sz="2100" b="0">
                <a:solidFill>
                  <a:srgbClr val="000000"/>
                </a:solidFill>
                <a:latin typeface="Times New Roman"/>
                <a:ea typeface="Times New Roman"/>
                <a:cs typeface="Times New Roman"/>
              </a:defRPr>
            </a:lvl2pPr>
            <a:lvl3pPr algn="l">
              <a:defRPr sz="2100" b="0">
                <a:solidFill>
                  <a:srgbClr val="000000"/>
                </a:solidFill>
                <a:latin typeface="Times New Roman"/>
                <a:ea typeface="Times New Roman"/>
                <a:cs typeface="Times New Roman"/>
              </a:defRPr>
            </a:lvl3pPr>
            <a:lvl4pPr algn="l">
              <a:defRPr sz="2100" b="0">
                <a:solidFill>
                  <a:srgbClr val="000000"/>
                </a:solidFill>
                <a:latin typeface="Times New Roman"/>
                <a:ea typeface="Times New Roman"/>
                <a:cs typeface="Times New Roman"/>
              </a:defRPr>
            </a:lvl4pPr>
            <a:lvl5pPr algn="l">
              <a:defRPr sz="2100" b="0">
                <a:solidFill>
                  <a:srgbClr val="000000"/>
                </a:solidFill>
                <a:latin typeface="Times New Roman"/>
                <a:ea typeface="Times New Roman"/>
                <a:cs typeface="Times New Roman"/>
              </a:defRPr>
            </a:lvl5pPr>
            <a:lvl6pPr algn="l">
              <a:defRPr sz="2100" b="0">
                <a:solidFill>
                  <a:srgbClr val="000000"/>
                </a:solidFill>
                <a:latin typeface="Times New Roman"/>
                <a:ea typeface="Times New Roman"/>
                <a:cs typeface="Times New Roman"/>
              </a:defRPr>
            </a:lvl6pPr>
            <a:lvl7pPr algn="l">
              <a:defRPr sz="2100" b="0">
                <a:solidFill>
                  <a:srgbClr val="000000"/>
                </a:solidFill>
                <a:latin typeface="Times New Roman"/>
                <a:ea typeface="Times New Roman"/>
                <a:cs typeface="Times New Roman"/>
              </a:defRPr>
            </a:lvl7pPr>
            <a:lvl8pPr algn="l">
              <a:defRPr sz="2100" b="0">
                <a:solidFill>
                  <a:srgbClr val="000000"/>
                </a:solidFill>
                <a:latin typeface="Times New Roman"/>
                <a:ea typeface="Times New Roman"/>
                <a:cs typeface="Times New Roman"/>
              </a:defRPr>
            </a:lvl8pPr>
            <a:lvl9pPr algn="l">
              <a:defRPr sz="2100" b="0">
                <a:solidFill>
                  <a:srgbClr val="000000"/>
                </a:solidFill>
                <a:latin typeface="Times New Roman"/>
                <a:ea typeface="Times New Roman"/>
                <a:cs typeface="Times New Roman"/>
              </a:defRPr>
            </a:lvl9pPr>
          </a:lstStyle>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eventName</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eventSource</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awsRegion</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userIdentitytype</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errorCode</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requestParametersinstanceType</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isRoot (derived flag)</a:t>
            </a:r>
          </a:p>
        </p:txBody>
      </p:sp>
      <p:sp>
        <p:nvSpPr>
          <p:cNvPr id="10" name="Input handling">
            <a:extLst xmlns:a="http://schemas.openxmlformats.org/drawingml/2006/main">
              <a:ext uri="{FF2B5EF4-FFF2-40B4-BE49-F238E27FC236}">
                <a16:creationId xmlns:a16="http://schemas.microsoft.com/office/drawing/2014/main" id="{BC4D931E-C45E-442E-9DC0-4B5DF12B314E}"/>
              </a:ext>
            </a:extLst>
          </p:cNvPr>
          <p:cNvSpPr>
            <a:spLocks xmlns:a="http://schemas.openxmlformats.org/drawingml/2006/main" noGrp="1"/>
          </p:cNvSpPr>
          <p:nvPr/>
        </p:nvSpPr>
        <p:spPr>
          <a:xfrm xmlns:a="http://schemas.openxmlformats.org/drawingml/2006/main">
            <a:off x="838200" y="47625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1">
                <a:solidFill>
                  <a:srgbClr val="000000"/>
                </a:solidFill>
                <a:latin typeface="Times New Roman"/>
                <a:ea typeface="Times New Roman"/>
                <a:cs typeface="Times New Roman"/>
              </a:defRPr>
            </a:defPPr>
            <a:lvl1pPr algn="l">
              <a:defRPr sz="2200" b="1">
                <a:solidFill>
                  <a:srgbClr val="000000"/>
                </a:solidFill>
                <a:latin typeface="Times New Roman"/>
                <a:ea typeface="Times New Roman"/>
                <a:cs typeface="Times New Roman"/>
              </a:defRPr>
            </a:lvl1pPr>
            <a:lvl2pPr algn="l">
              <a:defRPr sz="2200" b="1">
                <a:solidFill>
                  <a:srgbClr val="000000"/>
                </a:solidFill>
                <a:latin typeface="Times New Roman"/>
                <a:ea typeface="Times New Roman"/>
                <a:cs typeface="Times New Roman"/>
              </a:defRPr>
            </a:lvl2pPr>
            <a:lvl3pPr algn="l">
              <a:defRPr sz="2200" b="1">
                <a:solidFill>
                  <a:srgbClr val="000000"/>
                </a:solidFill>
                <a:latin typeface="Times New Roman"/>
                <a:ea typeface="Times New Roman"/>
                <a:cs typeface="Times New Roman"/>
              </a:defRPr>
            </a:lvl3pPr>
            <a:lvl4pPr algn="l">
              <a:defRPr sz="2200" b="1">
                <a:solidFill>
                  <a:srgbClr val="000000"/>
                </a:solidFill>
                <a:latin typeface="Times New Roman"/>
                <a:ea typeface="Times New Roman"/>
                <a:cs typeface="Times New Roman"/>
              </a:defRPr>
            </a:lvl4pPr>
            <a:lvl5pPr algn="l">
              <a:defRPr sz="2200" b="1">
                <a:solidFill>
                  <a:srgbClr val="000000"/>
                </a:solidFill>
                <a:latin typeface="Times New Roman"/>
                <a:ea typeface="Times New Roman"/>
                <a:cs typeface="Times New Roman"/>
              </a:defRPr>
            </a:lvl5pPr>
            <a:lvl6pPr algn="l">
              <a:defRPr sz="2200" b="1">
                <a:solidFill>
                  <a:srgbClr val="000000"/>
                </a:solidFill>
                <a:latin typeface="Times New Roman"/>
                <a:ea typeface="Times New Roman"/>
                <a:cs typeface="Times New Roman"/>
              </a:defRPr>
            </a:lvl6pPr>
            <a:lvl7pPr algn="l">
              <a:defRPr sz="2200" b="1">
                <a:solidFill>
                  <a:srgbClr val="000000"/>
                </a:solidFill>
                <a:latin typeface="Times New Roman"/>
                <a:ea typeface="Times New Roman"/>
                <a:cs typeface="Times New Roman"/>
              </a:defRPr>
            </a:lvl7pPr>
            <a:lvl8pPr algn="l">
              <a:defRPr sz="2200" b="1">
                <a:solidFill>
                  <a:srgbClr val="000000"/>
                </a:solidFill>
                <a:latin typeface="Times New Roman"/>
                <a:ea typeface="Times New Roman"/>
                <a:cs typeface="Times New Roman"/>
              </a:defRPr>
            </a:lvl8pPr>
            <a:lvl9pPr algn="l">
              <a:defRPr sz="2200" b="1">
                <a:solidFill>
                  <a:srgbClr val="000000"/>
                </a:solidFill>
                <a:latin typeface="Times New Roman"/>
                <a:ea typeface="Times New Roman"/>
                <a:cs typeface="Times New Roman"/>
              </a:defRPr>
            </a:lvl9pPr>
          </a:lstStyle>
          <a:p xmlns:a="http://schemas.openxmlformats.org/drawingml/2006/main">
            <a:pPr algn="l">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Input handling</a:t>
            </a:r>
          </a:p>
        </p:txBody>
      </p:sp>
      <p:sp>
        <p:nvSpPr>
          <p:cNvPr id="11" name="Fit category maps on training data.&#10;Use −1 fo">
            <a:extLst xmlns:a="http://schemas.openxmlformats.org/drawingml/2006/main">
              <a:ext uri="{FF2B5EF4-FFF2-40B4-BE49-F238E27FC236}">
                <a16:creationId xmlns:a16="http://schemas.microsoft.com/office/drawing/2014/main" id="{87D1A5D5-C9B8-4A62-A701-A353FD69D950}"/>
              </a:ext>
            </a:extLst>
          </p:cNvPr>
          <p:cNvSpPr>
            <a:spLocks xmlns:a="http://schemas.openxmlformats.org/drawingml/2006/main" noGrp="1"/>
          </p:cNvSpPr>
          <p:nvPr/>
        </p:nvSpPr>
        <p:spPr>
          <a:xfrm xmlns:a="http://schemas.openxmlformats.org/drawingml/2006/main">
            <a:off x="838200" y="51911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Fit category maps on training data.</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Use −1 for unseen categories.</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Derive the root flag from identity type.</a:t>
            </a:r>
          </a:p>
        </p:txBody>
      </p:sp>
      <p:sp>
        <p:nvSpPr>
          <p:cNvPr id="12" name="System requirements">
            <a:extLst xmlns:a="http://schemas.openxmlformats.org/drawingml/2006/main">
              <a:ext uri="{FF2B5EF4-FFF2-40B4-BE49-F238E27FC236}">
                <a16:creationId xmlns:a16="http://schemas.microsoft.com/office/drawing/2014/main" id="{2823D724-0B07-4990-9C97-33A65FBBBC40}"/>
              </a:ext>
            </a:extLst>
          </p:cNvPr>
          <p:cNvSpPr>
            <a:spLocks xmlns:a="http://schemas.openxmlformats.org/drawingml/2006/main" noGrp="1"/>
          </p:cNvSpPr>
          <p:nvPr/>
        </p:nvSpPr>
        <p:spPr>
          <a:xfrm xmlns:a="http://schemas.openxmlformats.org/drawingml/2006/main">
            <a:off x="6191250" y="161925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00" b="1">
                <a:solidFill>
                  <a:srgbClr val="000000"/>
                </a:solidFill>
                <a:latin typeface="Times New Roman"/>
                <a:ea typeface="Times New Roman"/>
                <a:cs typeface="Times New Roman"/>
              </a:defRPr>
            </a:defPPr>
            <a:lvl1pPr algn="l">
              <a:defRPr sz="2300" b="1">
                <a:solidFill>
                  <a:srgbClr val="000000"/>
                </a:solidFill>
                <a:latin typeface="Times New Roman"/>
                <a:ea typeface="Times New Roman"/>
                <a:cs typeface="Times New Roman"/>
              </a:defRPr>
            </a:lvl1pPr>
            <a:lvl2pPr algn="l">
              <a:defRPr sz="2300" b="1">
                <a:solidFill>
                  <a:srgbClr val="000000"/>
                </a:solidFill>
                <a:latin typeface="Times New Roman"/>
                <a:ea typeface="Times New Roman"/>
                <a:cs typeface="Times New Roman"/>
              </a:defRPr>
            </a:lvl2pPr>
            <a:lvl3pPr algn="l">
              <a:defRPr sz="2300" b="1">
                <a:solidFill>
                  <a:srgbClr val="000000"/>
                </a:solidFill>
                <a:latin typeface="Times New Roman"/>
                <a:ea typeface="Times New Roman"/>
                <a:cs typeface="Times New Roman"/>
              </a:defRPr>
            </a:lvl3pPr>
            <a:lvl4pPr algn="l">
              <a:defRPr sz="2300" b="1">
                <a:solidFill>
                  <a:srgbClr val="000000"/>
                </a:solidFill>
                <a:latin typeface="Times New Roman"/>
                <a:ea typeface="Times New Roman"/>
                <a:cs typeface="Times New Roman"/>
              </a:defRPr>
            </a:lvl4pPr>
            <a:lvl5pPr algn="l">
              <a:defRPr sz="2300" b="1">
                <a:solidFill>
                  <a:srgbClr val="000000"/>
                </a:solidFill>
                <a:latin typeface="Times New Roman"/>
                <a:ea typeface="Times New Roman"/>
                <a:cs typeface="Times New Roman"/>
              </a:defRPr>
            </a:lvl5pPr>
            <a:lvl6pPr algn="l">
              <a:defRPr sz="2300" b="1">
                <a:solidFill>
                  <a:srgbClr val="000000"/>
                </a:solidFill>
                <a:latin typeface="Times New Roman"/>
                <a:ea typeface="Times New Roman"/>
                <a:cs typeface="Times New Roman"/>
              </a:defRPr>
            </a:lvl6pPr>
            <a:lvl7pPr algn="l">
              <a:defRPr sz="2300" b="1">
                <a:solidFill>
                  <a:srgbClr val="000000"/>
                </a:solidFill>
                <a:latin typeface="Times New Roman"/>
                <a:ea typeface="Times New Roman"/>
                <a:cs typeface="Times New Roman"/>
              </a:defRPr>
            </a:lvl7pPr>
            <a:lvl8pPr algn="l">
              <a:defRPr sz="2300" b="1">
                <a:solidFill>
                  <a:srgbClr val="000000"/>
                </a:solidFill>
                <a:latin typeface="Times New Roman"/>
                <a:ea typeface="Times New Roman"/>
                <a:cs typeface="Times New Roman"/>
              </a:defRPr>
            </a:lvl8pPr>
            <a:lvl9pPr algn="l">
              <a:defRPr sz="2300" b="1">
                <a:solidFill>
                  <a:srgbClr val="000000"/>
                </a:solidFill>
                <a:latin typeface="Times New Roman"/>
                <a:ea typeface="Times New Roman"/>
                <a:cs typeface="Times New Roman"/>
              </a:defRPr>
            </a:lvl9pPr>
          </a:lstStyle>
          <a:p xmlns:a="http://schemas.openxmlformats.org/drawingml/2006/main">
            <a:pPr algn="l">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System requirements</a:t>
            </a:r>
          </a:p>
        </p:txBody>
      </p:sp>
      <p:sp>
        <p:nvSpPr>
          <p:cNvPr id="13" name="Read the source without changing it.&#10;&#10;Keep tr">
            <a:extLst xmlns:a="http://schemas.openxmlformats.org/drawingml/2006/main">
              <a:ext uri="{FF2B5EF4-FFF2-40B4-BE49-F238E27FC236}">
                <a16:creationId xmlns:a16="http://schemas.microsoft.com/office/drawing/2014/main" id="{16EE0E9B-7875-4429-8906-0FF5381757E5}"/>
              </a:ext>
            </a:extLst>
          </p:cNvPr>
          <p:cNvSpPr>
            <a:spLocks xmlns:a="http://schemas.openxmlformats.org/drawingml/2006/main" noGrp="1"/>
          </p:cNvSpPr>
          <p:nvPr/>
        </p:nvSpPr>
        <p:spPr>
          <a:xfrm xmlns:a="http://schemas.openxmlformats.org/drawingml/2006/main">
            <a:off x="6191250" y="2143125"/>
            <a:ext cx="51625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000000"/>
                </a:solidFill>
                <a:latin typeface="Times New Roman"/>
                <a:ea typeface="Times New Roman"/>
                <a:cs typeface="Times New Roman"/>
              </a:defRPr>
            </a:defPPr>
            <a:lvl1pPr algn="l">
              <a:defRPr sz="2100" b="0">
                <a:solidFill>
                  <a:srgbClr val="000000"/>
                </a:solidFill>
                <a:latin typeface="Times New Roman"/>
                <a:ea typeface="Times New Roman"/>
                <a:cs typeface="Times New Roman"/>
              </a:defRPr>
            </a:lvl1pPr>
            <a:lvl2pPr algn="l">
              <a:defRPr sz="2100" b="0">
                <a:solidFill>
                  <a:srgbClr val="000000"/>
                </a:solidFill>
                <a:latin typeface="Times New Roman"/>
                <a:ea typeface="Times New Roman"/>
                <a:cs typeface="Times New Roman"/>
              </a:defRPr>
            </a:lvl2pPr>
            <a:lvl3pPr algn="l">
              <a:defRPr sz="2100" b="0">
                <a:solidFill>
                  <a:srgbClr val="000000"/>
                </a:solidFill>
                <a:latin typeface="Times New Roman"/>
                <a:ea typeface="Times New Roman"/>
                <a:cs typeface="Times New Roman"/>
              </a:defRPr>
            </a:lvl3pPr>
            <a:lvl4pPr algn="l">
              <a:defRPr sz="2100" b="0">
                <a:solidFill>
                  <a:srgbClr val="000000"/>
                </a:solidFill>
                <a:latin typeface="Times New Roman"/>
                <a:ea typeface="Times New Roman"/>
                <a:cs typeface="Times New Roman"/>
              </a:defRPr>
            </a:lvl4pPr>
            <a:lvl5pPr algn="l">
              <a:defRPr sz="2100" b="0">
                <a:solidFill>
                  <a:srgbClr val="000000"/>
                </a:solidFill>
                <a:latin typeface="Times New Roman"/>
                <a:ea typeface="Times New Roman"/>
                <a:cs typeface="Times New Roman"/>
              </a:defRPr>
            </a:lvl5pPr>
            <a:lvl6pPr algn="l">
              <a:defRPr sz="2100" b="0">
                <a:solidFill>
                  <a:srgbClr val="000000"/>
                </a:solidFill>
                <a:latin typeface="Times New Roman"/>
                <a:ea typeface="Times New Roman"/>
                <a:cs typeface="Times New Roman"/>
              </a:defRPr>
            </a:lvl6pPr>
            <a:lvl7pPr algn="l">
              <a:defRPr sz="2100" b="0">
                <a:solidFill>
                  <a:srgbClr val="000000"/>
                </a:solidFill>
                <a:latin typeface="Times New Roman"/>
                <a:ea typeface="Times New Roman"/>
                <a:cs typeface="Times New Roman"/>
              </a:defRPr>
            </a:lvl7pPr>
            <a:lvl8pPr algn="l">
              <a:defRPr sz="2100" b="0">
                <a:solidFill>
                  <a:srgbClr val="000000"/>
                </a:solidFill>
                <a:latin typeface="Times New Roman"/>
                <a:ea typeface="Times New Roman"/>
                <a:cs typeface="Times New Roman"/>
              </a:defRPr>
            </a:lvl8pPr>
            <a:lvl9pPr algn="l">
              <a:defRPr sz="2100" b="0">
                <a:solidFill>
                  <a:srgbClr val="000000"/>
                </a:solidFill>
                <a:latin typeface="Times New Roman"/>
                <a:ea typeface="Times New Roman"/>
                <a:cs typeface="Times New Roman"/>
              </a:defRPr>
            </a:lvl9pPr>
          </a:lstStyle>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Read the source without changing it.</a:t>
            </a:r>
          </a:p>
          <a:p xmlns:a="http://schemas.openxmlformats.org/drawingml/2006/main">
            <a:r>
              <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Keep training and later months separate.</a:t>
            </a:r>
          </a:p>
          <a:p xmlns:a="http://schemas.openxmlformats.org/drawingml/2006/main">
            <a:r>
              <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Save anomaly scores and SHAP values.</a:t>
            </a:r>
          </a:p>
          <a:p xmlns:a="http://schemas.openxmlformats.org/drawingml/2006/main">
            <a:r>
              <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Measure drift and log each update decision.</a:t>
            </a:r>
          </a:p>
          <a:p xmlns:a="http://schemas.openxmlformats.org/drawingml/2006/main">
            <a:r>
              <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Write CSV/JSON outputs, model files and figures for repeatable review.</a:t>
            </a:r>
          </a:p>
        </p:txBody>
      </p:sp>
    </p:spTree>
    <p:extLst>
      <p:ext uri="{BB962C8B-B14F-4D97-AF65-F5344CB8AC3E}">
        <p14:creationId xmlns:p14="http://schemas.microsoft.com/office/powerpoint/2010/main" val="319129921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B27DA514-48FC-4BF4-8205-DE21D456C5FF}"/>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Implementation Modules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F4AAA08B-8516-4EF8-BA0E-514FA8F8B4C4}"/>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D41F8554-B70C-4B76-B1CC-65E0F5DFED55}"/>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10">
            <a:extLst xmlns:a="http://schemas.openxmlformats.org/drawingml/2006/main">
              <a:ext uri="{FF2B5EF4-FFF2-40B4-BE49-F238E27FC236}">
                <a16:creationId xmlns:a16="http://schemas.microsoft.com/office/drawing/2014/main" id="{3BC48D9B-6841-430D-9E66-481721CE3B8C}"/>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10</a:t>
            </a:r>
          </a:p>
        </p:txBody>
      </p:sp>
      <p:graphicFrame>
        <p:nvGraphicFramePr>
          <p:cNvPr id="8" name="">
            <a:extLst xmlns:a="http://schemas.openxmlformats.org/drawingml/2006/main">
              <a:ext uri="{FF2B5EF4-FFF2-40B4-BE49-F238E27FC236}">
                <a16:creationId xmlns:a16="http://schemas.microsoft.com/office/drawing/2014/main" id="{E560DC31-8250-4160-8262-4E2ED429469F}"/>
              </a:ext>
            </a:extLst>
          </p:cNvPr>
          <p:cNvGraphicFramePr/>
          <p:nvPr/>
        </p:nvGraphicFramePr>
        <p:xfrm>
          <a:off xmlns:a="http://schemas.openxmlformats.org/drawingml/2006/main" x="838200" y="1666875"/>
          <a:ext xmlns:a="http://schemas.openxmlformats.org/drawingml/2006/main" cx="10515600" cy="4143375"/>
        </p:xfrm>
        <a:graphic xmlns:a="http://schemas.openxmlformats.org/drawingml/2006/main">
          <a:graphicData uri="http://schemas.openxmlformats.org/drawingml/2006/table">
            <a:tbl>
              <a:tblPr firstRow="1" bandRow="0"/>
              <a:tblGrid>
                <a:gridCol w="2714625"/>
                <a:gridCol w="4714875"/>
                <a:gridCol w="3086100"/>
              </a:tblGrid>
              <a:tr h="591911">
                <a:tc>
                  <a:txBody>
                    <a:bodyPr/>
                    <a:lstStyle/>
                    <a:p>
                      <a:pPr algn="l"/>
                      <a:r>
                        <a:rPr sz="1800" b="1">
                          <a:solidFill>
                            <a:srgbClr val="FFFFFF"/>
                          </a:solidFill>
                          <a:latin typeface="Times New Roman"/>
                          <a:ea typeface="Times New Roman"/>
                          <a:cs typeface="Times New Roman"/>
                        </a:rPr>
                        <a:t>Module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Main task</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Saved output</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591911">
                <a:tc>
                  <a:txBody>
                    <a:bodyPr/>
                    <a:lstStyle/>
                    <a:p>
                      <a:pPr algn="l"/>
                      <a:r>
                        <a:rPr sz="1800" b="0">
                          <a:solidFill>
                            <a:srgbClr val="000000"/>
                          </a:solidFill>
                          <a:latin typeface="Times New Roman"/>
                          <a:ea typeface="Times New Roman"/>
                          <a:cs typeface="Times New Roman"/>
                        </a:rPr>
                        <a:t>Data preparation</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Audit the source and build monthly windows</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Manifest and monthly features</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91911">
                <a:tc>
                  <a:txBody>
                    <a:bodyPr/>
                    <a:lstStyle/>
                    <a:p>
                      <a:pPr algn="l"/>
                      <a:r>
                        <a:rPr sz="1800" b="0">
                          <a:solidFill>
                            <a:srgbClr val="000000"/>
                          </a:solidFill>
                          <a:latin typeface="Times New Roman"/>
                          <a:ea typeface="Times New Roman"/>
                          <a:cs typeface="Times New Roman"/>
                        </a:rPr>
                        <a:t>Anomaly detector</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Fit Isolation Forest using historical rows</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Model file and event scores</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591911">
                <a:tc>
                  <a:txBody>
                    <a:bodyPr/>
                    <a:lstStyle/>
                    <a:p>
                      <a:pPr algn="l"/>
                      <a:r>
                        <a:rPr sz="1800" b="0">
                          <a:solidFill>
                            <a:srgbClr val="000000"/>
                          </a:solidFill>
                          <a:latin typeface="Times New Roman"/>
                          <a:ea typeface="Times New Roman"/>
                          <a:cs typeface="Times New Roman"/>
                        </a:rPr>
                        <a:t>SHAP validation</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Explain the output and check additivity</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SHAP sample and residual</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91911">
                <a:tc>
                  <a:txBody>
                    <a:bodyPr/>
                    <a:lstStyle/>
                    <a:p>
                      <a:pPr algn="l"/>
                      <a:r>
                        <a:rPr sz="1800" b="0">
                          <a:solidFill>
                            <a:srgbClr val="000000"/>
                          </a:solidFill>
                          <a:latin typeface="Times New Roman"/>
                          <a:ea typeface="Times New Roman"/>
                          <a:cs typeface="Times New Roman"/>
                        </a:rPr>
                        <a:t>Drift and coupling</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Compare feature and explanation distributions</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PSI, SHAP drift and coupling</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591911">
                <a:tc>
                  <a:txBody>
                    <a:bodyPr/>
                    <a:lstStyle/>
                    <a:p>
                      <a:pPr algn="l"/>
                      <a:r>
                        <a:rPr sz="1800" b="0">
                          <a:solidFill>
                            <a:srgbClr val="000000"/>
                          </a:solidFill>
                          <a:latin typeface="Times New Roman"/>
                          <a:ea typeface="Times New Roman"/>
                          <a:cs typeface="Times New Roman"/>
                        </a:rPr>
                        <a:t>Protected update</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Filter current normal rows and refit when requested</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Candidate count and model</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91911">
                <a:tc>
                  <a:txBody>
                    <a:bodyPr/>
                    <a:lstStyle/>
                    <a:p>
                      <a:pPr algn="l"/>
                      <a:r>
                        <a:rPr sz="1800" b="0">
                          <a:solidFill>
                            <a:srgbClr val="000000"/>
                          </a:solidFill>
                          <a:latin typeface="Times New Roman"/>
                          <a:ea typeface="Times New Roman"/>
                          <a:cs typeface="Times New Roman"/>
                        </a:rPr>
                        <a:t>Evaluation</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Compare rules on the same scenarios and seeds</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Metrics and paired tests</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bl>
          </a:graphicData>
        </a:graphic>
      </p:graphicFrame>
      <p:sp>
        <p:nvSpPr>
          <p:cNvPr id="9" name="SHAP additivity residual: 2.66e-14. Reports r">
            <a:extLst xmlns:a="http://schemas.openxmlformats.org/drawingml/2006/main">
              <a:ext uri="{FF2B5EF4-FFF2-40B4-BE49-F238E27FC236}">
                <a16:creationId xmlns:a16="http://schemas.microsoft.com/office/drawing/2014/main" id="{FC7DD368-F8FF-4D1A-9463-2E1AB0F97E03}"/>
              </a:ext>
            </a:extLst>
          </p:cNvPr>
          <p:cNvSpPr>
            <a:spLocks xmlns:a="http://schemas.openxmlformats.org/drawingml/2006/main" noGrp="1"/>
          </p:cNvSpPr>
          <p:nvPr/>
        </p:nvSpPr>
        <p:spPr>
          <a:xfrm xmlns:a="http://schemas.openxmlformats.org/drawingml/2006/main">
            <a:off x="838200" y="5953125"/>
            <a:ext cx="1051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000000"/>
                </a:solidFill>
                <a:latin typeface="Times New Roman"/>
                <a:ea typeface="Times New Roman"/>
                <a:cs typeface="Times New Roman"/>
              </a:defRPr>
            </a:defPPr>
            <a:lvl1pPr algn="l">
              <a:defRPr sz="1800" b="0">
                <a:solidFill>
                  <a:srgbClr val="000000"/>
                </a:solidFill>
                <a:latin typeface="Times New Roman"/>
                <a:ea typeface="Times New Roman"/>
                <a:cs typeface="Times New Roman"/>
              </a:defRPr>
            </a:lvl1pPr>
            <a:lvl2pPr algn="l">
              <a:defRPr sz="1800" b="0">
                <a:solidFill>
                  <a:srgbClr val="000000"/>
                </a:solidFill>
                <a:latin typeface="Times New Roman"/>
                <a:ea typeface="Times New Roman"/>
                <a:cs typeface="Times New Roman"/>
              </a:defRPr>
            </a:lvl2pPr>
            <a:lvl3pPr algn="l">
              <a:defRPr sz="1800" b="0">
                <a:solidFill>
                  <a:srgbClr val="000000"/>
                </a:solidFill>
                <a:latin typeface="Times New Roman"/>
                <a:ea typeface="Times New Roman"/>
                <a:cs typeface="Times New Roman"/>
              </a:defRPr>
            </a:lvl3pPr>
            <a:lvl4pPr algn="l">
              <a:defRPr sz="1800" b="0">
                <a:solidFill>
                  <a:srgbClr val="000000"/>
                </a:solidFill>
                <a:latin typeface="Times New Roman"/>
                <a:ea typeface="Times New Roman"/>
                <a:cs typeface="Times New Roman"/>
              </a:defRPr>
            </a:lvl4pPr>
            <a:lvl5pPr algn="l">
              <a:defRPr sz="1800" b="0">
                <a:solidFill>
                  <a:srgbClr val="000000"/>
                </a:solidFill>
                <a:latin typeface="Times New Roman"/>
                <a:ea typeface="Times New Roman"/>
                <a:cs typeface="Times New Roman"/>
              </a:defRPr>
            </a:lvl5pPr>
            <a:lvl6pPr algn="l">
              <a:defRPr sz="1800" b="0">
                <a:solidFill>
                  <a:srgbClr val="000000"/>
                </a:solidFill>
                <a:latin typeface="Times New Roman"/>
                <a:ea typeface="Times New Roman"/>
                <a:cs typeface="Times New Roman"/>
              </a:defRPr>
            </a:lvl6pPr>
            <a:lvl7pPr algn="l">
              <a:defRPr sz="1800" b="0">
                <a:solidFill>
                  <a:srgbClr val="000000"/>
                </a:solidFill>
                <a:latin typeface="Times New Roman"/>
                <a:ea typeface="Times New Roman"/>
                <a:cs typeface="Times New Roman"/>
              </a:defRPr>
            </a:lvl7pPr>
            <a:lvl8pPr algn="l">
              <a:defRPr sz="1800" b="0">
                <a:solidFill>
                  <a:srgbClr val="000000"/>
                </a:solidFill>
                <a:latin typeface="Times New Roman"/>
                <a:ea typeface="Times New Roman"/>
                <a:cs typeface="Times New Roman"/>
              </a:defRPr>
            </a:lvl8pPr>
            <a:lvl9pPr algn="l">
              <a:defRPr sz="1800" b="0">
                <a:solidFill>
                  <a:srgbClr val="000000"/>
                </a:solidFill>
                <a:latin typeface="Times New Roman"/>
                <a:ea typeface="Times New Roman"/>
                <a:cs typeface="Times New Roman"/>
              </a:defRPr>
            </a:lvl9pPr>
          </a:lstStyle>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SHAP additivity residual: 2.66e-14. Reports read saved experiment results.</a:t>
            </a:r>
          </a:p>
        </p:txBody>
      </p:sp>
    </p:spTree>
    <p:extLst>
      <p:ext uri="{BB962C8B-B14F-4D97-AF65-F5344CB8AC3E}">
        <p14:creationId xmlns:p14="http://schemas.microsoft.com/office/powerpoint/2010/main" val="379987032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E386D544-A80A-B599-44C7-B40BA6ECC63C}"/>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Experiments and Results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98803253-EA9C-4FAB-9C94-19A1D644E61D}"/>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3BC71CBC-41DD-4CE6-A268-EBB64DFA8D66}"/>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11">
            <a:extLst xmlns:a="http://schemas.openxmlformats.org/drawingml/2006/main">
              <a:ext uri="{FF2B5EF4-FFF2-40B4-BE49-F238E27FC236}">
                <a16:creationId xmlns:a16="http://schemas.microsoft.com/office/drawing/2014/main" id="{4D243388-F658-4FE5-83FD-1241EA7691A3}"/>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11</a:t>
            </a:r>
          </a:p>
        </p:txBody>
      </p:sp>
      <p:sp>
        <p:nvSpPr>
          <p:cNvPr id="8" name="7 scenarios: stable, 3 routine changes and 3 ">
            <a:extLst xmlns:a="http://schemas.openxmlformats.org/drawingml/2006/main">
              <a:ext uri="{FF2B5EF4-FFF2-40B4-BE49-F238E27FC236}">
                <a16:creationId xmlns:a16="http://schemas.microsoft.com/office/drawing/2014/main" id="{DB4E3097-32B3-4B10-AB23-74E6D64C1C88}"/>
              </a:ext>
            </a:extLst>
          </p:cNvPr>
          <p:cNvSpPr>
            <a:spLocks xmlns:a="http://schemas.openxmlformats.org/drawingml/2006/main" noGrp="1"/>
          </p:cNvSpPr>
          <p:nvPr/>
        </p:nvSpPr>
        <p:spPr>
          <a:xfrm xmlns:a="http://schemas.openxmlformats.org/drawingml/2006/main">
            <a:off x="838200" y="1476375"/>
            <a:ext cx="10515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00" b="0">
                <a:solidFill>
                  <a:srgbClr val="000000"/>
                </a:solidFill>
                <a:latin typeface="Times New Roman"/>
                <a:ea typeface="Times New Roman"/>
                <a:cs typeface="Times New Roman"/>
              </a:defRPr>
            </a:defPPr>
            <a:lvl1pPr algn="l">
              <a:defRPr sz="1900" b="0">
                <a:solidFill>
                  <a:srgbClr val="000000"/>
                </a:solidFill>
                <a:latin typeface="Times New Roman"/>
                <a:ea typeface="Times New Roman"/>
                <a:cs typeface="Times New Roman"/>
              </a:defRPr>
            </a:lvl1pPr>
            <a:lvl2pPr algn="l">
              <a:defRPr sz="1900" b="0">
                <a:solidFill>
                  <a:srgbClr val="000000"/>
                </a:solidFill>
                <a:latin typeface="Times New Roman"/>
                <a:ea typeface="Times New Roman"/>
                <a:cs typeface="Times New Roman"/>
              </a:defRPr>
            </a:lvl2pPr>
            <a:lvl3pPr algn="l">
              <a:defRPr sz="1900" b="0">
                <a:solidFill>
                  <a:srgbClr val="000000"/>
                </a:solidFill>
                <a:latin typeface="Times New Roman"/>
                <a:ea typeface="Times New Roman"/>
                <a:cs typeface="Times New Roman"/>
              </a:defRPr>
            </a:lvl3pPr>
            <a:lvl4pPr algn="l">
              <a:defRPr sz="1900" b="0">
                <a:solidFill>
                  <a:srgbClr val="000000"/>
                </a:solidFill>
                <a:latin typeface="Times New Roman"/>
                <a:ea typeface="Times New Roman"/>
                <a:cs typeface="Times New Roman"/>
              </a:defRPr>
            </a:lvl4pPr>
            <a:lvl5pPr algn="l">
              <a:defRPr sz="1900" b="0">
                <a:solidFill>
                  <a:srgbClr val="000000"/>
                </a:solidFill>
                <a:latin typeface="Times New Roman"/>
                <a:ea typeface="Times New Roman"/>
                <a:cs typeface="Times New Roman"/>
              </a:defRPr>
            </a:lvl5pPr>
            <a:lvl6pPr algn="l">
              <a:defRPr sz="1900" b="0">
                <a:solidFill>
                  <a:srgbClr val="000000"/>
                </a:solidFill>
                <a:latin typeface="Times New Roman"/>
                <a:ea typeface="Times New Roman"/>
                <a:cs typeface="Times New Roman"/>
              </a:defRPr>
            </a:lvl6pPr>
            <a:lvl7pPr algn="l">
              <a:defRPr sz="1900" b="0">
                <a:solidFill>
                  <a:srgbClr val="000000"/>
                </a:solidFill>
                <a:latin typeface="Times New Roman"/>
                <a:ea typeface="Times New Roman"/>
                <a:cs typeface="Times New Roman"/>
              </a:defRPr>
            </a:lvl7pPr>
            <a:lvl8pPr algn="l">
              <a:defRPr sz="1900" b="0">
                <a:solidFill>
                  <a:srgbClr val="000000"/>
                </a:solidFill>
                <a:latin typeface="Times New Roman"/>
                <a:ea typeface="Times New Roman"/>
                <a:cs typeface="Times New Roman"/>
              </a:defRPr>
            </a:lvl8pPr>
            <a:lvl9pPr algn="l">
              <a:defRPr sz="1900" b="0">
                <a:solidFill>
                  <a:srgbClr val="000000"/>
                </a:solidFill>
                <a:latin typeface="Times New Roman"/>
                <a:ea typeface="Times New Roman"/>
                <a:cs typeface="Times New Roman"/>
              </a:defRPr>
            </a:lvl9pPr>
          </a:lstStyle>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7 scenarios: stable, 3 routine changes and 3 security-related changes.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Main change intensity: 25%. 5 validation seeds, 10 test seeds and 70 test units per rule.</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Validation diagnosis macro-F1: 0.7306.</a:t>
            </a:r>
          </a:p>
        </p:txBody>
      </p:sp>
      <p:graphicFrame>
        <p:nvGraphicFramePr>
          <p:cNvPr id="9" name="">
            <a:extLst xmlns:a="http://schemas.openxmlformats.org/drawingml/2006/main">
              <a:ext uri="{FF2B5EF4-FFF2-40B4-BE49-F238E27FC236}">
                <a16:creationId xmlns:a16="http://schemas.microsoft.com/office/drawing/2014/main" id="{16AAB8E6-0F1C-4FC6-8247-22EA55C09424}"/>
              </a:ext>
            </a:extLst>
          </p:cNvPr>
          <p:cNvGraphicFramePr/>
          <p:nvPr/>
        </p:nvGraphicFramePr>
        <p:xfrm>
          <a:off xmlns:a="http://schemas.openxmlformats.org/drawingml/2006/main" x="838200" y="2333625"/>
          <a:ext xmlns:a="http://schemas.openxmlformats.org/drawingml/2006/main" cx="10515600" cy="2571750"/>
        </p:xfrm>
        <a:graphic xmlns:a="http://schemas.openxmlformats.org/drawingml/2006/main">
          <a:graphicData uri="http://schemas.openxmlformats.org/drawingml/2006/table">
            <a:tbl>
              <a:tblPr firstRow="1" bandRow="0"/>
              <a:tblGrid>
                <a:gridCol w="3238500"/>
                <a:gridCol w="1809750"/>
                <a:gridCol w="2667000"/>
                <a:gridCol w="2800350"/>
              </a:tblGrid>
              <a:tr h="367393">
                <a:tc>
                  <a:txBody>
                    <a:bodyPr/>
                    <a:lstStyle/>
                    <a:p>
                      <a:pPr algn="l"/>
                      <a:r>
                        <a:rPr sz="1800" b="1">
                          <a:solidFill>
                            <a:srgbClr val="FFFFFF"/>
                          </a:solidFill>
                          <a:latin typeface="Times New Roman"/>
                          <a:ea typeface="Times New Roman"/>
                          <a:cs typeface="Times New Roman"/>
                        </a:rPr>
                        <a:t>Update rule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Mean F1</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False-positive rate</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Unnecessary updates</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367393">
                <a:tc>
                  <a:txBody>
                    <a:bodyPr/>
                    <a:lstStyle/>
                    <a:p>
                      <a:pPr algn="l"/>
                      <a:r>
                        <a:rPr sz="1800" b="0">
                          <a:solidFill>
                            <a:srgbClr val="000000"/>
                          </a:solidFill>
                          <a:latin typeface="Times New Roman"/>
                          <a:ea typeface="Times New Roman"/>
                          <a:cs typeface="Times New Roman"/>
                        </a:rPr>
                        <a:t>No update</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0.2901</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0.4282</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367393">
                <a:tc>
                  <a:txBody>
                    <a:bodyPr/>
                    <a:lstStyle/>
                    <a:p>
                      <a:pPr algn="l"/>
                      <a:r>
                        <a:rPr sz="1800" b="0">
                          <a:solidFill>
                            <a:srgbClr val="000000"/>
                          </a:solidFill>
                          <a:latin typeface="Times New Roman"/>
                          <a:ea typeface="Times New Roman"/>
                          <a:cs typeface="Times New Roman"/>
                        </a:rPr>
                        <a:t>Periodic</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0.2888</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0.3160</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0.2000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367393">
                <a:tc>
                  <a:txBody>
                    <a:bodyPr/>
                    <a:lstStyle/>
                    <a:p>
                      <a:pPr algn="l"/>
                      <a:r>
                        <a:rPr sz="1800" b="0">
                          <a:solidFill>
                            <a:srgbClr val="000000"/>
                          </a:solidFill>
                          <a:latin typeface="Times New Roman"/>
                          <a:ea typeface="Times New Roman"/>
                          <a:cs typeface="Times New Roman"/>
                        </a:rPr>
                        <a:t>Data change only</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0.2734</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0.1825</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0.3286</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367393">
                <a:tc>
                  <a:txBody>
                    <a:bodyPr/>
                    <a:lstStyle/>
                    <a:p>
                      <a:pPr algn="l"/>
                      <a:r>
                        <a:rPr sz="1800" b="0">
                          <a:solidFill>
                            <a:srgbClr val="000000"/>
                          </a:solidFill>
                          <a:latin typeface="Times New Roman"/>
                          <a:ea typeface="Times New Roman"/>
                          <a:cs typeface="Times New Roman"/>
                        </a:rPr>
                        <a:t>SHAP change only</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0.2873</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0.3397</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367393">
                <a:tc>
                  <a:txBody>
                    <a:bodyPr/>
                    <a:lstStyle/>
                    <a:p>
                      <a:pPr algn="l"/>
                      <a:r>
                        <a:rPr sz="1800" b="0">
                          <a:solidFill>
                            <a:srgbClr val="000000"/>
                          </a:solidFill>
                          <a:latin typeface="Times New Roman"/>
                          <a:ea typeface="Times New Roman"/>
                          <a:cs typeface="Times New Roman"/>
                        </a:rPr>
                        <a:t>Dual signals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0.2873</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0.3397</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367393">
                <a:tc>
                  <a:txBody>
                    <a:bodyPr/>
                    <a:lstStyle/>
                    <a:p>
                      <a:pPr algn="l"/>
                      <a:r>
                        <a:rPr sz="1800" b="0">
                          <a:solidFill>
                            <a:srgbClr val="000000"/>
                          </a:solidFill>
                          <a:latin typeface="Times New Roman"/>
                          <a:ea typeface="Times New Roman"/>
                          <a:cs typeface="Times New Roman"/>
                        </a:rPr>
                        <a:t>Coupling</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0.2873</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0.3397</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bl>
          </a:graphicData>
        </a:graphic>
      </p:graphicFrame>
      <p:sp>
        <p:nvSpPr>
          <p:cNvPr id="10" name="Dual false-positive rate fell from 0.4282 to ">
            <a:extLst xmlns:a="http://schemas.openxmlformats.org/drawingml/2006/main">
              <a:ext uri="{FF2B5EF4-FFF2-40B4-BE49-F238E27FC236}">
                <a16:creationId xmlns:a16="http://schemas.microsoft.com/office/drawing/2014/main" id="{E99D4B2B-A654-4711-80F3-2AB4878E0047}"/>
              </a:ext>
            </a:extLst>
          </p:cNvPr>
          <p:cNvSpPr>
            <a:spLocks xmlns:a="http://schemas.openxmlformats.org/drawingml/2006/main" noGrp="1"/>
          </p:cNvSpPr>
          <p:nvPr/>
        </p:nvSpPr>
        <p:spPr>
          <a:xfrm xmlns:a="http://schemas.openxmlformats.org/drawingml/2006/main">
            <a:off x="838200" y="5381625"/>
            <a:ext cx="1051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000000"/>
                </a:solidFill>
                <a:latin typeface="Times New Roman"/>
                <a:ea typeface="Times New Roman"/>
                <a:cs typeface="Times New Roman"/>
              </a:defRPr>
            </a:defPPr>
            <a:lvl1pPr algn="l">
              <a:defRPr sz="1800" b="0">
                <a:solidFill>
                  <a:srgbClr val="000000"/>
                </a:solidFill>
                <a:latin typeface="Times New Roman"/>
                <a:ea typeface="Times New Roman"/>
                <a:cs typeface="Times New Roman"/>
              </a:defRPr>
            </a:lvl1pPr>
            <a:lvl2pPr algn="l">
              <a:defRPr sz="1800" b="0">
                <a:solidFill>
                  <a:srgbClr val="000000"/>
                </a:solidFill>
                <a:latin typeface="Times New Roman"/>
                <a:ea typeface="Times New Roman"/>
                <a:cs typeface="Times New Roman"/>
              </a:defRPr>
            </a:lvl2pPr>
            <a:lvl3pPr algn="l">
              <a:defRPr sz="1800" b="0">
                <a:solidFill>
                  <a:srgbClr val="000000"/>
                </a:solidFill>
                <a:latin typeface="Times New Roman"/>
                <a:ea typeface="Times New Roman"/>
                <a:cs typeface="Times New Roman"/>
              </a:defRPr>
            </a:lvl3pPr>
            <a:lvl4pPr algn="l">
              <a:defRPr sz="1800" b="0">
                <a:solidFill>
                  <a:srgbClr val="000000"/>
                </a:solidFill>
                <a:latin typeface="Times New Roman"/>
                <a:ea typeface="Times New Roman"/>
                <a:cs typeface="Times New Roman"/>
              </a:defRPr>
            </a:lvl4pPr>
            <a:lvl5pPr algn="l">
              <a:defRPr sz="1800" b="0">
                <a:solidFill>
                  <a:srgbClr val="000000"/>
                </a:solidFill>
                <a:latin typeface="Times New Roman"/>
                <a:ea typeface="Times New Roman"/>
                <a:cs typeface="Times New Roman"/>
              </a:defRPr>
            </a:lvl5pPr>
            <a:lvl6pPr algn="l">
              <a:defRPr sz="1800" b="0">
                <a:solidFill>
                  <a:srgbClr val="000000"/>
                </a:solidFill>
                <a:latin typeface="Times New Roman"/>
                <a:ea typeface="Times New Roman"/>
                <a:cs typeface="Times New Roman"/>
              </a:defRPr>
            </a:lvl6pPr>
            <a:lvl7pPr algn="l">
              <a:defRPr sz="1800" b="0">
                <a:solidFill>
                  <a:srgbClr val="000000"/>
                </a:solidFill>
                <a:latin typeface="Times New Roman"/>
                <a:ea typeface="Times New Roman"/>
                <a:cs typeface="Times New Roman"/>
              </a:defRPr>
            </a:lvl7pPr>
            <a:lvl8pPr algn="l">
              <a:defRPr sz="1800" b="0">
                <a:solidFill>
                  <a:srgbClr val="000000"/>
                </a:solidFill>
                <a:latin typeface="Times New Roman"/>
                <a:ea typeface="Times New Roman"/>
                <a:cs typeface="Times New Roman"/>
              </a:defRPr>
            </a:lvl8pPr>
            <a:lvl9pPr algn="l">
              <a:defRPr sz="1800" b="0">
                <a:solidFill>
                  <a:srgbClr val="000000"/>
                </a:solidFill>
                <a:latin typeface="Times New Roman"/>
                <a:ea typeface="Times New Roman"/>
                <a:cs typeface="Times New Roman"/>
              </a:defRPr>
            </a:lvl9pPr>
          </a:lstStyle>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Dual false-positive rate fell from 0.4282 to 0.3397, an 8.85 percentage-point drop.</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The F1 difference was inconclusive. Coupling and SHAP-only matched the dual rule.</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Dual and coupling avoided unnecessary updates in these controlled tests.</a:t>
            </a:r>
          </a:p>
        </p:txBody>
      </p:sp>
    </p:spTree>
    <p:extLst>
      <p:ext uri="{BB962C8B-B14F-4D97-AF65-F5344CB8AC3E}">
        <p14:creationId xmlns:p14="http://schemas.microsoft.com/office/powerpoint/2010/main" val="366618880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9" name="External Validation">
            <a:extLst xmlns:a="http://schemas.openxmlformats.org/drawingml/2006/main">
              <a:ext uri="{FF2B5EF4-FFF2-40B4-BE49-F238E27FC236}">
                <a16:creationId xmlns:a16="http://schemas.microsoft.com/office/drawing/2014/main" id="{303BAEC7-8DEE-4552-8D07-0ECE730A781F}"/>
              </a:ext>
            </a:extLst>
          </p:cNvPr>
          <p:cNvSpPr>
            <a:spLocks xmlns:a="http://schemas.openxmlformats.org/drawingml/2006/main" noGrp="1"/>
          </p:cNvSpPr>
          <p:nvPr/>
        </p:nvSpPr>
        <p:spPr>
          <a:xfrm xmlns:a="http://schemas.openxmlformats.org/drawingml/2006/main">
            <a:off x="460248" y="681038"/>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algn="l">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External Validation</a:t>
            </a:r>
          </a:p>
        </p:txBody>
      </p:sp>
      <p:sp>
        <p:nvSpPr>
          <p:cNvPr id="2" name="28-10-2026">
            <a:extLst xmlns:a="http://schemas.openxmlformats.org/drawingml/2006/main">
              <a:ext uri="{FF2B5EF4-FFF2-40B4-BE49-F238E27FC236}">
                <a16:creationId xmlns:a16="http://schemas.microsoft.com/office/drawing/2014/main" id="{6A33E316-CE09-4D89-9968-0B9C3084738B}"/>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3" name="SCOPE">
            <a:extLst xmlns:a="http://schemas.openxmlformats.org/drawingml/2006/main">
              <a:ext uri="{FF2B5EF4-FFF2-40B4-BE49-F238E27FC236}">
                <a16:creationId xmlns:a16="http://schemas.microsoft.com/office/drawing/2014/main" id="{5EF7DBA4-556B-47ED-8B96-FB7740ADC44E}"/>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4" name="12">
            <a:extLst xmlns:a="http://schemas.openxmlformats.org/drawingml/2006/main">
              <a:ext uri="{FF2B5EF4-FFF2-40B4-BE49-F238E27FC236}">
                <a16:creationId xmlns:a16="http://schemas.microsoft.com/office/drawing/2014/main" id="{64D3F0A4-1CB6-4092-A7E1-A48A63EEBDD3}"/>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12</a:t>
            </a:r>
          </a:p>
        </p:txBody>
      </p:sp>
      <p:sp>
        <p:nvSpPr>
          <p:cNvPr id="5" name="Independent corpus: 16,495 training events an">
            <a:extLst xmlns:a="http://schemas.openxmlformats.org/drawingml/2006/main">
              <a:ext uri="{FF2B5EF4-FFF2-40B4-BE49-F238E27FC236}">
                <a16:creationId xmlns:a16="http://schemas.microsoft.com/office/drawing/2014/main" id="{BDC38F73-387C-4747-88C0-FE430612E5D5}"/>
              </a:ext>
            </a:extLst>
          </p:cNvPr>
          <p:cNvSpPr>
            <a:spLocks xmlns:a="http://schemas.openxmlformats.org/drawingml/2006/main" noGrp="1"/>
          </p:cNvSpPr>
          <p:nvPr/>
        </p:nvSpPr>
        <p:spPr>
          <a:xfrm xmlns:a="http://schemas.openxmlformats.org/drawingml/2006/main">
            <a:off x="838200" y="1524000"/>
            <a:ext cx="1051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Independent corpus: 16,495 training events and 24,087 test events.</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Test labels: 2,585 attack events and 21,502 benign events.</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Isolation Forest: precision 0.3306, recall 0.7137, F1 0.4519 and FPR 0.1738.</a:t>
            </a:r>
          </a:p>
        </p:txBody>
      </p:sp>
      <p:sp>
        <p:nvSpPr>
          <p:cNvPr id="6" name="Drift checkpoint: 12 windows (10 security and">
            <a:extLst xmlns:a="http://schemas.openxmlformats.org/drawingml/2006/main">
              <a:ext uri="{FF2B5EF4-FFF2-40B4-BE49-F238E27FC236}">
                <a16:creationId xmlns:a16="http://schemas.microsoft.com/office/drawing/2014/main" id="{C30E3C64-9BC1-46BF-B8B5-B1861F13AC47}"/>
              </a:ext>
            </a:extLst>
          </p:cNvPr>
          <p:cNvSpPr>
            <a:spLocks xmlns:a="http://schemas.openxmlformats.org/drawingml/2006/main" noGrp="1"/>
          </p:cNvSpPr>
          <p:nvPr/>
        </p:nvSpPr>
        <p:spPr>
          <a:xfrm xmlns:a="http://schemas.openxmlformats.org/drawingml/2006/main">
            <a:off x="838200" y="2714625"/>
            <a:ext cx="1051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1">
                <a:solidFill>
                  <a:srgbClr val="000000"/>
                </a:solidFill>
                <a:latin typeface="Times New Roman"/>
                <a:ea typeface="Times New Roman"/>
                <a:cs typeface="Times New Roman"/>
              </a:defRPr>
            </a:defPPr>
            <a:lvl1pPr algn="l">
              <a:defRPr sz="2200" b="1">
                <a:solidFill>
                  <a:srgbClr val="000000"/>
                </a:solidFill>
                <a:latin typeface="Times New Roman"/>
                <a:ea typeface="Times New Roman"/>
                <a:cs typeface="Times New Roman"/>
              </a:defRPr>
            </a:lvl1pPr>
            <a:lvl2pPr algn="l">
              <a:defRPr sz="2200" b="1">
                <a:solidFill>
                  <a:srgbClr val="000000"/>
                </a:solidFill>
                <a:latin typeface="Times New Roman"/>
                <a:ea typeface="Times New Roman"/>
                <a:cs typeface="Times New Roman"/>
              </a:defRPr>
            </a:lvl2pPr>
            <a:lvl3pPr algn="l">
              <a:defRPr sz="2200" b="1">
                <a:solidFill>
                  <a:srgbClr val="000000"/>
                </a:solidFill>
                <a:latin typeface="Times New Roman"/>
                <a:ea typeface="Times New Roman"/>
                <a:cs typeface="Times New Roman"/>
              </a:defRPr>
            </a:lvl3pPr>
            <a:lvl4pPr algn="l">
              <a:defRPr sz="2200" b="1">
                <a:solidFill>
                  <a:srgbClr val="000000"/>
                </a:solidFill>
                <a:latin typeface="Times New Roman"/>
                <a:ea typeface="Times New Roman"/>
                <a:cs typeface="Times New Roman"/>
              </a:defRPr>
            </a:lvl4pPr>
            <a:lvl5pPr algn="l">
              <a:defRPr sz="2200" b="1">
                <a:solidFill>
                  <a:srgbClr val="000000"/>
                </a:solidFill>
                <a:latin typeface="Times New Roman"/>
                <a:ea typeface="Times New Roman"/>
                <a:cs typeface="Times New Roman"/>
              </a:defRPr>
            </a:lvl5pPr>
            <a:lvl6pPr algn="l">
              <a:defRPr sz="2200" b="1">
                <a:solidFill>
                  <a:srgbClr val="000000"/>
                </a:solidFill>
                <a:latin typeface="Times New Roman"/>
                <a:ea typeface="Times New Roman"/>
                <a:cs typeface="Times New Roman"/>
              </a:defRPr>
            </a:lvl6pPr>
            <a:lvl7pPr algn="l">
              <a:defRPr sz="2200" b="1">
                <a:solidFill>
                  <a:srgbClr val="000000"/>
                </a:solidFill>
                <a:latin typeface="Times New Roman"/>
                <a:ea typeface="Times New Roman"/>
                <a:cs typeface="Times New Roman"/>
              </a:defRPr>
            </a:lvl7pPr>
            <a:lvl8pPr algn="l">
              <a:defRPr sz="2200" b="1">
                <a:solidFill>
                  <a:srgbClr val="000000"/>
                </a:solidFill>
                <a:latin typeface="Times New Roman"/>
                <a:ea typeface="Times New Roman"/>
                <a:cs typeface="Times New Roman"/>
              </a:defRPr>
            </a:lvl8pPr>
            <a:lvl9pPr algn="l">
              <a:defRPr sz="2200" b="1">
                <a:solidFill>
                  <a:srgbClr val="000000"/>
                </a:solidFill>
                <a:latin typeface="Times New Roman"/>
                <a:ea typeface="Times New Roman"/>
                <a:cs typeface="Times New Roman"/>
              </a:defRPr>
            </a:lvl9pPr>
          </a:lstStyle>
          <a:p xmlns:a="http://schemas.openxmlformats.org/drawingml/2006/main">
            <a:pPr algn="l">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Drift checkpoint: 12 windows (10 security and 2 benign)</a:t>
            </a:r>
          </a:p>
        </p:txBody>
      </p:sp>
      <p:graphicFrame>
        <p:nvGraphicFramePr>
          <p:cNvPr id="7" name="">
            <a:extLst xmlns:a="http://schemas.openxmlformats.org/drawingml/2006/main">
              <a:ext uri="{FF2B5EF4-FFF2-40B4-BE49-F238E27FC236}">
                <a16:creationId xmlns:a16="http://schemas.microsoft.com/office/drawing/2014/main" id="{8602E54D-E426-4C80-8D27-80E12F009C8B}"/>
              </a:ext>
            </a:extLst>
          </p:cNvPr>
          <p:cNvGraphicFramePr/>
          <p:nvPr/>
        </p:nvGraphicFramePr>
        <p:xfrm>
          <a:off xmlns:a="http://schemas.openxmlformats.org/drawingml/2006/main" x="838200" y="3286125"/>
          <a:ext xmlns:a="http://schemas.openxmlformats.org/drawingml/2006/main" cx="10515600" cy="1905000"/>
        </p:xfrm>
        <a:graphic xmlns:a="http://schemas.openxmlformats.org/drawingml/2006/main">
          <a:graphicData uri="http://schemas.openxmlformats.org/drawingml/2006/table">
            <a:tbl>
              <a:tblPr firstRow="1" bandRow="0"/>
              <a:tblGrid>
                <a:gridCol w="4857750"/>
                <a:gridCol w="1524000"/>
                <a:gridCol w="1524000"/>
                <a:gridCol w="2609850"/>
              </a:tblGrid>
              <a:tr h="476250">
                <a:tc>
                  <a:txBody>
                    <a:bodyPr/>
                    <a:lstStyle/>
                    <a:p>
                      <a:pPr algn="l"/>
                      <a:r>
                        <a:rPr sz="1800" b="1">
                          <a:solidFill>
                            <a:srgbClr val="FFFFFF"/>
                          </a:solidFill>
                          <a:latin typeface="Times New Roman"/>
                          <a:ea typeface="Times New Roman"/>
                          <a:cs typeface="Times New Roman"/>
                        </a:rPr>
                        <a:t>Rule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Recall</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F1</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False-positive rate</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476250">
                <a:tc>
                  <a:txBody>
                    <a:bodyPr/>
                    <a:lstStyle/>
                    <a:p>
                      <a:pPr algn="l"/>
                      <a:r>
                        <a:rPr sz="1800" b="0">
                          <a:solidFill>
                            <a:srgbClr val="000000"/>
                          </a:solidFill>
                          <a:latin typeface="Times New Roman"/>
                          <a:ea typeface="Times New Roman"/>
                          <a:cs typeface="Times New Roman"/>
                        </a:rPr>
                        <a:t>Dual signals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1.0000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0.9524</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0.5000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476250">
                <a:tc>
                  <a:txBody>
                    <a:bodyPr/>
                    <a:lstStyle/>
                    <a:p>
                      <a:pPr algn="l"/>
                      <a:r>
                        <a:rPr sz="1800" b="0">
                          <a:solidFill>
                            <a:srgbClr val="000000"/>
                          </a:solidFill>
                          <a:latin typeface="Times New Roman"/>
                          <a:ea typeface="Times New Roman"/>
                          <a:cs typeface="Times New Roman"/>
                        </a:rPr>
                        <a:t>Coupling: source threshold</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0.1000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0.1818</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476250">
                <a:tc>
                  <a:txBody>
                    <a:bodyPr/>
                    <a:lstStyle/>
                    <a:p>
                      <a:pPr algn="l"/>
                      <a:r>
                        <a:rPr sz="1800" b="0">
                          <a:solidFill>
                            <a:srgbClr val="000000"/>
                          </a:solidFill>
                          <a:latin typeface="Times New Roman"/>
                          <a:ea typeface="Times New Roman"/>
                          <a:cs typeface="Times New Roman"/>
                        </a:rPr>
                        <a:t>Coupling: target threshold</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1.0000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1.0000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bl>
          </a:graphicData>
        </a:graphic>
      </p:graphicFrame>
      <p:sp>
        <p:nvSpPr>
          <p:cNvPr id="8" name="The source coupling threshold missed 9 of the">
            <a:extLst xmlns:a="http://schemas.openxmlformats.org/drawingml/2006/main">
              <a:ext uri="{FF2B5EF4-FFF2-40B4-BE49-F238E27FC236}">
                <a16:creationId xmlns:a16="http://schemas.microsoft.com/office/drawing/2014/main" id="{6136035A-1F4D-4458-8C15-D0AEC3060AE1}"/>
              </a:ext>
            </a:extLst>
          </p:cNvPr>
          <p:cNvSpPr>
            <a:spLocks xmlns:a="http://schemas.openxmlformats.org/drawingml/2006/main" noGrp="1"/>
          </p:cNvSpPr>
          <p:nvPr/>
        </p:nvSpPr>
        <p:spPr>
          <a:xfrm xmlns:a="http://schemas.openxmlformats.org/drawingml/2006/main">
            <a:off x="838200" y="5381625"/>
            <a:ext cx="1051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The source coupling threshold missed 9 of the 10 security windows.</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Target calibration separated all 12 windows using only unlabelled scores.</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It used the current target batch. Later unseen windows still need testing.</a:t>
            </a:r>
          </a:p>
        </p:txBody>
      </p:sp>
    </p:spTree>
    <p:extLst>
      <p:ext uri="{BB962C8B-B14F-4D97-AF65-F5344CB8AC3E}">
        <p14:creationId xmlns:p14="http://schemas.microsoft.com/office/powerpoint/2010/main" val="211920300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3754A46F-4AC3-5AF1-0B78-C0B5112BD14C}"/>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Conclusion and Future Work</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93E2B171-5290-4937-BD3E-AD8E364846C8}"/>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85C518A8-E483-4BF0-816B-AB6F01DB9103}"/>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13">
            <a:extLst xmlns:a="http://schemas.openxmlformats.org/drawingml/2006/main">
              <a:ext uri="{FF2B5EF4-FFF2-40B4-BE49-F238E27FC236}">
                <a16:creationId xmlns:a16="http://schemas.microsoft.com/office/drawing/2014/main" id="{4FD5082C-F731-4D42-891B-9C86E95BC879}"/>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13</a:t>
            </a:r>
          </a:p>
        </p:txBody>
      </p:sp>
      <p:sp>
        <p:nvSpPr>
          <p:cNvPr id="8" name="What the project shows">
            <a:extLst xmlns:a="http://schemas.openxmlformats.org/drawingml/2006/main">
              <a:ext uri="{FF2B5EF4-FFF2-40B4-BE49-F238E27FC236}">
                <a16:creationId xmlns:a16="http://schemas.microsoft.com/office/drawing/2014/main" id="{32D49074-EF49-4E6C-916F-B672EC37CF64}"/>
              </a:ext>
            </a:extLst>
          </p:cNvPr>
          <p:cNvSpPr>
            <a:spLocks xmlns:a="http://schemas.openxmlformats.org/drawingml/2006/main" noGrp="1"/>
          </p:cNvSpPr>
          <p:nvPr/>
        </p:nvSpPr>
        <p:spPr>
          <a:xfrm xmlns:a="http://schemas.openxmlformats.org/drawingml/2006/main">
            <a:off x="838200" y="16192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00" b="1">
                <a:solidFill>
                  <a:srgbClr val="000000"/>
                </a:solidFill>
                <a:latin typeface="Times New Roman"/>
                <a:ea typeface="Times New Roman"/>
                <a:cs typeface="Times New Roman"/>
              </a:defRPr>
            </a:defPPr>
            <a:lvl1pPr algn="l">
              <a:defRPr sz="2300" b="1">
                <a:solidFill>
                  <a:srgbClr val="000000"/>
                </a:solidFill>
                <a:latin typeface="Times New Roman"/>
                <a:ea typeface="Times New Roman"/>
                <a:cs typeface="Times New Roman"/>
              </a:defRPr>
            </a:lvl1pPr>
            <a:lvl2pPr algn="l">
              <a:defRPr sz="2300" b="1">
                <a:solidFill>
                  <a:srgbClr val="000000"/>
                </a:solidFill>
                <a:latin typeface="Times New Roman"/>
                <a:ea typeface="Times New Roman"/>
                <a:cs typeface="Times New Roman"/>
              </a:defRPr>
            </a:lvl2pPr>
            <a:lvl3pPr algn="l">
              <a:defRPr sz="2300" b="1">
                <a:solidFill>
                  <a:srgbClr val="000000"/>
                </a:solidFill>
                <a:latin typeface="Times New Roman"/>
                <a:ea typeface="Times New Roman"/>
                <a:cs typeface="Times New Roman"/>
              </a:defRPr>
            </a:lvl3pPr>
            <a:lvl4pPr algn="l">
              <a:defRPr sz="2300" b="1">
                <a:solidFill>
                  <a:srgbClr val="000000"/>
                </a:solidFill>
                <a:latin typeface="Times New Roman"/>
                <a:ea typeface="Times New Roman"/>
                <a:cs typeface="Times New Roman"/>
              </a:defRPr>
            </a:lvl4pPr>
            <a:lvl5pPr algn="l">
              <a:defRPr sz="2300" b="1">
                <a:solidFill>
                  <a:srgbClr val="000000"/>
                </a:solidFill>
                <a:latin typeface="Times New Roman"/>
                <a:ea typeface="Times New Roman"/>
                <a:cs typeface="Times New Roman"/>
              </a:defRPr>
            </a:lvl5pPr>
            <a:lvl6pPr algn="l">
              <a:defRPr sz="2300" b="1">
                <a:solidFill>
                  <a:srgbClr val="000000"/>
                </a:solidFill>
                <a:latin typeface="Times New Roman"/>
                <a:ea typeface="Times New Roman"/>
                <a:cs typeface="Times New Roman"/>
              </a:defRPr>
            </a:lvl6pPr>
            <a:lvl7pPr algn="l">
              <a:defRPr sz="2300" b="1">
                <a:solidFill>
                  <a:srgbClr val="000000"/>
                </a:solidFill>
                <a:latin typeface="Times New Roman"/>
                <a:ea typeface="Times New Roman"/>
                <a:cs typeface="Times New Roman"/>
              </a:defRPr>
            </a:lvl7pPr>
            <a:lvl8pPr algn="l">
              <a:defRPr sz="2300" b="1">
                <a:solidFill>
                  <a:srgbClr val="000000"/>
                </a:solidFill>
                <a:latin typeface="Times New Roman"/>
                <a:ea typeface="Times New Roman"/>
                <a:cs typeface="Times New Roman"/>
              </a:defRPr>
            </a:lvl8pPr>
            <a:lvl9pPr algn="l">
              <a:defRPr sz="2300" b="1">
                <a:solidFill>
                  <a:srgbClr val="000000"/>
                </a:solidFill>
                <a:latin typeface="Times New Roman"/>
                <a:ea typeface="Times New Roman"/>
                <a:cs typeface="Times New Roman"/>
              </a:defRPr>
            </a:lvl9pPr>
          </a:lstStyle>
          <a:p xmlns:a="http://schemas.openxmlformats.org/drawingml/2006/main">
            <a:pPr algn="l">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What the project shows</a:t>
            </a:r>
          </a:p>
        </p:txBody>
      </p:sp>
      <p:sp>
        <p:nvSpPr>
          <p:cNvPr id="9" name="A local pipeline connects data checks, SHAP e">
            <a:extLst xmlns:a="http://schemas.openxmlformats.org/drawingml/2006/main">
              <a:ext uri="{FF2B5EF4-FFF2-40B4-BE49-F238E27FC236}">
                <a16:creationId xmlns:a16="http://schemas.microsoft.com/office/drawing/2014/main" id="{44A4EDB6-0B04-49D8-8C2B-389FD9861C71}"/>
              </a:ext>
            </a:extLst>
          </p:cNvPr>
          <p:cNvSpPr>
            <a:spLocks xmlns:a="http://schemas.openxmlformats.org/drawingml/2006/main" noGrp="1"/>
          </p:cNvSpPr>
          <p:nvPr/>
        </p:nvSpPr>
        <p:spPr>
          <a:xfrm xmlns:a="http://schemas.openxmlformats.org/drawingml/2006/main">
            <a:off x="838200" y="2190750"/>
            <a:ext cx="4857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A local pipeline connects data checks, SHAP explanations and model updates.</a:t>
            </a:r>
          </a:p>
          <a:p xmlns:a="http://schemas.openxmlformats.org/drawingml/2006/main">
            <a:r>
              <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Dual signals lowered false alarms in controlled tests.</a:t>
            </a:r>
          </a:p>
          <a:p xmlns:a="http://schemas.openxmlformats.org/drawingml/2006/main">
            <a:r>
              <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Coupling makes feature alignment explicit, but did not improve current policy results.</a:t>
            </a:r>
          </a:p>
          <a:p xmlns:a="http://schemas.openxmlformats.org/drawingml/2006/main">
            <a:r>
              <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All 28 automated software tests pass.</a:t>
            </a:r>
          </a:p>
        </p:txBody>
      </p:sp>
      <p:sp>
        <p:nvSpPr>
          <p:cNvPr id="10" name="Limits and next steps">
            <a:extLst xmlns:a="http://schemas.openxmlformats.org/drawingml/2006/main">
              <a:ext uri="{FF2B5EF4-FFF2-40B4-BE49-F238E27FC236}">
                <a16:creationId xmlns:a16="http://schemas.microsoft.com/office/drawing/2014/main" id="{570A4304-1A3E-4D4E-B783-AACD5522EB39}"/>
              </a:ext>
            </a:extLst>
          </p:cNvPr>
          <p:cNvSpPr>
            <a:spLocks xmlns:a="http://schemas.openxmlformats.org/drawingml/2006/main" noGrp="1"/>
          </p:cNvSpPr>
          <p:nvPr/>
        </p:nvSpPr>
        <p:spPr>
          <a:xfrm xmlns:a="http://schemas.openxmlformats.org/drawingml/2006/main">
            <a:off x="6334125" y="1619250"/>
            <a:ext cx="501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00" b="1">
                <a:solidFill>
                  <a:srgbClr val="000000"/>
                </a:solidFill>
                <a:latin typeface="Times New Roman"/>
                <a:ea typeface="Times New Roman"/>
                <a:cs typeface="Times New Roman"/>
              </a:defRPr>
            </a:defPPr>
            <a:lvl1pPr algn="l">
              <a:defRPr sz="2300" b="1">
                <a:solidFill>
                  <a:srgbClr val="000000"/>
                </a:solidFill>
                <a:latin typeface="Times New Roman"/>
                <a:ea typeface="Times New Roman"/>
                <a:cs typeface="Times New Roman"/>
              </a:defRPr>
            </a:lvl1pPr>
            <a:lvl2pPr algn="l">
              <a:defRPr sz="2300" b="1">
                <a:solidFill>
                  <a:srgbClr val="000000"/>
                </a:solidFill>
                <a:latin typeface="Times New Roman"/>
                <a:ea typeface="Times New Roman"/>
                <a:cs typeface="Times New Roman"/>
              </a:defRPr>
            </a:lvl2pPr>
            <a:lvl3pPr algn="l">
              <a:defRPr sz="2300" b="1">
                <a:solidFill>
                  <a:srgbClr val="000000"/>
                </a:solidFill>
                <a:latin typeface="Times New Roman"/>
                <a:ea typeface="Times New Roman"/>
                <a:cs typeface="Times New Roman"/>
              </a:defRPr>
            </a:lvl3pPr>
            <a:lvl4pPr algn="l">
              <a:defRPr sz="2300" b="1">
                <a:solidFill>
                  <a:srgbClr val="000000"/>
                </a:solidFill>
                <a:latin typeface="Times New Roman"/>
                <a:ea typeface="Times New Roman"/>
                <a:cs typeface="Times New Roman"/>
              </a:defRPr>
            </a:lvl4pPr>
            <a:lvl5pPr algn="l">
              <a:defRPr sz="2300" b="1">
                <a:solidFill>
                  <a:srgbClr val="000000"/>
                </a:solidFill>
                <a:latin typeface="Times New Roman"/>
                <a:ea typeface="Times New Roman"/>
                <a:cs typeface="Times New Roman"/>
              </a:defRPr>
            </a:lvl5pPr>
            <a:lvl6pPr algn="l">
              <a:defRPr sz="2300" b="1">
                <a:solidFill>
                  <a:srgbClr val="000000"/>
                </a:solidFill>
                <a:latin typeface="Times New Roman"/>
                <a:ea typeface="Times New Roman"/>
                <a:cs typeface="Times New Roman"/>
              </a:defRPr>
            </a:lvl6pPr>
            <a:lvl7pPr algn="l">
              <a:defRPr sz="2300" b="1">
                <a:solidFill>
                  <a:srgbClr val="000000"/>
                </a:solidFill>
                <a:latin typeface="Times New Roman"/>
                <a:ea typeface="Times New Roman"/>
                <a:cs typeface="Times New Roman"/>
              </a:defRPr>
            </a:lvl7pPr>
            <a:lvl8pPr algn="l">
              <a:defRPr sz="2300" b="1">
                <a:solidFill>
                  <a:srgbClr val="000000"/>
                </a:solidFill>
                <a:latin typeface="Times New Roman"/>
                <a:ea typeface="Times New Roman"/>
                <a:cs typeface="Times New Roman"/>
              </a:defRPr>
            </a:lvl8pPr>
            <a:lvl9pPr algn="l">
              <a:defRPr sz="2300" b="1">
                <a:solidFill>
                  <a:srgbClr val="000000"/>
                </a:solidFill>
                <a:latin typeface="Times New Roman"/>
                <a:ea typeface="Times New Roman"/>
                <a:cs typeface="Times New Roman"/>
              </a:defRPr>
            </a:lvl9pPr>
          </a:lstStyle>
          <a:p xmlns:a="http://schemas.openxmlformats.org/drawingml/2006/main">
            <a:pPr algn="l">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Limits and next steps</a:t>
            </a:r>
          </a:p>
        </p:txBody>
      </p:sp>
      <p:sp>
        <p:nvSpPr>
          <p:cNvPr id="11" name="The primary corpus has no attack labels.&#10;&#10;Mon">
            <a:extLst xmlns:a="http://schemas.openxmlformats.org/drawingml/2006/main">
              <a:ext uri="{FF2B5EF4-FFF2-40B4-BE49-F238E27FC236}">
                <a16:creationId xmlns:a16="http://schemas.microsoft.com/office/drawing/2014/main" id="{BCCF9E80-6E9B-472F-84B4-60A8B1A85231}"/>
              </a:ext>
            </a:extLst>
          </p:cNvPr>
          <p:cNvSpPr>
            <a:spLocks xmlns:a="http://schemas.openxmlformats.org/drawingml/2006/main" noGrp="1"/>
          </p:cNvSpPr>
          <p:nvPr/>
        </p:nvSpPr>
        <p:spPr>
          <a:xfrm xmlns:a="http://schemas.openxmlformats.org/drawingml/2006/main">
            <a:off x="6334125" y="2190750"/>
            <a:ext cx="501967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The primary corpus has no attack labels.</a:t>
            </a:r>
          </a:p>
          <a:p xmlns:a="http://schemas.openxmlformats.org/drawingml/2006/main">
            <a:r>
              <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Monthly timestamps limit detailed session analysis.</a:t>
            </a:r>
          </a:p>
          <a:p xmlns:a="http://schemas.openxmlformats.org/drawingml/2006/main">
            <a:r>
              <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Test longer streams with more independent incidents.</a:t>
            </a:r>
          </a:p>
          <a:p xmlns:a="http://schemas.openxmlformats.org/drawingml/2006/main">
            <a:r>
              <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Improve scenario consistency and compare matched model settings.</a:t>
            </a:r>
          </a:p>
        </p:txBody>
      </p:sp>
      <p:sp>
        <p:nvSpPr>
          <p:cNvPr id="12" name="Cost sensitivity: no update rule was best for">
            <a:extLst xmlns:a="http://schemas.openxmlformats.org/drawingml/2006/main">
              <a:ext uri="{FF2B5EF4-FFF2-40B4-BE49-F238E27FC236}">
                <a16:creationId xmlns:a16="http://schemas.microsoft.com/office/drawing/2014/main" id="{99ABA6ED-33EC-48A3-9CDF-F1F659C3176E}"/>
              </a:ext>
            </a:extLst>
          </p:cNvPr>
          <p:cNvSpPr>
            <a:spLocks xmlns:a="http://schemas.openxmlformats.org/drawingml/2006/main" noGrp="1"/>
          </p:cNvSpPr>
          <p:nvPr/>
        </p:nvSpPr>
        <p:spPr>
          <a:xfrm xmlns:a="http://schemas.openxmlformats.org/drawingml/2006/main">
            <a:off x="838200" y="5905500"/>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00" b="0">
                <a:solidFill>
                  <a:srgbClr val="000000"/>
                </a:solidFill>
                <a:latin typeface="Times New Roman"/>
                <a:ea typeface="Times New Roman"/>
                <a:cs typeface="Times New Roman"/>
              </a:defRPr>
            </a:defPPr>
            <a:lvl1pPr algn="l">
              <a:defRPr sz="1900" b="0">
                <a:solidFill>
                  <a:srgbClr val="000000"/>
                </a:solidFill>
                <a:latin typeface="Times New Roman"/>
                <a:ea typeface="Times New Roman"/>
                <a:cs typeface="Times New Roman"/>
              </a:defRPr>
            </a:lvl1pPr>
            <a:lvl2pPr algn="l">
              <a:defRPr sz="1900" b="0">
                <a:solidFill>
                  <a:srgbClr val="000000"/>
                </a:solidFill>
                <a:latin typeface="Times New Roman"/>
                <a:ea typeface="Times New Roman"/>
                <a:cs typeface="Times New Roman"/>
              </a:defRPr>
            </a:lvl2pPr>
            <a:lvl3pPr algn="l">
              <a:defRPr sz="1900" b="0">
                <a:solidFill>
                  <a:srgbClr val="000000"/>
                </a:solidFill>
                <a:latin typeface="Times New Roman"/>
                <a:ea typeface="Times New Roman"/>
                <a:cs typeface="Times New Roman"/>
              </a:defRPr>
            </a:lvl3pPr>
            <a:lvl4pPr algn="l">
              <a:defRPr sz="1900" b="0">
                <a:solidFill>
                  <a:srgbClr val="000000"/>
                </a:solidFill>
                <a:latin typeface="Times New Roman"/>
                <a:ea typeface="Times New Roman"/>
                <a:cs typeface="Times New Roman"/>
              </a:defRPr>
            </a:lvl4pPr>
            <a:lvl5pPr algn="l">
              <a:defRPr sz="1900" b="0">
                <a:solidFill>
                  <a:srgbClr val="000000"/>
                </a:solidFill>
                <a:latin typeface="Times New Roman"/>
                <a:ea typeface="Times New Roman"/>
                <a:cs typeface="Times New Roman"/>
              </a:defRPr>
            </a:lvl5pPr>
            <a:lvl6pPr algn="l">
              <a:defRPr sz="1900" b="0">
                <a:solidFill>
                  <a:srgbClr val="000000"/>
                </a:solidFill>
                <a:latin typeface="Times New Roman"/>
                <a:ea typeface="Times New Roman"/>
                <a:cs typeface="Times New Roman"/>
              </a:defRPr>
            </a:lvl6pPr>
            <a:lvl7pPr algn="l">
              <a:defRPr sz="1900" b="0">
                <a:solidFill>
                  <a:srgbClr val="000000"/>
                </a:solidFill>
                <a:latin typeface="Times New Roman"/>
                <a:ea typeface="Times New Roman"/>
                <a:cs typeface="Times New Roman"/>
              </a:defRPr>
            </a:lvl7pPr>
            <a:lvl8pPr algn="l">
              <a:defRPr sz="1900" b="0">
                <a:solidFill>
                  <a:srgbClr val="000000"/>
                </a:solidFill>
                <a:latin typeface="Times New Roman"/>
                <a:ea typeface="Times New Roman"/>
                <a:cs typeface="Times New Roman"/>
              </a:defRPr>
            </a:lvl8pPr>
            <a:lvl9pPr algn="l">
              <a:defRPr sz="1900" b="0">
                <a:solidFill>
                  <a:srgbClr val="000000"/>
                </a:solidFill>
                <a:latin typeface="Times New Roman"/>
                <a:ea typeface="Times New Roman"/>
                <a:cs typeface="Times New Roman"/>
              </a:defRPr>
            </a:lvl9pPr>
          </a:lstStyle>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Cost sensitivity: no update rule was best for every assumed cost setting.</a:t>
            </a:r>
          </a:p>
        </p:txBody>
      </p:sp>
    </p:spTree>
    <p:extLst>
      <p:ext uri="{BB962C8B-B14F-4D97-AF65-F5344CB8AC3E}">
        <p14:creationId xmlns:p14="http://schemas.microsoft.com/office/powerpoint/2010/main" val="131749873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9" name="Outcome Achieved and Demo">
            <a:extLst xmlns:a="http://schemas.openxmlformats.org/drawingml/2006/main">
              <a:ext uri="{FF2B5EF4-FFF2-40B4-BE49-F238E27FC236}">
                <a16:creationId xmlns:a16="http://schemas.microsoft.com/office/drawing/2014/main" id="{887C0E55-F78D-4B0C-9A6C-D2A673CD35B4}"/>
              </a:ext>
            </a:extLst>
          </p:cNvPr>
          <p:cNvSpPr>
            <a:spLocks xmlns:a="http://schemas.openxmlformats.org/drawingml/2006/main" noGrp="1"/>
          </p:cNvSpPr>
          <p:nvPr/>
        </p:nvSpPr>
        <p:spPr>
          <a:xfrm xmlns:a="http://schemas.openxmlformats.org/drawingml/2006/main">
            <a:off x="460248" y="681038"/>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algn="l">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Outcome Achieved and Demo</a:t>
            </a:r>
          </a:p>
        </p:txBody>
      </p:sp>
      <p:sp>
        <p:nvSpPr>
          <p:cNvPr id="2" name="28-10-2026">
            <a:extLst xmlns:a="http://schemas.openxmlformats.org/drawingml/2006/main">
              <a:ext uri="{FF2B5EF4-FFF2-40B4-BE49-F238E27FC236}">
                <a16:creationId xmlns:a16="http://schemas.microsoft.com/office/drawing/2014/main" id="{0506B092-EA39-49CB-B7FD-E523D0DCBA51}"/>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3" name="SCOPE">
            <a:extLst xmlns:a="http://schemas.openxmlformats.org/drawingml/2006/main">
              <a:ext uri="{FF2B5EF4-FFF2-40B4-BE49-F238E27FC236}">
                <a16:creationId xmlns:a16="http://schemas.microsoft.com/office/drawing/2014/main" id="{B852DFA2-275A-40E6-8001-205BEB7F9AF6}"/>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4" name="14">
            <a:extLst xmlns:a="http://schemas.openxmlformats.org/drawingml/2006/main">
              <a:ext uri="{FF2B5EF4-FFF2-40B4-BE49-F238E27FC236}">
                <a16:creationId xmlns:a16="http://schemas.microsoft.com/office/drawing/2014/main" id="{D70CA3DD-94F9-4531-99FF-88F95982185A}"/>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14</a:t>
            </a:r>
          </a:p>
        </p:txBody>
      </p:sp>
      <p:graphicFrame>
        <p:nvGraphicFramePr>
          <p:cNvPr id="5" name="">
            <a:extLst xmlns:a="http://schemas.openxmlformats.org/drawingml/2006/main">
              <a:ext uri="{FF2B5EF4-FFF2-40B4-BE49-F238E27FC236}">
                <a16:creationId xmlns:a16="http://schemas.microsoft.com/office/drawing/2014/main" id="{B3678B69-1C41-4FEE-8FCE-5FA6D6BF45BA}"/>
              </a:ext>
            </a:extLst>
          </p:cNvPr>
          <p:cNvGraphicFramePr/>
          <p:nvPr/>
        </p:nvGraphicFramePr>
        <p:xfrm>
          <a:off xmlns:a="http://schemas.openxmlformats.org/drawingml/2006/main" x="838200" y="1619250"/>
          <a:ext xmlns:a="http://schemas.openxmlformats.org/drawingml/2006/main" cx="10515600" cy="2714625"/>
        </p:xfrm>
        <a:graphic xmlns:a="http://schemas.openxmlformats.org/drawingml/2006/main">
          <a:graphicData uri="http://schemas.openxmlformats.org/drawingml/2006/table">
            <a:tbl>
              <a:tblPr firstRow="1" bandRow="0"/>
              <a:tblGrid>
                <a:gridCol w="3143250"/>
                <a:gridCol w="7372350"/>
              </a:tblGrid>
              <a:tr h="542925">
                <a:tc>
                  <a:txBody>
                    <a:bodyPr/>
                    <a:lstStyle/>
                    <a:p>
                      <a:pPr algn="l"/>
                      <a:r>
                        <a:rPr sz="1900" b="1">
                          <a:solidFill>
                            <a:srgbClr val="FFFFFF"/>
                          </a:solidFill>
                          <a:latin typeface="Times New Roman"/>
                          <a:ea typeface="Times New Roman"/>
                          <a:cs typeface="Times New Roman"/>
                        </a:rPr>
                        <a:t>Deliverable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900" b="1">
                          <a:solidFill>
                            <a:srgbClr val="FFFFFF"/>
                          </a:solidFill>
                          <a:latin typeface="Times New Roman"/>
                          <a:ea typeface="Times New Roman"/>
                          <a:cs typeface="Times New Roman"/>
                        </a:rPr>
                        <a:t>Evidence available</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542925">
                <a:tc>
                  <a:txBody>
                    <a:bodyPr/>
                    <a:lstStyle/>
                    <a:p>
                      <a:pPr algn="l"/>
                      <a:r>
                        <a:rPr sz="1900" b="0">
                          <a:solidFill>
                            <a:srgbClr val="000000"/>
                          </a:solidFill>
                          <a:latin typeface="Times New Roman"/>
                          <a:ea typeface="Times New Roman"/>
                          <a:cs typeface="Times New Roman"/>
                        </a:rPr>
                        <a:t>Working prototype</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900" b="0">
                          <a:solidFill>
                            <a:srgbClr val="000000"/>
                          </a:solidFill>
                          <a:latin typeface="Times New Roman"/>
                          <a:ea typeface="Times New Roman"/>
                          <a:cs typeface="Times New Roman"/>
                        </a:rPr>
                        <a:t>Python modules, trained baseline and saved scores</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42925">
                <a:tc>
                  <a:txBody>
                    <a:bodyPr/>
                    <a:lstStyle/>
                    <a:p>
                      <a:pPr algn="l"/>
                      <a:r>
                        <a:rPr sz="1900" b="0">
                          <a:solidFill>
                            <a:srgbClr val="000000"/>
                          </a:solidFill>
                          <a:latin typeface="Times New Roman"/>
                          <a:ea typeface="Times New Roman"/>
                          <a:cs typeface="Times New Roman"/>
                        </a:rPr>
                        <a:t>Experimental results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900" b="0">
                          <a:solidFill>
                            <a:srgbClr val="000000"/>
                          </a:solidFill>
                          <a:latin typeface="Times New Roman"/>
                          <a:ea typeface="Times New Roman"/>
                          <a:cs typeface="Times New Roman"/>
                        </a:rPr>
                        <a:t>Monthly signals, policy comparisons and external checks</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542925">
                <a:tc>
                  <a:txBody>
                    <a:bodyPr/>
                    <a:lstStyle/>
                    <a:p>
                      <a:pPr algn="l"/>
                      <a:r>
                        <a:rPr sz="1900" b="0">
                          <a:solidFill>
                            <a:srgbClr val="000000"/>
                          </a:solidFill>
                          <a:latin typeface="Times New Roman"/>
                          <a:ea typeface="Times New Roman"/>
                          <a:cs typeface="Times New Roman"/>
                        </a:rPr>
                        <a:t>Quality checks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900" b="0">
                          <a:solidFill>
                            <a:srgbClr val="000000"/>
                          </a:solidFill>
                          <a:latin typeface="Times New Roman"/>
                          <a:ea typeface="Times New Roman"/>
                          <a:cs typeface="Times New Roman"/>
                        </a:rPr>
                        <a:t>28 tests pass and SHAP additivity is verified</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42925">
                <a:tc>
                  <a:txBody>
                    <a:bodyPr/>
                    <a:lstStyle/>
                    <a:p>
                      <a:pPr algn="l"/>
                      <a:r>
                        <a:rPr sz="1900" b="0">
                          <a:solidFill>
                            <a:srgbClr val="000000"/>
                          </a:solidFill>
                          <a:latin typeface="Times New Roman"/>
                          <a:ea typeface="Times New Roman"/>
                          <a:cs typeface="Times New Roman"/>
                        </a:rPr>
                        <a:t>Documentation</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900" b="0">
                          <a:solidFill>
                            <a:srgbClr val="000000"/>
                          </a:solidFill>
                          <a:latin typeface="Times New Roman"/>
                          <a:ea typeface="Times New Roman"/>
                          <a:cs typeface="Times New Roman"/>
                        </a:rPr>
                        <a:t>Capstone report and research draft; no publication claim</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bl>
          </a:graphicData>
        </a:graphic>
      </p:graphicFrame>
      <p:sp>
        <p:nvSpPr>
          <p:cNvPr id="6" name="Live demonstration">
            <a:extLst xmlns:a="http://schemas.openxmlformats.org/drawingml/2006/main">
              <a:ext uri="{FF2B5EF4-FFF2-40B4-BE49-F238E27FC236}">
                <a16:creationId xmlns:a16="http://schemas.microsoft.com/office/drawing/2014/main" id="{234AC75B-0E3B-4547-AE68-C573BEF3A6A7}"/>
              </a:ext>
            </a:extLst>
          </p:cNvPr>
          <p:cNvSpPr>
            <a:spLocks xmlns:a="http://schemas.openxmlformats.org/drawingml/2006/main" noGrp="1"/>
          </p:cNvSpPr>
          <p:nvPr/>
        </p:nvSpPr>
        <p:spPr>
          <a:xfrm xmlns:a="http://schemas.openxmlformats.org/drawingml/2006/main">
            <a:off x="838200" y="4572000"/>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00" b="1">
                <a:solidFill>
                  <a:srgbClr val="000000"/>
                </a:solidFill>
                <a:latin typeface="Times New Roman"/>
                <a:ea typeface="Times New Roman"/>
                <a:cs typeface="Times New Roman"/>
              </a:defRPr>
            </a:defPPr>
            <a:lvl1pPr algn="l">
              <a:defRPr sz="2300" b="1">
                <a:solidFill>
                  <a:srgbClr val="000000"/>
                </a:solidFill>
                <a:latin typeface="Times New Roman"/>
                <a:ea typeface="Times New Roman"/>
                <a:cs typeface="Times New Roman"/>
              </a:defRPr>
            </a:lvl1pPr>
            <a:lvl2pPr algn="l">
              <a:defRPr sz="2300" b="1">
                <a:solidFill>
                  <a:srgbClr val="000000"/>
                </a:solidFill>
                <a:latin typeface="Times New Roman"/>
                <a:ea typeface="Times New Roman"/>
                <a:cs typeface="Times New Roman"/>
              </a:defRPr>
            </a:lvl2pPr>
            <a:lvl3pPr algn="l">
              <a:defRPr sz="2300" b="1">
                <a:solidFill>
                  <a:srgbClr val="000000"/>
                </a:solidFill>
                <a:latin typeface="Times New Roman"/>
                <a:ea typeface="Times New Roman"/>
                <a:cs typeface="Times New Roman"/>
              </a:defRPr>
            </a:lvl3pPr>
            <a:lvl4pPr algn="l">
              <a:defRPr sz="2300" b="1">
                <a:solidFill>
                  <a:srgbClr val="000000"/>
                </a:solidFill>
                <a:latin typeface="Times New Roman"/>
                <a:ea typeface="Times New Roman"/>
                <a:cs typeface="Times New Roman"/>
              </a:defRPr>
            </a:lvl4pPr>
            <a:lvl5pPr algn="l">
              <a:defRPr sz="2300" b="1">
                <a:solidFill>
                  <a:srgbClr val="000000"/>
                </a:solidFill>
                <a:latin typeface="Times New Roman"/>
                <a:ea typeface="Times New Roman"/>
                <a:cs typeface="Times New Roman"/>
              </a:defRPr>
            </a:lvl5pPr>
            <a:lvl6pPr algn="l">
              <a:defRPr sz="2300" b="1">
                <a:solidFill>
                  <a:srgbClr val="000000"/>
                </a:solidFill>
                <a:latin typeface="Times New Roman"/>
                <a:ea typeface="Times New Roman"/>
                <a:cs typeface="Times New Roman"/>
              </a:defRPr>
            </a:lvl6pPr>
            <a:lvl7pPr algn="l">
              <a:defRPr sz="2300" b="1">
                <a:solidFill>
                  <a:srgbClr val="000000"/>
                </a:solidFill>
                <a:latin typeface="Times New Roman"/>
                <a:ea typeface="Times New Roman"/>
                <a:cs typeface="Times New Roman"/>
              </a:defRPr>
            </a:lvl7pPr>
            <a:lvl8pPr algn="l">
              <a:defRPr sz="2300" b="1">
                <a:solidFill>
                  <a:srgbClr val="000000"/>
                </a:solidFill>
                <a:latin typeface="Times New Roman"/>
                <a:ea typeface="Times New Roman"/>
                <a:cs typeface="Times New Roman"/>
              </a:defRPr>
            </a:lvl8pPr>
            <a:lvl9pPr algn="l">
              <a:defRPr sz="2300" b="1">
                <a:solidFill>
                  <a:srgbClr val="000000"/>
                </a:solidFill>
                <a:latin typeface="Times New Roman"/>
                <a:ea typeface="Times New Roman"/>
                <a:cs typeface="Times New Roman"/>
              </a:defRPr>
            </a:lvl9pPr>
          </a:lstStyle>
          <a:p xmlns:a="http://schemas.openxmlformats.org/drawingml/2006/main">
            <a:pPr algn="l">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Live demonstration</a:t>
            </a:r>
          </a:p>
        </p:txBody>
      </p:sp>
      <p:sp>
        <p:nvSpPr>
          <p:cNvPr id="7" name="1. Check the dataset manifest and monthly spl">
            <a:extLst xmlns:a="http://schemas.openxmlformats.org/drawingml/2006/main">
              <a:ext uri="{FF2B5EF4-FFF2-40B4-BE49-F238E27FC236}">
                <a16:creationId xmlns:a16="http://schemas.microsoft.com/office/drawing/2014/main" id="{83F7610E-D039-4210-AE9C-0257C42B8C7B}"/>
              </a:ext>
            </a:extLst>
          </p:cNvPr>
          <p:cNvSpPr>
            <a:spLocks xmlns:a="http://schemas.openxmlformats.org/drawingml/2006/main" noGrp="1"/>
          </p:cNvSpPr>
          <p:nvPr/>
        </p:nvSpPr>
        <p:spPr>
          <a:xfrm xmlns:a="http://schemas.openxmlformats.org/drawingml/2006/main">
            <a:off x="838200" y="5048250"/>
            <a:ext cx="1051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000000"/>
                </a:solidFill>
                <a:latin typeface="Times New Roman"/>
                <a:ea typeface="Times New Roman"/>
                <a:cs typeface="Times New Roman"/>
              </a:defRPr>
            </a:defPPr>
            <a:lvl1pPr algn="l">
              <a:defRPr sz="2100" b="0">
                <a:solidFill>
                  <a:srgbClr val="000000"/>
                </a:solidFill>
                <a:latin typeface="Times New Roman"/>
                <a:ea typeface="Times New Roman"/>
                <a:cs typeface="Times New Roman"/>
              </a:defRPr>
            </a:lvl1pPr>
            <a:lvl2pPr algn="l">
              <a:defRPr sz="2100" b="0">
                <a:solidFill>
                  <a:srgbClr val="000000"/>
                </a:solidFill>
                <a:latin typeface="Times New Roman"/>
                <a:ea typeface="Times New Roman"/>
                <a:cs typeface="Times New Roman"/>
              </a:defRPr>
            </a:lvl2pPr>
            <a:lvl3pPr algn="l">
              <a:defRPr sz="2100" b="0">
                <a:solidFill>
                  <a:srgbClr val="000000"/>
                </a:solidFill>
                <a:latin typeface="Times New Roman"/>
                <a:ea typeface="Times New Roman"/>
                <a:cs typeface="Times New Roman"/>
              </a:defRPr>
            </a:lvl3pPr>
            <a:lvl4pPr algn="l">
              <a:defRPr sz="2100" b="0">
                <a:solidFill>
                  <a:srgbClr val="000000"/>
                </a:solidFill>
                <a:latin typeface="Times New Roman"/>
                <a:ea typeface="Times New Roman"/>
                <a:cs typeface="Times New Roman"/>
              </a:defRPr>
            </a:lvl4pPr>
            <a:lvl5pPr algn="l">
              <a:defRPr sz="2100" b="0">
                <a:solidFill>
                  <a:srgbClr val="000000"/>
                </a:solidFill>
                <a:latin typeface="Times New Roman"/>
                <a:ea typeface="Times New Roman"/>
                <a:cs typeface="Times New Roman"/>
              </a:defRPr>
            </a:lvl5pPr>
            <a:lvl6pPr algn="l">
              <a:defRPr sz="2100" b="0">
                <a:solidFill>
                  <a:srgbClr val="000000"/>
                </a:solidFill>
                <a:latin typeface="Times New Roman"/>
                <a:ea typeface="Times New Roman"/>
                <a:cs typeface="Times New Roman"/>
              </a:defRPr>
            </a:lvl6pPr>
            <a:lvl7pPr algn="l">
              <a:defRPr sz="2100" b="0">
                <a:solidFill>
                  <a:srgbClr val="000000"/>
                </a:solidFill>
                <a:latin typeface="Times New Roman"/>
                <a:ea typeface="Times New Roman"/>
                <a:cs typeface="Times New Roman"/>
              </a:defRPr>
            </a:lvl7pPr>
            <a:lvl8pPr algn="l">
              <a:defRPr sz="2100" b="0">
                <a:solidFill>
                  <a:srgbClr val="000000"/>
                </a:solidFill>
                <a:latin typeface="Times New Roman"/>
                <a:ea typeface="Times New Roman"/>
                <a:cs typeface="Times New Roman"/>
              </a:defRPr>
            </a:lvl8pPr>
            <a:lvl9pPr algn="l">
              <a:defRPr sz="2100" b="0">
                <a:solidFill>
                  <a:srgbClr val="000000"/>
                </a:solidFill>
                <a:latin typeface="Times New Roman"/>
                <a:ea typeface="Times New Roman"/>
                <a:cs typeface="Times New Roman"/>
              </a:defRPr>
            </a:lvl9pPr>
          </a:lstStyle>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1. Check the dataset manifest and monthly split.</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2. Show drift, coupling and the model-update decisions.</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3. Compare saved results and run the automated tests.</a:t>
            </a:r>
          </a:p>
        </p:txBody>
      </p:sp>
      <p:sp>
        <p:nvSpPr>
          <p:cNvPr id="8" name="github.com/sani3055/DriftDetection">
            <a:extLst xmlns:a="http://schemas.openxmlformats.org/drawingml/2006/main">
              <a:ext uri="{FF2B5EF4-FFF2-40B4-BE49-F238E27FC236}">
                <a16:creationId xmlns:a16="http://schemas.microsoft.com/office/drawing/2014/main" id="{827BB00A-3464-457C-ABCA-11D459DE507F}"/>
              </a:ext>
            </a:extLst>
          </p:cNvPr>
          <p:cNvSpPr>
            <a:spLocks xmlns:a="http://schemas.openxmlformats.org/drawingml/2006/main" noGrp="1"/>
          </p:cNvSpPr>
          <p:nvPr/>
        </p:nvSpPr>
        <p:spPr>
          <a:xfrm xmlns:a="http://schemas.openxmlformats.org/drawingml/2006/main">
            <a:off x="838200" y="6019800"/>
            <a:ext cx="10515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000000"/>
                </a:solidFill>
                <a:latin typeface="Times New Roman"/>
                <a:ea typeface="Times New Roman"/>
                <a:cs typeface="Times New Roman"/>
              </a:defRPr>
            </a:defPPr>
            <a:lvl1pPr algn="l">
              <a:defRPr sz="1800" b="0">
                <a:solidFill>
                  <a:srgbClr val="000000"/>
                </a:solidFill>
                <a:latin typeface="Times New Roman"/>
                <a:ea typeface="Times New Roman"/>
                <a:cs typeface="Times New Roman"/>
              </a:defRPr>
            </a:lvl1pPr>
            <a:lvl2pPr algn="l">
              <a:defRPr sz="1800" b="0">
                <a:solidFill>
                  <a:srgbClr val="000000"/>
                </a:solidFill>
                <a:latin typeface="Times New Roman"/>
                <a:ea typeface="Times New Roman"/>
                <a:cs typeface="Times New Roman"/>
              </a:defRPr>
            </a:lvl2pPr>
            <a:lvl3pPr algn="l">
              <a:defRPr sz="1800" b="0">
                <a:solidFill>
                  <a:srgbClr val="000000"/>
                </a:solidFill>
                <a:latin typeface="Times New Roman"/>
                <a:ea typeface="Times New Roman"/>
                <a:cs typeface="Times New Roman"/>
              </a:defRPr>
            </a:lvl3pPr>
            <a:lvl4pPr algn="l">
              <a:defRPr sz="1800" b="0">
                <a:solidFill>
                  <a:srgbClr val="000000"/>
                </a:solidFill>
                <a:latin typeface="Times New Roman"/>
                <a:ea typeface="Times New Roman"/>
                <a:cs typeface="Times New Roman"/>
              </a:defRPr>
            </a:lvl4pPr>
            <a:lvl5pPr algn="l">
              <a:defRPr sz="1800" b="0">
                <a:solidFill>
                  <a:srgbClr val="000000"/>
                </a:solidFill>
                <a:latin typeface="Times New Roman"/>
                <a:ea typeface="Times New Roman"/>
                <a:cs typeface="Times New Roman"/>
              </a:defRPr>
            </a:lvl5pPr>
            <a:lvl6pPr algn="l">
              <a:defRPr sz="1800" b="0">
                <a:solidFill>
                  <a:srgbClr val="000000"/>
                </a:solidFill>
                <a:latin typeface="Times New Roman"/>
                <a:ea typeface="Times New Roman"/>
                <a:cs typeface="Times New Roman"/>
              </a:defRPr>
            </a:lvl6pPr>
            <a:lvl7pPr algn="l">
              <a:defRPr sz="1800" b="0">
                <a:solidFill>
                  <a:srgbClr val="000000"/>
                </a:solidFill>
                <a:latin typeface="Times New Roman"/>
                <a:ea typeface="Times New Roman"/>
                <a:cs typeface="Times New Roman"/>
              </a:defRPr>
            </a:lvl7pPr>
            <a:lvl8pPr algn="l">
              <a:defRPr sz="1800" b="0">
                <a:solidFill>
                  <a:srgbClr val="000000"/>
                </a:solidFill>
                <a:latin typeface="Times New Roman"/>
                <a:ea typeface="Times New Roman"/>
                <a:cs typeface="Times New Roman"/>
              </a:defRPr>
            </a:lvl8pPr>
            <a:lvl9pPr algn="l">
              <a:defRPr sz="1800" b="0">
                <a:solidFill>
                  <a:srgbClr val="000000"/>
                </a:solidFill>
                <a:latin typeface="Times New Roman"/>
                <a:ea typeface="Times New Roman"/>
                <a:cs typeface="Times New Roman"/>
              </a:defRPr>
            </a:lvl9pPr>
          </a:lstStyle>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github.com/sani3055/DriftDetection</a:t>
            </a:r>
          </a:p>
        </p:txBody>
      </p:sp>
    </p:spTree>
    <p:extLst>
      <p:ext uri="{BB962C8B-B14F-4D97-AF65-F5344CB8AC3E}">
        <p14:creationId xmlns:p14="http://schemas.microsoft.com/office/powerpoint/2010/main" val="407157071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7CFC0C65-61CC-E657-43F7-99C8E5362448}"/>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References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5ADC2F58-5427-4683-8CD2-6CDAA11AE973}"/>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948607D5-727B-4391-BEA0-DE1BDC45F9E6}"/>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15">
            <a:extLst xmlns:a="http://schemas.openxmlformats.org/drawingml/2006/main">
              <a:ext uri="{FF2B5EF4-FFF2-40B4-BE49-F238E27FC236}">
                <a16:creationId xmlns:a16="http://schemas.microsoft.com/office/drawing/2014/main" id="{9E08D499-0C0D-4B87-B22C-C49E1260FB80}"/>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15</a:t>
            </a:r>
          </a:p>
        </p:txBody>
      </p:sp>
      <p:sp>
        <p:nvSpPr>
          <p:cNvPr id="8" name="">
            <a:extLst xmlns:a="http://schemas.openxmlformats.org/drawingml/2006/main">
              <a:ext uri="{FF2B5EF4-FFF2-40B4-BE49-F238E27FC236}">
                <a16:creationId xmlns:a16="http://schemas.microsoft.com/office/drawing/2014/main" id="{029766EB-572A-46CB-AE83-0D5ADDA6FC58}"/>
              </a:ext>
            </a:extLst>
          </p:cNvPr>
          <p:cNvSpPr>
            <a:spLocks xmlns:a="http://schemas.openxmlformats.org/drawingml/2006/main" noGrp="1"/>
          </p:cNvSpPr>
          <p:nvPr/>
        </p:nvSpPr>
        <p:spPr>
          <a:xfrm xmlns:a="http://schemas.openxmlformats.org/drawingml/2006/main">
            <a:off x="838200" y="1638300"/>
            <a:ext cx="105156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[1] Liu, Ting and Zhou. Isolation Forest. IEEE ICDM, 2008.</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[2] Lundberg and Lee. A Unified Approach to Interpreting Model Predictions. NeurIPS, 2017.</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[3] Sethi and Kantardzic. Reliable detection of concept drift from unlabelled data. ESWA, 2017.</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[4] Kuppa and Le-Khac. Learn to Adapt: Robust Drift Detection in Security Domain. C&amp;EE, 2022.</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[5] Han et al. Normality Shift Detection, Explanation and Adaptation. NDSS, 2023.</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[6] Lee et al. Explainable model drift detection in unsupervised settings. CMC, 2023.</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[7] Li et al. Concept Drift Adaptation by Exploiting Drift Type. ACM TKDD, 2024.</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[8] Varma and Ramya. An Explainable ML and LLM Framework for CloudTrail Logs. ICNGN, 2025.</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[9] AWS CloudTrail and SageMaker feature-attribution documentation.</a:t>
            </a:r>
          </a:p>
        </p:txBody>
      </p:sp>
    </p:spTree>
    <p:extLst>
      <p:ext uri="{BB962C8B-B14F-4D97-AF65-F5344CB8AC3E}">
        <p14:creationId xmlns:p14="http://schemas.microsoft.com/office/powerpoint/2010/main" val="351052624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2026-10-27T05:46:38.1760000Z</dcterms:created>
  <dcterms:modified xsi:type="dcterms:W3CDTF">2026-10-27T05:46:38.1760000Z</dcterms:modified>
</coreProperties>
</file>