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dd09c2b5284228" /><Relationship Type="http://schemas.openxmlformats.org/officeDocument/2006/relationships/extended-properties" Target="/docProps/app.xml" Id="R0bf3c231ec114010" /><Relationship Type="http://schemas.openxmlformats.org/officeDocument/2006/relationships/officeDocument" Target="/ppt/presentation.xml" Id="R06697228ce5241d4" /></Relationships>
</file>

<file path=ppt/presentation.xml><?xml version="1.0" encoding="utf-8"?>
<p:presentation xmlns:p="http://schemas.openxmlformats.org/presentationml/2006/main">
  <p:sldMasterIdLst>
    <p:sldMasterId xmlns:r="http://schemas.openxmlformats.org/officeDocument/2006/relationships" id="2147483648" r:id="R23e83c8bc7fc4fcb"/>
  </p:sldMasterIdLst>
  <p:notesMasterIdLst>
    <p:notesMasterId xmlns:r="http://schemas.openxmlformats.org/officeDocument/2006/relationships" r:id="Rc0520559fc9a41d2"/>
  </p:notesMasterIdLst>
  <p:sldIdLst>
    <p:sldId xmlns:r="http://schemas.openxmlformats.org/officeDocument/2006/relationships" id="256" r:id="R910968d6f4564bb0"/>
    <p:sldId xmlns:r="http://schemas.openxmlformats.org/officeDocument/2006/relationships" id="257" r:id="R7ed142b00ab9416d"/>
    <p:sldId xmlns:r="http://schemas.openxmlformats.org/officeDocument/2006/relationships" id="258" r:id="R3f98265bb75f49e9"/>
    <p:sldId xmlns:r="http://schemas.openxmlformats.org/officeDocument/2006/relationships" id="259" r:id="Ra84ef63923144f4d"/>
    <p:sldId xmlns:r="http://schemas.openxmlformats.org/officeDocument/2006/relationships" id="260" r:id="Rb02f18e8e2364b6b"/>
    <p:sldId xmlns:r="http://schemas.openxmlformats.org/officeDocument/2006/relationships" id="261" r:id="R6fffb408df7b44d3"/>
    <p:sldId xmlns:r="http://schemas.openxmlformats.org/officeDocument/2006/relationships" id="262" r:id="R00435c673f9448b6"/>
    <p:sldId xmlns:r="http://schemas.openxmlformats.org/officeDocument/2006/relationships" id="263" r:id="R34f34bcb0f714f71"/>
    <p:sldId xmlns:r="http://schemas.openxmlformats.org/officeDocument/2006/relationships" id="264" r:id="R77d936cafa5f4ea0"/>
    <p:sldId xmlns:r="http://schemas.openxmlformats.org/officeDocument/2006/relationships" id="265" r:id="R153e4c585c7d4d5f"/>
    <p:sldId xmlns:r="http://schemas.openxmlformats.org/officeDocument/2006/relationships" id="266" r:id="R6e693525adcd4bcf"/>
    <p:sldId xmlns:r="http://schemas.openxmlformats.org/officeDocument/2006/relationships" id="267" r:id="R12c0c64c0adf4c32"/>
    <p:sldId xmlns:r="http://schemas.openxmlformats.org/officeDocument/2006/relationships" id="268" r:id="Re925a1692fc84c99"/>
    <p:sldId xmlns:r="http://schemas.openxmlformats.org/officeDocument/2006/relationships" id="269" r:id="Rc3e1909d743b4308"/>
    <p:sldId xmlns:r="http://schemas.openxmlformats.org/officeDocument/2006/relationships" id="270" r:id="Ra0206f04c6bf4264"/>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13b900f1f2f4df7" /><Relationship Type="http://schemas.openxmlformats.org/officeDocument/2006/relationships/slideMaster" Target="/ppt/slideMasters/slideMaster1.xml" Id="R23e83c8bc7fc4fcb" /><Relationship Type="http://schemas.openxmlformats.org/officeDocument/2006/relationships/notesMaster" Target="/ppt/notesMasters/notesMaster1.xml" Id="Rc0520559fc9a41d2" /><Relationship Type="http://schemas.openxmlformats.org/officeDocument/2006/relationships/presProps" Target="/ppt/presProps.xml" Id="Re98e555c10554274" /><Relationship Type="http://schemas.openxmlformats.org/officeDocument/2006/relationships/viewProps" Target="/ppt/viewProps.xml" Id="R1885bc0a5a66481f" /><Relationship Type="http://schemas.openxmlformats.org/officeDocument/2006/relationships/tableStyles" Target="/ppt/tableStyles.xml" Id="R0df10c2fac434b94" /><Relationship Type="http://schemas.openxmlformats.org/officeDocument/2006/relationships/slide" Target="/ppt/slides/slide1.xml" Id="R910968d6f4564bb0" /><Relationship Type="http://schemas.openxmlformats.org/officeDocument/2006/relationships/slide" Target="/ppt/slides/slide2.xml" Id="R7ed142b00ab9416d" /><Relationship Type="http://schemas.openxmlformats.org/officeDocument/2006/relationships/slide" Target="/ppt/slides/slide3.xml" Id="R3f98265bb75f49e9" /><Relationship Type="http://schemas.openxmlformats.org/officeDocument/2006/relationships/slide" Target="/ppt/slides/slide4.xml" Id="Ra84ef63923144f4d" /><Relationship Type="http://schemas.openxmlformats.org/officeDocument/2006/relationships/slide" Target="/ppt/slides/slide5.xml" Id="Rb02f18e8e2364b6b" /><Relationship Type="http://schemas.openxmlformats.org/officeDocument/2006/relationships/slide" Target="/ppt/slides/slide6.xml" Id="R6fffb408df7b44d3" /><Relationship Type="http://schemas.openxmlformats.org/officeDocument/2006/relationships/slide" Target="/ppt/slides/slide7.xml" Id="R00435c673f9448b6" /><Relationship Type="http://schemas.openxmlformats.org/officeDocument/2006/relationships/slide" Target="/ppt/slides/slide8.xml" Id="R34f34bcb0f714f71" /><Relationship Type="http://schemas.openxmlformats.org/officeDocument/2006/relationships/slide" Target="/ppt/slides/slide9.xml" Id="R77d936cafa5f4ea0" /><Relationship Type="http://schemas.openxmlformats.org/officeDocument/2006/relationships/slide" Target="/ppt/slides/slide10.xml" Id="R153e4c585c7d4d5f" /><Relationship Type="http://schemas.openxmlformats.org/officeDocument/2006/relationships/slide" Target="/ppt/slides/slide11.xml" Id="R6e693525adcd4bcf" /><Relationship Type="http://schemas.openxmlformats.org/officeDocument/2006/relationships/slide" Target="/ppt/slides/slide12.xml" Id="R12c0c64c0adf4c32" /><Relationship Type="http://schemas.openxmlformats.org/officeDocument/2006/relationships/slide" Target="/ppt/slides/slide13.xml" Id="Re925a1692fc84c99" /><Relationship Type="http://schemas.openxmlformats.org/officeDocument/2006/relationships/slide" Target="/ppt/slides/slide14.xml" Id="Rc3e1909d743b4308" /><Relationship Type="http://schemas.openxmlformats.org/officeDocument/2006/relationships/slide" Target="/ppt/slides/slide15.xml" Id="Ra0206f04c6bf42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85b1aec9434d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78605cb0e74f22" /><Relationship Type="http://schemas.openxmlformats.org/officeDocument/2006/relationships/notesMaster" Target="/ppt/notesMasters/notesMaster1.xml" Id="Rf3cc61ce64ca49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ce80d666a14414" /><Relationship Type="http://schemas.openxmlformats.org/officeDocument/2006/relationships/notesMaster" Target="/ppt/notesMasters/notesMaster1.xml" Id="R0d022c581c2047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f3a1d6713745bc" /><Relationship Type="http://schemas.openxmlformats.org/officeDocument/2006/relationships/notesMaster" Target="/ppt/notesMasters/notesMaster1.xml" Id="R3b944e0ae2b648a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e8ee8790cf4003" /><Relationship Type="http://schemas.openxmlformats.org/officeDocument/2006/relationships/notesMaster" Target="/ppt/notesMasters/notesMaster1.xml" Id="R699dcd34e6e04b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7d01b9f3d241d5" /><Relationship Type="http://schemas.openxmlformats.org/officeDocument/2006/relationships/notesMaster" Target="/ppt/notesMasters/notesMaster1.xml" Id="R4fa72bdf1b90497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fc414f729444666" /><Relationship Type="http://schemas.openxmlformats.org/officeDocument/2006/relationships/notesMaster" Target="/ppt/notesMasters/notesMaster1.xml" Id="R0791e7b910bc4b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fc0c4361a34c3c" /><Relationship Type="http://schemas.openxmlformats.org/officeDocument/2006/relationships/notesMaster" Target="/ppt/notesMasters/notesMaster1.xml" Id="Rfb6a1e207aed47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8549b8af994f4b" /><Relationship Type="http://schemas.openxmlformats.org/officeDocument/2006/relationships/notesMaster" Target="/ppt/notesMasters/notesMaster1.xml" Id="R6606200e22a7472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f6334ccc92d4616" /><Relationship Type="http://schemas.openxmlformats.org/officeDocument/2006/relationships/notesMaster" Target="/ppt/notesMasters/notesMaster1.xml" Id="Ref73fc000d284f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ec488203b8b47f3" /><Relationship Type="http://schemas.openxmlformats.org/officeDocument/2006/relationships/notesMaster" Target="/ppt/notesMasters/notesMaster1.xml" Id="R695bd0fabda148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4832b46f0c14ade" /><Relationship Type="http://schemas.openxmlformats.org/officeDocument/2006/relationships/notesMaster" Target="/ppt/notesMasters/notesMaster1.xml" Id="Rd5847675600540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72abb05eac44de" /><Relationship Type="http://schemas.openxmlformats.org/officeDocument/2006/relationships/notesMaster" Target="/ppt/notesMasters/notesMaster1.xml" Id="Redb80953009f41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e64a2384a242cb" /><Relationship Type="http://schemas.openxmlformats.org/officeDocument/2006/relationships/notesMaster" Target="/ppt/notesMasters/notesMaster1.xml" Id="R0085ec7d4d8e43a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69b9ca2b9854dde" /><Relationship Type="http://schemas.openxmlformats.org/officeDocument/2006/relationships/notesMaster" Target="/ppt/notesMasters/notesMaster1.xml" Id="R89852f50b0bb4d8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6a764fb4f846d1" /><Relationship Type="http://schemas.openxmlformats.org/officeDocument/2006/relationships/notesMaster" Target="/ppt/notesMasters/notesMaster1.xml" Id="R71432e718748410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template requires actual guide approval. No approval email was supplied. Replace this status with the authentic email before presenting if it is available. Do not show the sample approval screenshot as proof.</a:t>
            </a:r>
          </a:p>
          <a:p xmlns:a="http://schemas.openxmlformats.org/drawingml/2006/main">
            <a:r>
              <a:t/>
            </a:r>
          </a:p>
          <a:p xmlns:a="http://schemas.openxmlformats.org/drawingml/2006/main">
            <a:r>
              <a:t>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Drift means that data changes over time. Adaptation means updating or retraining the detector. The method uses available observations and model explanations, while labels remain part of evaluation.</a:t>
            </a:r>
          </a:p>
          <a:p xmlns:a="http://schemas.openxmlformats.org/drawingml/2006/main">
            <a:r>
              <a:t/>
            </a:r>
          </a:p>
          <a:p xmlns:a="http://schemas.openxmlformats.org/drawingml/2006/main">
            <a:r>
              <a:t>Sources: docs/research_gap.md; docs/capstone_report_content.md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has 18 columns and 45 monthly windows. The calendar split is 27 training, 9 validation and 9 test months. Controlled scenario validation/test seeds are a different protocol from those calendar partitions. Real-data findings are observational.</a:t>
            </a:r>
          </a:p>
          <a:p xmlns:a="http://schemas.openxmlformats.org/drawingml/2006/main">
            <a:r>
              <a:t/>
            </a:r>
          </a:p>
          <a:p xmlns:a="http://schemas.openxmlformats.org/drawingml/2006/main">
            <a:r>
              <a:t>Sources: data_manifest/real_cloudtrail_manifest.json; data/processed/temporal_split.json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literature only. This is not a claim that the separate 100-record PRISMA collection is a completed systematic review. Sethi and Kantardzic DOI 10.1016/j.eswa.2017.04.008; Han et al. DOI 10.14722/ndss.2023.24830; Lee et al. DOI 10.32604/cmc.2023.040235; Varma and Ramya DOI 10.1109/ICNGN67480.2025.11413642.</a:t>
            </a:r>
          </a:p>
          <a:p xmlns:a="http://schemas.openxmlformats.org/drawingml/2006/main">
            <a:r>
              <a:t/>
            </a:r>
          </a:p>
          <a:p xmlns:a="http://schemas.openxmlformats.org/drawingml/2006/main">
            <a:r>
              <a:t>Sources: docs/literature_matrix.csv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Coupling is cosine similarity between per-feature PSI and absolute SHAP displacement on five shared categorical features. A conservative variant also uses centred alignment. These mathematical tools are established. The contribution is their CloudTrail-specific integration and evaluation. High coupling does not confirm an attack. Current controlled results are neutral relative to the simpler dual rule.</a:t>
            </a:r>
          </a:p>
          <a:p xmlns:a="http://schemas.openxmlformats.org/drawingml/2006/main">
            <a:r>
              <a:t/>
            </a:r>
          </a:p>
          <a:p xmlns:a="http://schemas.openxmlformats.org/drawingml/2006/main">
            <a:r>
              <a:t>Sources: docs/attribution_feature_coupling.md; src/drift/drift_monitor.py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SDG links describe the project’s intended relevance, not measured social impact. The capstone outcome is a working research prototype, code, evaluation artifacts and report.</a:t>
            </a:r>
          </a:p>
          <a:p xmlns:a="http://schemas.openxmlformats.org/drawingml/2006/main">
            <a:r>
              <a:t/>
            </a:r>
          </a:p>
          <a:p xmlns:a="http://schemas.openxmlformats.org/drawingml/2006/main">
            <a:r>
              <a:t>Sources: docs/capstone_report_content.md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produces detector and explanation evidence. The lower row measures changes and applies the selected update rule. The pipeline is offline and does not change IAM policies or deploy AWS resources. A protected update uses replay data plus baseline-normal candidates, with a minimum candidate count of 10. Each controlled run starts from the baseline, rather than a persistent online model.</a:t>
            </a:r>
          </a:p>
          <a:p xmlns:a="http://schemas.openxmlformats.org/drawingml/2006/main">
            <a:r>
              <a:t/>
            </a:r>
          </a:p>
          <a:p xmlns:a="http://schemas.openxmlformats.org/drawingml/2006/main">
            <a:r>
              <a:t>Sources: src/adaptation/controller.py; scripts/run_all.py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seven detector inputs are eventName, eventSource, awsRegion, userIdentitytype, errorCode, requestParametersinstanceType and derived isRoot. Unknown categorical values map to -1. The main export has month-level time, limiting event-sequence analysis.</a:t>
            </a:r>
          </a:p>
          <a:p xmlns:a="http://schemas.openxmlformats.org/drawingml/2006/main">
            <a:r>
              <a:t/>
            </a:r>
          </a:p>
          <a:p xmlns:a="http://schemas.openxmlformats.org/drawingml/2006/main">
            <a:r>
              <a:t>Sources: src/features/event_features.py; configs/model.yaml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modules: src/features/event_features.py; src/explain/shap_explainer.py; src/drift/drift_monitor.py; src/drift/diagnosis.py; src/adaptation/controller.py; src/evaluation/metrics.py. This slide describes the current repository rather than the earlier cloud-remediation backend.</a:t>
            </a:r>
          </a:p>
          <a:p xmlns:a="http://schemas.openxmlformats.org/drawingml/2006/main">
            <a:r>
              <a:t/>
            </a:r>
          </a:p>
          <a:p xmlns:a="http://schemas.openxmlformats.org/drawingml/2006/main">
            <a:r>
              <a:t>Sources: src;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Controlled benchmark only: 7 scenario families times 10 held-out seeds gives 70 paired scenario-seed units per policy. Five separate validation seeds tune thresholds. Dual validation diagnosis macro-F1 is 0.7306. The paired dual-minus-static FPR difference is -0.088478, 95% CI [-0.127232,-0.056106], BH q=0.000434. Paired F1 difference is -0.002796 with CI [-0.018096,0.011245]. The interval crosses zero. Unnecessary update rate uses all evaluated runs as denominator. Coupling and SHAP-only match dual under current settings, including the conservative-coupling ablation. These are not attack metrics on the primary unlabelled corpus.</a:t>
            </a:r>
          </a:p>
          <a:p xmlns:a="http://schemas.openxmlformats.org/drawingml/2006/main">
            <a:r>
              <a:t/>
            </a:r>
          </a:p>
          <a:p xmlns:a="http://schemas.openxmlformats.org/drawingml/2006/main">
            <a:r>
              <a:t>Sources: results/adaptation_summary.csv; results/paired_inference.csv; data/benchmark/diagnosis_thresholds.json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two evaluation units separate. Detector-only evaluation uses 16,495 benign training and 24,087 mixed test records (2,585 attack-labelled, 21,502 benign). The temporal checkpoint uses 12 scenario windows, including 10 security and 2 benign windows. Feature-only, SHAP-only and dual match. Source coupling transferred poorly. Unsupervised largest-gap calibration selects 0.4990795305 from target conservative scores after source-locked feature/SHAP gates. It uses the evaluated target batch, so this is exploratory transductive calibration, not prospective validation or full post-adaptation recovery.</a:t>
            </a:r>
          </a:p>
          <a:p xmlns:a="http://schemas.openxmlformats.org/drawingml/2006/main">
            <a:r>
              <a:t/>
            </a:r>
          </a:p>
          <a:p xmlns:a="http://schemas.openxmlformats.org/drawingml/2006/main">
            <a:r>
              <a:t>Sources: data/external_validation/external_validation_manifest.json; data/external_validation/external_detector_metrics.csv; data/external_validation/external_temporal_diagnosis_metrics.json; docs/unsupervised_transfer_calibration.md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coupling superiority or general reliability from the current results. The primary corpus has no attack labels. Controlled perturbations and target-batch calibration have specific limitations. Future work includes consistent derived features, matched-size refits and independent temporal recovery.</a:t>
            </a:r>
          </a:p>
          <a:p xmlns:a="http://schemas.openxmlformats.org/drawingml/2006/main">
            <a:r>
              <a:t/>
            </a:r>
          </a:p>
          <a:p xmlns:a="http://schemas.openxmlformats.org/drawingml/2006/main">
            <a:r>
              <a:t>Sources: LIMITATIONS.md; docs/next_experiments.md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Demonstration path: manifest and temporal split; model feature contract; score and SHAP samples; monthly drift and coupling CSVs; controlled diagnosis and adaptation rows; independent transfer metrics. Commands: python scripts/run_all.py; python scripts/run_external_temporal_diagnosis.py; python -m pytest tests -q. A fresh run on 27 October 2026 passed all 28 tests. The source CSV is external and required for full regeneration. A 100-record literature collection is not a finished PRISMA review. Publication, patent, outcome-form submission and supervisor approval are not established by this presentation.</a:t>
            </a:r>
          </a:p>
          <a:p xmlns:a="http://schemas.openxmlformats.org/drawingml/2006/main">
            <a:r>
              <a:t/>
            </a:r>
          </a:p>
          <a:p xmlns:a="http://schemas.openxmlformats.org/drawingml/2006/main">
            <a:r>
              <a:t>Sources: docs/final_validation.md; README.md; outputs/BCSE497J_Capstone_Report_Final.docx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sources: [1] https://doi.org/10.1109/ICDM.2008.17 [2] https://proceedings.neurips.cc/paper_files/paper/2017/hash/8a20a8621978632d76c43dfd28b67767-Abstract.html [3] https://doi.org/10.1016/j.eswa.2017.04.008 [4] https://doi.org/10.14722/ndss.2023.24830 [5] https://doi.org/10.32604/cmc.2023.040235 [6] https://docs.aws.amazon.com/awscloudtrail/latest/userguide/cloudtrail-events.html and https://docs.aws.amazon.com/sagemaker/latest/dg/clarify-model-monitor-feature-attribution-drift.html. Slide literature also uses Varma and Ramya: https://doi.org/10.1109/ICNGN67480.2025.11413642.</a:t>
            </a:r>
          </a:p>
          <a:p xmlns:a="http://schemas.openxmlformats.org/drawingml/2006/main">
            <a:r>
              <a:t/>
            </a:r>
          </a:p>
          <a:p xmlns:a="http://schemas.openxmlformats.org/drawingml/2006/main">
            <a:r>
              <a:t>Sources: docs/literature_matrix.csv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02755f72134a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8f8271051914e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d57e25a3624cd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ca040700c644c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aec82061ba464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535b86970ab4b3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02781a2baff438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833b940df42423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1af6d41d632408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07b825a3d77438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5adc7ab906444b3"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42592BF-19BE-9BF0-E2FC-07A36D054E1D}"/>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383AB4F9-CBB3-B18D-E917-C3B06418676D}"/>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F50F18A0-E201-1900-A139-E830DD3EA1D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F3E78AE-7F97-4550-9DD8-BF69171FDC30}" type="datetime1">
              <a:t>05/10/26</a:t>
            </a:fld>
            <a:endParaRPr/>
          </a:p>
        </p:txBody>
      </p:sp>
      <p:sp>
        <p:nvSpPr>
          <p:cNvPr id="5" name="Footer Placeholder 4">
            <a:extLst xmlns:a="http://schemas.openxmlformats.org/drawingml/2006/main">
              <a:ext uri="{FF2B5EF4-FFF2-40B4-BE49-F238E27FC236}">
                <a16:creationId xmlns:a16="http://schemas.microsoft.com/office/drawing/2014/main" id="{ED0906B9-B1F6-B52E-2EE0-7595B1EBF0F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97A13AE1-F96E-D540-8DE1-8D903DB30C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532F7EA-3EC9-99AF-13A9-22A3F8B2D21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C71419B-73DB-15DA-D2EE-0FC01B435F2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B080259-8D20-E29B-4DC5-312C3DB01B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EA886FF-1BA7-4533-94E6-869CE1E2970B}" type="datetime1">
              <a:t>05/10/26</a:t>
            </a:fld>
            <a:endParaRPr/>
          </a:p>
        </p:txBody>
      </p:sp>
      <p:sp>
        <p:nvSpPr>
          <p:cNvPr id="5" name="Footer Placeholder 4">
            <a:extLst xmlns:a="http://schemas.openxmlformats.org/drawingml/2006/main">
              <a:ext uri="{FF2B5EF4-FFF2-40B4-BE49-F238E27FC236}">
                <a16:creationId xmlns:a16="http://schemas.microsoft.com/office/drawing/2014/main" id="{E101830E-3502-194A-88FA-DC3E0F1B30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ECF6703C-229C-43C6-0484-38EC263AD4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0CE344-6494-09A6-A5E4-811EEE0CD2A0}"/>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351A0E2-2B9B-B96E-A3FD-0B26BDDBEB4D}"/>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767CE67-8E8A-4D0D-42DF-DDC842B1B1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93E22BD8-A2C4-424B-809A-C64DDCC305D9}" type="datetime1">
              <a:t>05/10/26</a:t>
            </a:fld>
            <a:endParaRPr/>
          </a:p>
        </p:txBody>
      </p:sp>
      <p:sp>
        <p:nvSpPr>
          <p:cNvPr id="5" name="Footer Placeholder 4">
            <a:extLst xmlns:a="http://schemas.openxmlformats.org/drawingml/2006/main">
              <a:ext uri="{FF2B5EF4-FFF2-40B4-BE49-F238E27FC236}">
                <a16:creationId xmlns:a16="http://schemas.microsoft.com/office/drawing/2014/main" id="{73A78C3E-C139-1FD1-979B-D71679959D2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9932F297-889B-B694-6DD5-92F8A6AAFF7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792C89C-FEA2-11F6-7988-ADD14A7B22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0E5DE7B-A406-1142-36EA-1C1498740235}"/>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D4355A2B-361E-86CB-ABBE-C510D2B2215F}"/>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50DA5E84-A1E0-A1C4-F7E6-DA9E7B124C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20F4BC-B3A4-46AF-9AEC-8478EF1369D5}" type="datetime1">
              <a:t>05/10/26</a:t>
            </a:fld>
            <a:endParaRPr/>
          </a:p>
        </p:txBody>
      </p:sp>
      <p:sp>
        <p:nvSpPr>
          <p:cNvPr id="6" name="Footer Placeholder 5">
            <a:extLst xmlns:a="http://schemas.openxmlformats.org/drawingml/2006/main">
              <a:ext uri="{FF2B5EF4-FFF2-40B4-BE49-F238E27FC236}">
                <a16:creationId xmlns:a16="http://schemas.microsoft.com/office/drawing/2014/main" id="{D5DDA460-54C8-F2AC-C053-53FF3FAFCC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7" name="Slide Number Placeholder 6">
            <a:extLst xmlns:a="http://schemas.openxmlformats.org/drawingml/2006/main">
              <a:ext uri="{FF2B5EF4-FFF2-40B4-BE49-F238E27FC236}">
                <a16:creationId xmlns:a16="http://schemas.microsoft.com/office/drawing/2014/main" id="{EE6F132A-BD40-58D2-CEEC-A1BA2B9E2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05823BE-2514-8722-ED45-41E13E46B674}"/>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64BFEE3B-6ABA-1D24-97FE-717EBBC999EA}"/>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C653C42-4C6D-988F-42A0-8639A508A612}"/>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F2B662B4-F942-A78F-394F-74F6037179B2}"/>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5B445FBE-A81E-92E1-36E3-99D1586F831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B6D20C02-77C2-CB2A-62F8-60B8C62629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C9A2993-B405-4F4D-B968-A01C27211659}" type="datetime1">
              <a:t>05/10/26</a:t>
            </a:fld>
            <a:endParaRPr/>
          </a:p>
        </p:txBody>
      </p:sp>
      <p:sp>
        <p:nvSpPr>
          <p:cNvPr id="8" name="Footer Placeholder 7">
            <a:extLst xmlns:a="http://schemas.openxmlformats.org/drawingml/2006/main">
              <a:ext uri="{FF2B5EF4-FFF2-40B4-BE49-F238E27FC236}">
                <a16:creationId xmlns:a16="http://schemas.microsoft.com/office/drawing/2014/main" id="{AD033241-EB08-777E-F678-5D641F6495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9" name="Slide Number Placeholder 8">
            <a:extLst xmlns:a="http://schemas.openxmlformats.org/drawingml/2006/main">
              <a:ext uri="{FF2B5EF4-FFF2-40B4-BE49-F238E27FC236}">
                <a16:creationId xmlns:a16="http://schemas.microsoft.com/office/drawing/2014/main" id="{40D711ED-181F-C690-A3B3-1D82670FC5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77468B4-E355-69B3-7598-80ADF2F9CC1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E2F1AB3B-AFC6-3627-62E6-22313061FA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9378C8C-5FBB-4DD7-A06D-BE263480794B}" type="datetime1">
              <a:t>05/10/26</a:t>
            </a:fld>
            <a:endParaRPr/>
          </a:p>
        </p:txBody>
      </p:sp>
      <p:sp>
        <p:nvSpPr>
          <p:cNvPr id="4" name="Footer Placeholder 3">
            <a:extLst xmlns:a="http://schemas.openxmlformats.org/drawingml/2006/main">
              <a:ext uri="{FF2B5EF4-FFF2-40B4-BE49-F238E27FC236}">
                <a16:creationId xmlns:a16="http://schemas.microsoft.com/office/drawing/2014/main" id="{2B2C6591-48E4-480E-7965-DE9F830154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5" name="Slide Number Placeholder 4">
            <a:extLst xmlns:a="http://schemas.openxmlformats.org/drawingml/2006/main">
              <a:ext uri="{FF2B5EF4-FFF2-40B4-BE49-F238E27FC236}">
                <a16:creationId xmlns:a16="http://schemas.microsoft.com/office/drawing/2014/main" id="{F10C9D68-A16A-B2D3-C8A6-B5221AF744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23F289A-3AD7-C11D-1594-90A35E592B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1FD2985-06EC-459B-80C8-F6F4362A1C03}" type="datetime1">
              <a:t>05/10/26</a:t>
            </a:fld>
            <a:endParaRPr/>
          </a:p>
        </p:txBody>
      </p:sp>
      <p:sp>
        <p:nvSpPr>
          <p:cNvPr id="3" name="Footer Placeholder 2">
            <a:extLst xmlns:a="http://schemas.openxmlformats.org/drawingml/2006/main">
              <a:ext uri="{FF2B5EF4-FFF2-40B4-BE49-F238E27FC236}">
                <a16:creationId xmlns:a16="http://schemas.microsoft.com/office/drawing/2014/main" id="{8C252269-BBE3-199F-299B-38D4E9CC189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4" name="Slide Number Placeholder 3">
            <a:extLst xmlns:a="http://schemas.openxmlformats.org/drawingml/2006/main">
              <a:ext uri="{FF2B5EF4-FFF2-40B4-BE49-F238E27FC236}">
                <a16:creationId xmlns:a16="http://schemas.microsoft.com/office/drawing/2014/main" id="{F7407FDC-B2A9-1304-047F-5808A0B6B22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25A4847-FC20-D9BF-0BDE-26EC7EF7435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8D9C584-AC19-D7B4-9DFE-7C1BC2E1BCC5}"/>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2F4A3262-CE8D-2419-DCCC-C536E9FDAC37}"/>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294758D6-7AF2-29C5-E0EE-3B7BE155EC2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1D7E9DA-13C6-48A4-9305-B592482DE8CE}" type="datetime1">
              <a:t>05/10/26</a:t>
            </a:fld>
            <a:endParaRPr/>
          </a:p>
        </p:txBody>
      </p:sp>
      <p:sp>
        <p:nvSpPr>
          <p:cNvPr id="6" name="Footer Placeholder 5">
            <a:extLst xmlns:a="http://schemas.openxmlformats.org/drawingml/2006/main">
              <a:ext uri="{FF2B5EF4-FFF2-40B4-BE49-F238E27FC236}">
                <a16:creationId xmlns:a16="http://schemas.microsoft.com/office/drawing/2014/main" id="{45AAC7E7-68C4-7616-2DE1-0333E2C446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7" name="Slide Number Placeholder 6">
            <a:extLst xmlns:a="http://schemas.openxmlformats.org/drawingml/2006/main">
              <a:ext uri="{FF2B5EF4-FFF2-40B4-BE49-F238E27FC236}">
                <a16:creationId xmlns:a16="http://schemas.microsoft.com/office/drawing/2014/main" id="{5E9EF51B-1685-66FF-0783-23584C2517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939D0E-3A71-7252-C837-B8281F0DED9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AFE3D557-6893-299F-57A8-A7B173F10143}"/>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C4CC8BA2-BB08-F4E3-5660-C7370BA568C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CE57E1CE-C7CA-966D-8661-1E99A7DA217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F45E7C4B-C575-4DCF-9B63-045662930500}" type="datetime1">
              <a:t>05/10/26</a:t>
            </a:fld>
            <a:endParaRPr/>
          </a:p>
        </p:txBody>
      </p:sp>
      <p:sp>
        <p:nvSpPr>
          <p:cNvPr id="6" name="Footer Placeholder 5">
            <a:extLst xmlns:a="http://schemas.openxmlformats.org/drawingml/2006/main">
              <a:ext uri="{FF2B5EF4-FFF2-40B4-BE49-F238E27FC236}">
                <a16:creationId xmlns:a16="http://schemas.microsoft.com/office/drawing/2014/main" id="{66055516-3E64-07E5-10C5-DE056657E44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7" name="Slide Number Placeholder 6">
            <a:extLst xmlns:a="http://schemas.openxmlformats.org/drawingml/2006/main">
              <a:ext uri="{FF2B5EF4-FFF2-40B4-BE49-F238E27FC236}">
                <a16:creationId xmlns:a16="http://schemas.microsoft.com/office/drawing/2014/main" id="{AFBA5AD5-9867-E76D-C035-2856CCFBC1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E71D7EC-16EA-5009-5D33-ABFC55F2813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EB09EC6D-8ED5-29E9-9444-CC2D6A1CB8A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C1ADFC6-7CEA-ABEE-94C2-870B1E65737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576931C-EA1A-43DD-B3B3-66F5BA587712}" type="datetime1">
              <a:t>05/10/26</a:t>
            </a:fld>
            <a:endParaRPr/>
          </a:p>
        </p:txBody>
      </p:sp>
      <p:sp>
        <p:nvSpPr>
          <p:cNvPr id="5" name="Footer Placeholder 4">
            <a:extLst xmlns:a="http://schemas.openxmlformats.org/drawingml/2006/main">
              <a:ext uri="{FF2B5EF4-FFF2-40B4-BE49-F238E27FC236}">
                <a16:creationId xmlns:a16="http://schemas.microsoft.com/office/drawing/2014/main" id="{7B1FA3A5-596E-6C2A-F853-30C5DC6FBF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312CE6B1-CE87-B68F-9494-FA6D109F38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F0FF105-FC99-2BCB-131F-2B902F8BAE21}"/>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0354FD6-064F-6E12-E8DE-81EC913CDB0B}"/>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F1D2109-32D1-4A0F-F903-5142A204EF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2C9B0E1-7C95-4C20-B9C6-BA51F388E878}" type="datetime1">
              <a:t>05/10/26</a:t>
            </a:fld>
            <a:endParaRPr/>
          </a:p>
        </p:txBody>
      </p:sp>
      <p:sp>
        <p:nvSpPr>
          <p:cNvPr id="5" name="Footer Placeholder 4">
            <a:extLst xmlns:a="http://schemas.openxmlformats.org/drawingml/2006/main">
              <a:ext uri="{FF2B5EF4-FFF2-40B4-BE49-F238E27FC236}">
                <a16:creationId xmlns:a16="http://schemas.microsoft.com/office/drawing/2014/main" id="{73E5353D-EEF9-CF3C-A97F-F0F0EBFA7C5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3DF2F1DC-3958-BCDE-9A16-88E928E7E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5201FD4-9D8D-4491-815B-63C7BF4F00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c63e2e44324a2c" /><Relationship Type="http://schemas.openxmlformats.org/officeDocument/2006/relationships/slideLayout" Target="/ppt/slideLayouts/slideLayout1.xml" Id="Rdd7173055c1449ce" /><Relationship Type="http://schemas.openxmlformats.org/officeDocument/2006/relationships/slideLayout" Target="/ppt/slideLayouts/slideLayout2.xml" Id="Re356f42897064c72" /><Relationship Type="http://schemas.openxmlformats.org/officeDocument/2006/relationships/slideLayout" Target="/ppt/slideLayouts/slideLayout3.xml" Id="R5c6e49290d8a4b1c" /><Relationship Type="http://schemas.openxmlformats.org/officeDocument/2006/relationships/slideLayout" Target="/ppt/slideLayouts/slideLayout4.xml" Id="R03189be33dc44c52" /><Relationship Type="http://schemas.openxmlformats.org/officeDocument/2006/relationships/slideLayout" Target="/ppt/slideLayouts/slideLayout5.xml" Id="Rc1e6c5f5f4b3443d" /><Relationship Type="http://schemas.openxmlformats.org/officeDocument/2006/relationships/slideLayout" Target="/ppt/slideLayouts/slideLayout6.xml" Id="R7bb0313d0c7d4844" /><Relationship Type="http://schemas.openxmlformats.org/officeDocument/2006/relationships/slideLayout" Target="/ppt/slideLayouts/slideLayout7.xml" Id="R81b635479c924af9" /><Relationship Type="http://schemas.openxmlformats.org/officeDocument/2006/relationships/slideLayout" Target="/ppt/slideLayouts/slideLayout8.xml" Id="Rb632b177493449f0" /><Relationship Type="http://schemas.openxmlformats.org/officeDocument/2006/relationships/slideLayout" Target="/ppt/slideLayouts/slideLayout9.xml" Id="R6a646b1595354848" /><Relationship Type="http://schemas.openxmlformats.org/officeDocument/2006/relationships/slideLayout" Target="/ppt/slideLayouts/slideLayout10.xml" Id="Rf85f273fbb9d4502" /><Relationship Type="http://schemas.openxmlformats.org/officeDocument/2006/relationships/slideLayout" Target="/ppt/slideLayouts/slideLayout11.xml" Id="R14a22dba7f8144f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5454249-E28B-CF91-F4A6-9762E4F38B7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1E3D641-7C66-CA7D-30A7-7F95AC27EF4C}"/>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5E1D408-B228-838E-3E43-4304680A536B}"/>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43827C3E-786B-4150-9177-1C28966A2ADC}" type="datetime1">
              <a:t>05/10/26</a:t>
            </a:fld>
            <a:endParaRPr/>
          </a:p>
        </p:txBody>
      </p:sp>
      <p:sp>
        <p:nvSpPr>
          <p:cNvPr id="5" name="Footer Placeholder 4">
            <a:extLst xmlns:a="http://schemas.openxmlformats.org/drawingml/2006/main">
              <a:ext uri="{FF2B5EF4-FFF2-40B4-BE49-F238E27FC236}">
                <a16:creationId xmlns:a16="http://schemas.microsoft.com/office/drawing/2014/main" id="{DCEC7A69-1922-F157-900C-FF956683161C}"/>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SCOPE</a:t>
            </a:r>
          </a:p>
        </p:txBody>
      </p:sp>
      <p:sp>
        <p:nvSpPr>
          <p:cNvPr id="6" name="Slide Number Placeholder 5">
            <a:extLst xmlns:a="http://schemas.openxmlformats.org/drawingml/2006/main">
              <a:ext uri="{FF2B5EF4-FFF2-40B4-BE49-F238E27FC236}">
                <a16:creationId xmlns:a16="http://schemas.microsoft.com/office/drawing/2014/main" id="{51B80E76-E345-1553-9664-0BCF569B55B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65201FD4-9D8D-4491-815B-63C7BF4F0034}"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d7173055c1449ce"/>
    <p:sldLayoutId xmlns:r="http://schemas.openxmlformats.org/officeDocument/2006/relationships" id="2147483650" r:id="Re356f42897064c72"/>
    <p:sldLayoutId xmlns:r="http://schemas.openxmlformats.org/officeDocument/2006/relationships" id="2147483651" r:id="R5c6e49290d8a4b1c"/>
    <p:sldLayoutId xmlns:r="http://schemas.openxmlformats.org/officeDocument/2006/relationships" id="2147483652" r:id="R03189be33dc44c52"/>
    <p:sldLayoutId xmlns:r="http://schemas.openxmlformats.org/officeDocument/2006/relationships" id="2147483653" r:id="Rc1e6c5f5f4b3443d"/>
    <p:sldLayoutId xmlns:r="http://schemas.openxmlformats.org/officeDocument/2006/relationships" id="2147483654" r:id="R7bb0313d0c7d4844"/>
    <p:sldLayoutId xmlns:r="http://schemas.openxmlformats.org/officeDocument/2006/relationships" id="2147483655" r:id="R81b635479c924af9"/>
    <p:sldLayoutId xmlns:r="http://schemas.openxmlformats.org/officeDocument/2006/relationships" id="2147483656" r:id="Rb632b177493449f0"/>
    <p:sldLayoutId xmlns:r="http://schemas.openxmlformats.org/officeDocument/2006/relationships" id="2147483657" r:id="R6a646b1595354848"/>
    <p:sldLayoutId xmlns:r="http://schemas.openxmlformats.org/officeDocument/2006/relationships" id="2147483658" r:id="Rf85f273fbb9d4502"/>
    <p:sldLayoutId xmlns:r="http://schemas.openxmlformats.org/officeDocument/2006/relationships" id="2147483659" r:id="R14a22dba7f8144f3"/>
  </p:sldLayoutIdLst>
  <p:hf hdr="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68881cf04f4f40" /><Relationship Type="http://schemas.openxmlformats.org/officeDocument/2006/relationships/image" Target="/ppt/media/image.png" Id="R4916f9ac95944680" /><Relationship Type="http://schemas.openxmlformats.org/officeDocument/2006/relationships/notesSlide" Target="/ppt/notesSlides/notesSlide1.xml" Id="Rf4c5701ef6c043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8a73e39517e42cc" /><Relationship Type="http://schemas.openxmlformats.org/officeDocument/2006/relationships/notesSlide" Target="/ppt/notesSlides/notesSlide2.xml" Id="Rb1a222fdee1441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73483039c9a426c" /><Relationship Type="http://schemas.openxmlformats.org/officeDocument/2006/relationships/notesSlide" Target="/ppt/notesSlides/notesSlide3.xml" Id="R113f46b85d474b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f6880f52261a4e14" /><Relationship Type="http://schemas.openxmlformats.org/officeDocument/2006/relationships/notesSlide" Target="/ppt/notesSlides/notesSlide4.xml" Id="Rea6c954f06d24e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daba328ac4b485a" /><Relationship Type="http://schemas.openxmlformats.org/officeDocument/2006/relationships/notesSlide" Target="/ppt/notesSlides/notesSlide5.xml" Id="R2ea793045f444c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2e264ed3bfbf4dfc" /><Relationship Type="http://schemas.openxmlformats.org/officeDocument/2006/relationships/notesSlide" Target="/ppt/notesSlides/notesSlide6.xml" Id="Rfecc5a9a45f64bc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47e697cdb81142a5" /><Relationship Type="http://schemas.openxmlformats.org/officeDocument/2006/relationships/notesSlide" Target="/ppt/notesSlides/notesSlide7.xml" Id="R37a88ca9d35f4ea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8db7ecdeb2443b3" /><Relationship Type="http://schemas.openxmlformats.org/officeDocument/2006/relationships/notesSlide" Target="/ppt/notesSlides/notesSlide8.xml" Id="Rdb7b653cd90048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c83b3fa392c4b8a" /><Relationship Type="http://schemas.openxmlformats.org/officeDocument/2006/relationships/notesSlide" Target="/ppt/notesSlides/notesSlide9.xml" Id="R200b57dfdd9d4b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5ca650e33144487" /><Relationship Type="http://schemas.openxmlformats.org/officeDocument/2006/relationships/notesSlide" Target="/ppt/notesSlides/notesSlide10.xml" Id="Ra1e576b5fb1b4b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bd4a332ab254f8f" /><Relationship Type="http://schemas.openxmlformats.org/officeDocument/2006/relationships/notesSlide" Target="/ppt/notesSlides/notesSlide11.xml" Id="Rfe58debe82fe4b4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4311878786b457b" /><Relationship Type="http://schemas.openxmlformats.org/officeDocument/2006/relationships/notesSlide" Target="/ppt/notesSlides/notesSlide12.xml" Id="Ra126053498444e8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8dcdef1534a4c34" /><Relationship Type="http://schemas.openxmlformats.org/officeDocument/2006/relationships/notesSlide" Target="/ppt/notesSlides/notesSlide13.xml" Id="Rd5cea786255f475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f0e8cf84cf54ddb" /><Relationship Type="http://schemas.openxmlformats.org/officeDocument/2006/relationships/notesSlide" Target="/ppt/notesSlides/notesSlide14.xml" Id="Re04cbab8786349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560631ff328a499a" /><Relationship Type="http://schemas.openxmlformats.org/officeDocument/2006/relationships/notesSlide" Target="/ppt/notesSlides/notesSlide15.xml" Id="Rfddd17d2f40941d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Picture 4">
            <a:extLst xmlns:a="http://schemas.openxmlformats.org/drawingml/2006/main">
              <a:ext uri="{FF2B5EF4-FFF2-40B4-BE49-F238E27FC236}">
                <a16:creationId xmlns:a16="http://schemas.microsoft.com/office/drawing/2014/main" id="{EB0D1A9E-353F-4F26-A751-8A1D3C0255A8}"/>
              </a:ext>
            </a:extLst>
          </p:cNvPr>
          <p:cNvPicPr>
            <a:picLocks xmlns:a="http://schemas.openxmlformats.org/drawingml/2006/main" noChangeAspect="1"/>
          </p:cNvPicPr>
          <p:nvPr/>
        </p:nvPicPr>
        <p:blipFill>
          <a:blip xmlns:r="http://schemas.openxmlformats.org/officeDocument/2006/relationships" xmlns:a="http://schemas.openxmlformats.org/drawingml/2006/main" r:embed="R4916f9ac95944680"/>
          <a:stretch xmlns:a="http://schemas.openxmlformats.org/drawingml/2006/main">
            <a:fillRect l="0" t="0" r="0" b="0"/>
          </a:stretch>
        </p:blipFill>
        <p:spPr>
          <a:xfrm xmlns:a="http://schemas.openxmlformats.org/drawingml/2006/main">
            <a:off x="3837236" y="0"/>
            <a:ext cx="4517528" cy="1871634"/>
          </a:xfrm>
          <a:prstGeom xmlns:a="http://schemas.openxmlformats.org/drawingml/2006/main" prst="rect">
            <a:avLst/>
          </a:prstGeom>
        </p:spPr>
      </p:pic>
      <p:sp>
        <p:nvSpPr>
          <p:cNvPr id="6" name="B.Tech. BCSE497J Project-I&#10;SHAP-Guided Drift ">
            <a:extLst xmlns:a="http://schemas.openxmlformats.org/drawingml/2006/main">
              <a:ext uri="{FF2B5EF4-FFF2-40B4-BE49-F238E27FC236}">
                <a16:creationId xmlns:a16="http://schemas.microsoft.com/office/drawing/2014/main" id="{100ECA5F-0CE9-43C5-BE23-8CF35A47DC1E}"/>
              </a:ext>
            </a:extLst>
          </p:cNvPr>
          <p:cNvSpPr>
            <a:spLocks xmlns:a="http://schemas.openxmlformats.org/drawingml/2006/main" noGrp="1"/>
          </p:cNvSpPr>
          <p:nvPr/>
        </p:nvSpPr>
        <p:spPr>
          <a:xfrm xmlns:a="http://schemas.openxmlformats.org/drawingml/2006/main">
            <a:off x="1907477" y="1934147"/>
            <a:ext cx="8924544" cy="10895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2000" b="1">
                <a:solidFill>
                  <a:srgbClr val="000000"/>
                </a:solidFill>
                <a:latin typeface="Times New Roman"/>
                <a:ea typeface="Times New Roman"/>
                <a:cs typeface="Times New Roman"/>
              </a:defRPr>
            </a:defPPr>
            <a:lvl1pPr algn="ctr">
              <a:defRPr sz="2000" b="1">
                <a:solidFill>
                  <a:srgbClr val="000000"/>
                </a:solidFill>
                <a:latin typeface="Times New Roman"/>
                <a:ea typeface="Times New Roman"/>
                <a:cs typeface="Times New Roman"/>
              </a:defRPr>
            </a:lvl1pPr>
            <a:lvl2pPr algn="ctr">
              <a:defRPr sz="2000" b="1">
                <a:solidFill>
                  <a:srgbClr val="000000"/>
                </a:solidFill>
                <a:latin typeface="Times New Roman"/>
                <a:ea typeface="Times New Roman"/>
                <a:cs typeface="Times New Roman"/>
              </a:defRPr>
            </a:lvl2pPr>
            <a:lvl3pPr algn="ctr">
              <a:defRPr sz="2000" b="1">
                <a:solidFill>
                  <a:srgbClr val="000000"/>
                </a:solidFill>
                <a:latin typeface="Times New Roman"/>
                <a:ea typeface="Times New Roman"/>
                <a:cs typeface="Times New Roman"/>
              </a:defRPr>
            </a:lvl3pPr>
            <a:lvl4pPr algn="ctr">
              <a:defRPr sz="2000" b="1">
                <a:solidFill>
                  <a:srgbClr val="000000"/>
                </a:solidFill>
                <a:latin typeface="Times New Roman"/>
                <a:ea typeface="Times New Roman"/>
                <a:cs typeface="Times New Roman"/>
              </a:defRPr>
            </a:lvl4pPr>
            <a:lvl5pPr algn="ctr">
              <a:defRPr sz="2000" b="1">
                <a:solidFill>
                  <a:srgbClr val="000000"/>
                </a:solidFill>
                <a:latin typeface="Times New Roman"/>
                <a:ea typeface="Times New Roman"/>
                <a:cs typeface="Times New Roman"/>
              </a:defRPr>
            </a:lvl5pPr>
            <a:lvl6pPr algn="ctr">
              <a:defRPr sz="2000" b="1">
                <a:solidFill>
                  <a:srgbClr val="000000"/>
                </a:solidFill>
                <a:latin typeface="Times New Roman"/>
                <a:ea typeface="Times New Roman"/>
                <a:cs typeface="Times New Roman"/>
              </a:defRPr>
            </a:lvl6pPr>
            <a:lvl7pPr algn="ctr">
              <a:defRPr sz="2000" b="1">
                <a:solidFill>
                  <a:srgbClr val="000000"/>
                </a:solidFill>
                <a:latin typeface="Times New Roman"/>
                <a:ea typeface="Times New Roman"/>
                <a:cs typeface="Times New Roman"/>
              </a:defRPr>
            </a:lvl7pPr>
            <a:lvl8pPr algn="ctr">
              <a:defRPr sz="2000" b="1">
                <a:solidFill>
                  <a:srgbClr val="000000"/>
                </a:solidFill>
                <a:latin typeface="Times New Roman"/>
                <a:ea typeface="Times New Roman"/>
                <a:cs typeface="Times New Roman"/>
              </a:defRPr>
            </a:lvl8pPr>
            <a:lvl9pPr algn="ctr">
              <a:defRPr sz="2000" b="1">
                <a:solidFill>
                  <a:srgbClr val="000000"/>
                </a:solidFill>
                <a:latin typeface="Times New Roman"/>
                <a:ea typeface="Times New Roman"/>
                <a:cs typeface="Times New Roman"/>
              </a:defRPr>
            </a:lvl9pPr>
          </a:lstStyle>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B.Tech. BCSE497J Project-I</a:t>
            </a:r>
          </a:p>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SHAP-Guided Drift Diagnosis for Adaptive</a:t>
            </a:r>
          </a:p>
          <a:p xmlns:a="http://schemas.openxmlformats.org/drawingml/2006/main">
            <a:pPr algn="ctr">
              <a:defRPr sz="2000" b="1">
                <a:solidFill>
                  <a:srgbClr val="000000"/>
                </a:solidFill>
                <a:latin typeface="Times New Roman"/>
                <a:ea typeface="Times New Roman"/>
                <a:cs typeface="Times New Roman"/>
              </a:defRPr>
            </a:pPr>
            <a:r>
              <a:rPr sz="2000" b="1">
                <a:solidFill>
                  <a:srgbClr val="000000"/>
                </a:solidFill>
                <a:latin typeface="Times New Roman"/>
                <a:ea typeface="Times New Roman"/>
                <a:cs typeface="Times New Roman"/>
              </a:rPr>
              <a:t>Anomaly Detection in AWS CloudTrail</a:t>
            </a:r>
          </a:p>
        </p:txBody>
      </p:sp>
      <p:sp>
        <p:nvSpPr>
          <p:cNvPr id="7" name="Team member&#10;SANIDHYA BHANDARI (23BCT0029)&#10;&#10;Fa">
            <a:extLst xmlns:a="http://schemas.openxmlformats.org/drawingml/2006/main">
              <a:ext uri="{FF2B5EF4-FFF2-40B4-BE49-F238E27FC236}">
                <a16:creationId xmlns:a16="http://schemas.microsoft.com/office/drawing/2014/main" id="{E9B9F652-0F4D-4959-9C0A-8DFDE21F5324}"/>
              </a:ext>
            </a:extLst>
          </p:cNvPr>
          <p:cNvSpPr>
            <a:spLocks xmlns:a="http://schemas.openxmlformats.org/drawingml/2006/main" noGrp="1"/>
          </p:cNvSpPr>
          <p:nvPr/>
        </p:nvSpPr>
        <p:spPr>
          <a:xfrm xmlns:a="http://schemas.openxmlformats.org/drawingml/2006/main">
            <a:off x="2609088" y="3208496"/>
            <a:ext cx="7071360" cy="24607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2000" b="0">
                <a:solidFill>
                  <a:srgbClr val="000000"/>
                </a:solidFill>
                <a:latin typeface="Times New Roman"/>
                <a:ea typeface="Times New Roman"/>
                <a:cs typeface="Times New Roman"/>
              </a:defRPr>
            </a:defPPr>
            <a:lvl1pPr algn="ctr">
              <a:defRPr sz="2000" b="0">
                <a:solidFill>
                  <a:srgbClr val="000000"/>
                </a:solidFill>
                <a:latin typeface="Times New Roman"/>
                <a:ea typeface="Times New Roman"/>
                <a:cs typeface="Times New Roman"/>
              </a:defRPr>
            </a:lvl1pPr>
            <a:lvl2pPr algn="ctr">
              <a:defRPr sz="2000" b="0">
                <a:solidFill>
                  <a:srgbClr val="000000"/>
                </a:solidFill>
                <a:latin typeface="Times New Roman"/>
                <a:ea typeface="Times New Roman"/>
                <a:cs typeface="Times New Roman"/>
              </a:defRPr>
            </a:lvl2pPr>
            <a:lvl3pPr algn="ctr">
              <a:defRPr sz="2000" b="0">
                <a:solidFill>
                  <a:srgbClr val="000000"/>
                </a:solidFill>
                <a:latin typeface="Times New Roman"/>
                <a:ea typeface="Times New Roman"/>
                <a:cs typeface="Times New Roman"/>
              </a:defRPr>
            </a:lvl3pPr>
            <a:lvl4pPr algn="ctr">
              <a:defRPr sz="2000" b="0">
                <a:solidFill>
                  <a:srgbClr val="000000"/>
                </a:solidFill>
                <a:latin typeface="Times New Roman"/>
                <a:ea typeface="Times New Roman"/>
                <a:cs typeface="Times New Roman"/>
              </a:defRPr>
            </a:lvl4pPr>
            <a:lvl5pPr algn="ctr">
              <a:defRPr sz="2000" b="0">
                <a:solidFill>
                  <a:srgbClr val="000000"/>
                </a:solidFill>
                <a:latin typeface="Times New Roman"/>
                <a:ea typeface="Times New Roman"/>
                <a:cs typeface="Times New Roman"/>
              </a:defRPr>
            </a:lvl5pPr>
            <a:lvl6pPr algn="ctr">
              <a:defRPr sz="2000" b="0">
                <a:solidFill>
                  <a:srgbClr val="000000"/>
                </a:solidFill>
                <a:latin typeface="Times New Roman"/>
                <a:ea typeface="Times New Roman"/>
                <a:cs typeface="Times New Roman"/>
              </a:defRPr>
            </a:lvl6pPr>
            <a:lvl7pPr algn="ctr">
              <a:defRPr sz="2000" b="0">
                <a:solidFill>
                  <a:srgbClr val="000000"/>
                </a:solidFill>
                <a:latin typeface="Times New Roman"/>
                <a:ea typeface="Times New Roman"/>
                <a:cs typeface="Times New Roman"/>
              </a:defRPr>
            </a:lvl7pPr>
            <a:lvl8pPr algn="ctr">
              <a:defRPr sz="2000" b="0">
                <a:solidFill>
                  <a:srgbClr val="000000"/>
                </a:solidFill>
                <a:latin typeface="Times New Roman"/>
                <a:ea typeface="Times New Roman"/>
                <a:cs typeface="Times New Roman"/>
              </a:defRPr>
            </a:lvl8pPr>
            <a:lvl9pPr algn="ctr">
              <a:defRPr sz="2000" b="0">
                <a:solidFill>
                  <a:srgbClr val="000000"/>
                </a:solidFill>
                <a:latin typeface="Times New Roman"/>
                <a:ea typeface="Times New Roman"/>
                <a:cs typeface="Times New Roman"/>
              </a:defRPr>
            </a:lvl9pPr>
          </a:lstStyle>
          <a:p xmlns:a="http://schemas.openxmlformats.org/drawingml/2006/main">
            <a:pPr algn="ctr">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Team member</a:t>
            </a:r>
          </a:p>
          <a:p xmlns:a="http://schemas.openxmlformats.org/drawingml/2006/main">
            <a:pPr algn="ctr">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SANIDHYA BHANDARI (23BCT0029)</a:t>
            </a:r>
          </a:p>
          <a:p xmlns:a="http://schemas.openxmlformats.org/drawingml/2006/main">
            <a:r>
              <a:t/>
            </a:r>
          </a:p>
          <a:p xmlns:a="http://schemas.openxmlformats.org/drawingml/2006/main">
            <a:pPr algn="ctr">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Faculty guide</a:t>
            </a:r>
          </a:p>
          <a:p xmlns:a="http://schemas.openxmlformats.org/drawingml/2006/main">
            <a:pPr algn="ctr">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Dr. Badrinath N</a:t>
            </a:r>
          </a:p>
          <a:p xmlns:a="http://schemas.openxmlformats.org/drawingml/2006/main">
            <a:r>
              <a:t/>
            </a:r>
          </a:p>
          <a:p xmlns:a="http://schemas.openxmlformats.org/drawingml/2006/main">
            <a:pPr algn="ctr">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Review 3: 28 October 2026</a:t>
            </a:r>
          </a:p>
        </p:txBody>
      </p:sp>
    </p:spTree>
    <p:extLst>
      <p:ext uri="{BB962C8B-B14F-4D97-AF65-F5344CB8AC3E}">
        <p14:creationId xmlns:p14="http://schemas.microsoft.com/office/powerpoint/2010/main" val="424303681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Approval Mail From Guide">
            <a:extLst xmlns:a="http://schemas.openxmlformats.org/drawingml/2006/main">
              <a:ext uri="{FF2B5EF4-FFF2-40B4-BE49-F238E27FC236}">
                <a16:creationId xmlns:a16="http://schemas.microsoft.com/office/drawing/2014/main" id="{AA1AA6B6-FD7F-418E-9E71-19E4FAF43C36}"/>
              </a:ext>
            </a:extLst>
          </p:cNvPr>
          <p:cNvSpPr>
            <a:spLocks xmlns:a="http://schemas.openxmlformats.org/drawingml/2006/main" noGrp="1"/>
          </p:cNvSpPr>
          <p:nvPr/>
        </p:nvSpPr>
        <p:spPr>
          <a:xfrm xmlns:a="http://schemas.openxmlformats.org/drawingml/2006/main">
            <a:off x="460248" y="681038"/>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algn="l">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Approval Mail From Guide</a:t>
            </a:r>
          </a:p>
        </p:txBody>
      </p:sp>
      <p:sp>
        <p:nvSpPr>
          <p:cNvPr id="2" name="28-10-2026">
            <a:extLst xmlns:a="http://schemas.openxmlformats.org/drawingml/2006/main">
              <a:ext uri="{FF2B5EF4-FFF2-40B4-BE49-F238E27FC236}">
                <a16:creationId xmlns:a16="http://schemas.microsoft.com/office/drawing/2014/main" id="{8A9A0A18-435F-474E-820C-91598447AF8F}"/>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3" name="SCOPE">
            <a:extLst xmlns:a="http://schemas.openxmlformats.org/drawingml/2006/main">
              <a:ext uri="{FF2B5EF4-FFF2-40B4-BE49-F238E27FC236}">
                <a16:creationId xmlns:a16="http://schemas.microsoft.com/office/drawing/2014/main" id="{36516276-776F-4DAE-B4F2-2CEF92CD9989}"/>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4" name="2">
            <a:extLst xmlns:a="http://schemas.openxmlformats.org/drawingml/2006/main">
              <a:ext uri="{FF2B5EF4-FFF2-40B4-BE49-F238E27FC236}">
                <a16:creationId xmlns:a16="http://schemas.microsoft.com/office/drawing/2014/main" id="{FF502822-A967-41D7-A523-085B20AFDF91}"/>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a:t>
            </a:r>
          </a:p>
        </p:txBody>
      </p:sp>
      <p:sp>
        <p:nvSpPr>
          <p:cNvPr id="5" name="">
            <a:extLst xmlns:a="http://schemas.openxmlformats.org/drawingml/2006/main">
              <a:ext uri="{FF2B5EF4-FFF2-40B4-BE49-F238E27FC236}">
                <a16:creationId xmlns:a16="http://schemas.microsoft.com/office/drawing/2014/main" id="{936BA0CF-FBED-4574-A40F-B816B8C0A724}"/>
              </a:ext>
            </a:extLst>
          </p:cNvPr>
          <p:cNvSpPr>
            <a:spLocks xmlns:a="http://schemas.openxmlformats.org/drawingml/2006/main" noGrp="1"/>
          </p:cNvSpPr>
          <p:nvPr/>
        </p:nvSpPr>
        <p:spPr>
          <a:xfrm xmlns:a="http://schemas.openxmlformats.org/drawingml/2006/main">
            <a:off x="838200" y="1809750"/>
            <a:ext cx="105156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600" b="0">
                <a:solidFill>
                  <a:srgbClr val="000000"/>
                </a:solidFill>
                <a:latin typeface="Times New Roman"/>
                <a:ea typeface="Times New Roman"/>
                <a:cs typeface="Times New Roman"/>
              </a:defRPr>
            </a:defPPr>
            <a:lvl1pPr algn="l">
              <a:defRPr sz="2600" b="0">
                <a:solidFill>
                  <a:srgbClr val="000000"/>
                </a:solidFill>
                <a:latin typeface="Times New Roman"/>
                <a:ea typeface="Times New Roman"/>
                <a:cs typeface="Times New Roman"/>
              </a:defRPr>
            </a:lvl1pPr>
            <a:lvl2pPr algn="l">
              <a:defRPr sz="2600" b="0">
                <a:solidFill>
                  <a:srgbClr val="000000"/>
                </a:solidFill>
                <a:latin typeface="Times New Roman"/>
                <a:ea typeface="Times New Roman"/>
                <a:cs typeface="Times New Roman"/>
              </a:defRPr>
            </a:lvl2pPr>
            <a:lvl3pPr algn="l">
              <a:defRPr sz="2600" b="0">
                <a:solidFill>
                  <a:srgbClr val="000000"/>
                </a:solidFill>
                <a:latin typeface="Times New Roman"/>
                <a:ea typeface="Times New Roman"/>
                <a:cs typeface="Times New Roman"/>
              </a:defRPr>
            </a:lvl3pPr>
            <a:lvl4pPr algn="l">
              <a:defRPr sz="2600" b="0">
                <a:solidFill>
                  <a:srgbClr val="000000"/>
                </a:solidFill>
                <a:latin typeface="Times New Roman"/>
                <a:ea typeface="Times New Roman"/>
                <a:cs typeface="Times New Roman"/>
              </a:defRPr>
            </a:lvl4pPr>
            <a:lvl5pPr algn="l">
              <a:defRPr sz="2600" b="0">
                <a:solidFill>
                  <a:srgbClr val="000000"/>
                </a:solidFill>
                <a:latin typeface="Times New Roman"/>
                <a:ea typeface="Times New Roman"/>
                <a:cs typeface="Times New Roman"/>
              </a:defRPr>
            </a:lvl5pPr>
            <a:lvl6pPr algn="l">
              <a:defRPr sz="2600" b="0">
                <a:solidFill>
                  <a:srgbClr val="000000"/>
                </a:solidFill>
                <a:latin typeface="Times New Roman"/>
                <a:ea typeface="Times New Roman"/>
                <a:cs typeface="Times New Roman"/>
              </a:defRPr>
            </a:lvl6pPr>
            <a:lvl7pPr algn="l">
              <a:defRPr sz="2600" b="0">
                <a:solidFill>
                  <a:srgbClr val="000000"/>
                </a:solidFill>
                <a:latin typeface="Times New Roman"/>
                <a:ea typeface="Times New Roman"/>
                <a:cs typeface="Times New Roman"/>
              </a:defRPr>
            </a:lvl7pPr>
            <a:lvl8pPr algn="l">
              <a:defRPr sz="2600" b="0">
                <a:solidFill>
                  <a:srgbClr val="000000"/>
                </a:solidFill>
                <a:latin typeface="Times New Roman"/>
                <a:ea typeface="Times New Roman"/>
                <a:cs typeface="Times New Roman"/>
              </a:defRPr>
            </a:lvl8pPr>
            <a:lvl9pPr algn="l">
              <a:defRPr sz="2600" b="0">
                <a:solidFill>
                  <a:srgbClr val="000000"/>
                </a:solidFill>
                <a:latin typeface="Times New Roman"/>
                <a:ea typeface="Times New Roman"/>
                <a:cs typeface="Times New Roman"/>
              </a:defRPr>
            </a:lvl9pPr>
          </a:lstStyle>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Faculty guide: Dr. Badrinath N</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Approval email: not attached to the supplied files</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The guide’s email should cover the report, slides, demo and project outcome.</a:t>
            </a:r>
          </a:p>
        </p:txBody>
      </p:sp>
    </p:spTree>
    <p:extLst>
      <p:ext uri="{BB962C8B-B14F-4D97-AF65-F5344CB8AC3E}">
        <p14:creationId xmlns:p14="http://schemas.microsoft.com/office/powerpoint/2010/main" val="125656062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027305EA-516C-11F8-8A54-2BA046094ABC}"/>
              </a:ext>
            </a:extLst>
          </p:cNvPr>
          <p:cNvSpPr>
            <a:spLocks xmlns:a="http://schemas.openxmlformats.org/drawingml/2006/main" noGrp="1"/>
          </p:cNvSpPr>
          <p:nvPr>
            <p:ph type="title" idx="0"/>
          </p:nvPr>
        </p:nvSpPr>
        <p:spPr>
          <a:xfrm xmlns:a="http://schemas.openxmlformats.org/drawingml/2006/main">
            <a:off x="838200" y="739558"/>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spc="-25">
                <a:solidFill>
                  <a:srgbClr val="000000"/>
                </a:solidFill>
                <a:latin typeface="Times New Roman"/>
                <a:ea typeface="Times New Roman"/>
                <a:cs typeface="Times New Roman"/>
              </a:rPr>
              <a:t>Aim</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73BECAD4-56FD-4DD5-A2BB-E6C02BF27E46}"/>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AA8C9E3B-CB1E-484E-88A3-502DFD082CB0}"/>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3">
            <a:extLst xmlns:a="http://schemas.openxmlformats.org/drawingml/2006/main">
              <a:ext uri="{FF2B5EF4-FFF2-40B4-BE49-F238E27FC236}">
                <a16:creationId xmlns:a16="http://schemas.microsoft.com/office/drawing/2014/main" id="{CAD6ABB2-6C1C-4249-BC9B-1131757D34FB}"/>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3</a:t>
            </a:r>
          </a:p>
        </p:txBody>
      </p:sp>
      <p:sp>
        <p:nvSpPr>
          <p:cNvPr id="8" name="">
            <a:extLst xmlns:a="http://schemas.openxmlformats.org/drawingml/2006/main">
              <a:ext uri="{FF2B5EF4-FFF2-40B4-BE49-F238E27FC236}">
                <a16:creationId xmlns:a16="http://schemas.microsoft.com/office/drawing/2014/main" id="{090F951D-DBFE-4521-B956-09FC6B9960CC}"/>
              </a:ext>
            </a:extLst>
          </p:cNvPr>
          <p:cNvSpPr>
            <a:spLocks xmlns:a="http://schemas.openxmlformats.org/drawingml/2006/main" noGrp="1"/>
          </p:cNvSpPr>
          <p:nvPr/>
        </p:nvSpPr>
        <p:spPr>
          <a:xfrm xmlns:a="http://schemas.openxmlformats.org/drawingml/2006/main">
            <a:off x="838200" y="1809750"/>
            <a:ext cx="105156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600" b="0">
                <a:solidFill>
                  <a:srgbClr val="000000"/>
                </a:solidFill>
                <a:latin typeface="Times New Roman"/>
                <a:ea typeface="Times New Roman"/>
                <a:cs typeface="Times New Roman"/>
              </a:defRPr>
            </a:defPPr>
            <a:lvl1pPr algn="l">
              <a:defRPr sz="2600" b="0">
                <a:solidFill>
                  <a:srgbClr val="000000"/>
                </a:solidFill>
                <a:latin typeface="Times New Roman"/>
                <a:ea typeface="Times New Roman"/>
                <a:cs typeface="Times New Roman"/>
              </a:defRPr>
            </a:lvl1pPr>
            <a:lvl2pPr algn="l">
              <a:defRPr sz="2600" b="0">
                <a:solidFill>
                  <a:srgbClr val="000000"/>
                </a:solidFill>
                <a:latin typeface="Times New Roman"/>
                <a:ea typeface="Times New Roman"/>
                <a:cs typeface="Times New Roman"/>
              </a:defRPr>
            </a:lvl2pPr>
            <a:lvl3pPr algn="l">
              <a:defRPr sz="2600" b="0">
                <a:solidFill>
                  <a:srgbClr val="000000"/>
                </a:solidFill>
                <a:latin typeface="Times New Roman"/>
                <a:ea typeface="Times New Roman"/>
                <a:cs typeface="Times New Roman"/>
              </a:defRPr>
            </a:lvl3pPr>
            <a:lvl4pPr algn="l">
              <a:defRPr sz="2600" b="0">
                <a:solidFill>
                  <a:srgbClr val="000000"/>
                </a:solidFill>
                <a:latin typeface="Times New Roman"/>
                <a:ea typeface="Times New Roman"/>
                <a:cs typeface="Times New Roman"/>
              </a:defRPr>
            </a:lvl4pPr>
            <a:lvl5pPr algn="l">
              <a:defRPr sz="2600" b="0">
                <a:solidFill>
                  <a:srgbClr val="000000"/>
                </a:solidFill>
                <a:latin typeface="Times New Roman"/>
                <a:ea typeface="Times New Roman"/>
                <a:cs typeface="Times New Roman"/>
              </a:defRPr>
            </a:lvl5pPr>
            <a:lvl6pPr algn="l">
              <a:defRPr sz="2600" b="0">
                <a:solidFill>
                  <a:srgbClr val="000000"/>
                </a:solidFill>
                <a:latin typeface="Times New Roman"/>
                <a:ea typeface="Times New Roman"/>
                <a:cs typeface="Times New Roman"/>
              </a:defRPr>
            </a:lvl6pPr>
            <a:lvl7pPr algn="l">
              <a:defRPr sz="2600" b="0">
                <a:solidFill>
                  <a:srgbClr val="000000"/>
                </a:solidFill>
                <a:latin typeface="Times New Roman"/>
                <a:ea typeface="Times New Roman"/>
                <a:cs typeface="Times New Roman"/>
              </a:defRPr>
            </a:lvl7pPr>
            <a:lvl8pPr algn="l">
              <a:defRPr sz="2600" b="0">
                <a:solidFill>
                  <a:srgbClr val="000000"/>
                </a:solidFill>
                <a:latin typeface="Times New Roman"/>
                <a:ea typeface="Times New Roman"/>
                <a:cs typeface="Times New Roman"/>
              </a:defRPr>
            </a:lvl8pPr>
            <a:lvl9pPr algn="l">
              <a:defRPr sz="2600" b="0">
                <a:solidFill>
                  <a:srgbClr val="000000"/>
                </a:solidFill>
                <a:latin typeface="Times New Roman"/>
                <a:ea typeface="Times New Roman"/>
                <a:cs typeface="Times New Roman"/>
              </a:defRPr>
            </a:lvl9pPr>
          </a:lstStyle>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To decide when to update an anomaly detector as CloudTrail activity changes.</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Use changes in data and model explanations together.</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Reduce model updates that do not help.</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Check the approach with controlled tests and a separate dataset.</a:t>
            </a:r>
          </a:p>
        </p:txBody>
      </p:sp>
    </p:spTree>
    <p:extLst>
      <p:ext uri="{BB962C8B-B14F-4D97-AF65-F5344CB8AC3E}">
        <p14:creationId xmlns:p14="http://schemas.microsoft.com/office/powerpoint/2010/main" val="254351886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156C6ACB-BF9E-DB99-B99C-4896C652737E}"/>
              </a:ext>
            </a:extLst>
          </p:cNvPr>
          <p:cNvSpPr>
            <a:spLocks xmlns:a="http://schemas.openxmlformats.org/drawingml/2006/main" noGrp="1"/>
          </p:cNvSpPr>
          <p:nvPr>
            <p:ph type="title" idx="0"/>
          </p:nvPr>
        </p:nvSpPr>
        <p:spPr>
          <a:xfrm xmlns:a="http://schemas.openxmlformats.org/drawingml/2006/main">
            <a:off x="838200" y="739558"/>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spc="-25">
                <a:solidFill>
                  <a:srgbClr val="000000"/>
                </a:solidFill>
                <a:latin typeface="Times New Roman"/>
                <a:ea typeface="Times New Roman"/>
                <a:cs typeface="Times New Roman"/>
              </a:rPr>
              <a:t>Abstract</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3042CDF2-FEAE-4A8B-B4D1-072F268DD85C}"/>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362060B1-5AD0-4E56-86B0-06651F068933}"/>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4">
            <a:extLst xmlns:a="http://schemas.openxmlformats.org/drawingml/2006/main">
              <a:ext uri="{FF2B5EF4-FFF2-40B4-BE49-F238E27FC236}">
                <a16:creationId xmlns:a16="http://schemas.microsoft.com/office/drawing/2014/main" id="{8ECC4F2E-BB3C-4614-9995-6AA4EE74099C}"/>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4</a:t>
            </a:r>
          </a:p>
        </p:txBody>
      </p:sp>
      <p:sp>
        <p:nvSpPr>
          <p:cNvPr id="8" name="">
            <a:extLst xmlns:a="http://schemas.openxmlformats.org/drawingml/2006/main">
              <a:ext uri="{FF2B5EF4-FFF2-40B4-BE49-F238E27FC236}">
                <a16:creationId xmlns:a16="http://schemas.microsoft.com/office/drawing/2014/main" id="{2E96C9EC-D267-4A15-9538-4A2885BE7D4A}"/>
              </a:ext>
            </a:extLst>
          </p:cNvPr>
          <p:cNvSpPr>
            <a:spLocks xmlns:a="http://schemas.openxmlformats.org/drawingml/2006/main" noGrp="1"/>
          </p:cNvSpPr>
          <p:nvPr/>
        </p:nvSpPr>
        <p:spPr>
          <a:xfrm xmlns:a="http://schemas.openxmlformats.org/drawingml/2006/main">
            <a:off x="838200" y="1809750"/>
            <a:ext cx="105156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0">
                <a:solidFill>
                  <a:srgbClr val="000000"/>
                </a:solidFill>
                <a:latin typeface="Times New Roman"/>
                <a:ea typeface="Times New Roman"/>
                <a:cs typeface="Times New Roman"/>
              </a:defRPr>
            </a:defPPr>
            <a:lvl1pPr algn="l">
              <a:defRPr sz="2400" b="0">
                <a:solidFill>
                  <a:srgbClr val="000000"/>
                </a:solidFill>
                <a:latin typeface="Times New Roman"/>
                <a:ea typeface="Times New Roman"/>
                <a:cs typeface="Times New Roman"/>
              </a:defRPr>
            </a:lvl1pPr>
            <a:lvl2pPr algn="l">
              <a:defRPr sz="2400" b="0">
                <a:solidFill>
                  <a:srgbClr val="000000"/>
                </a:solidFill>
                <a:latin typeface="Times New Roman"/>
                <a:ea typeface="Times New Roman"/>
                <a:cs typeface="Times New Roman"/>
              </a:defRPr>
            </a:lvl2pPr>
            <a:lvl3pPr algn="l">
              <a:defRPr sz="2400" b="0">
                <a:solidFill>
                  <a:srgbClr val="000000"/>
                </a:solidFill>
                <a:latin typeface="Times New Roman"/>
                <a:ea typeface="Times New Roman"/>
                <a:cs typeface="Times New Roman"/>
              </a:defRPr>
            </a:lvl3pPr>
            <a:lvl4pPr algn="l">
              <a:defRPr sz="2400" b="0">
                <a:solidFill>
                  <a:srgbClr val="000000"/>
                </a:solidFill>
                <a:latin typeface="Times New Roman"/>
                <a:ea typeface="Times New Roman"/>
                <a:cs typeface="Times New Roman"/>
              </a:defRPr>
            </a:lvl4pPr>
            <a:lvl5pPr algn="l">
              <a:defRPr sz="2400" b="0">
                <a:solidFill>
                  <a:srgbClr val="000000"/>
                </a:solidFill>
                <a:latin typeface="Times New Roman"/>
                <a:ea typeface="Times New Roman"/>
                <a:cs typeface="Times New Roman"/>
              </a:defRPr>
            </a:lvl5pPr>
            <a:lvl6pPr algn="l">
              <a:defRPr sz="2400" b="0">
                <a:solidFill>
                  <a:srgbClr val="000000"/>
                </a:solidFill>
                <a:latin typeface="Times New Roman"/>
                <a:ea typeface="Times New Roman"/>
                <a:cs typeface="Times New Roman"/>
              </a:defRPr>
            </a:lvl6pPr>
            <a:lvl7pPr algn="l">
              <a:defRPr sz="2400" b="0">
                <a:solidFill>
                  <a:srgbClr val="000000"/>
                </a:solidFill>
                <a:latin typeface="Times New Roman"/>
                <a:ea typeface="Times New Roman"/>
                <a:cs typeface="Times New Roman"/>
              </a:defRPr>
            </a:lvl7pPr>
            <a:lvl8pPr algn="l">
              <a:defRPr sz="2400" b="0">
                <a:solidFill>
                  <a:srgbClr val="000000"/>
                </a:solidFill>
                <a:latin typeface="Times New Roman"/>
                <a:ea typeface="Times New Roman"/>
                <a:cs typeface="Times New Roman"/>
              </a:defRPr>
            </a:lvl8pPr>
            <a:lvl9pPr algn="l">
              <a:defRPr sz="2400" b="0">
                <a:solidFill>
                  <a:srgbClr val="000000"/>
                </a:solidFill>
                <a:latin typeface="Times New Roman"/>
                <a:ea typeface="Times New Roman"/>
                <a:cs typeface="Times New Roman"/>
              </a:defRPr>
            </a:lvl9pPr>
          </a:lstStyle>
          <a:p xmlns:a="http://schemas.openxmlformats.org/drawingml/2006/main">
            <a:pPr algn="l">
              <a:spcAft>
                <a:spcPts val="18"/>
              </a:spcAft>
              <a:defRPr sz="2400" b="0">
                <a:solidFill>
                  <a:srgbClr val="000000"/>
                </a:solidFill>
                <a:latin typeface="Times New Roman"/>
                <a:ea typeface="Times New Roman"/>
                <a:cs typeface="Times New Roman"/>
              </a:defRPr>
            </a:pPr>
            <a:r>
              <a:rPr sz="2400">
                <a:latin typeface="Times New Roman"/>
                <a:ea typeface="Times New Roman"/>
                <a:cs typeface="Times New Roman"/>
              </a:rPr>
              <a:t>CloudTrail records actions made in an AWS account.</a:t>
            </a:r>
          </a:p>
          <a:p xmlns:a="http://schemas.openxmlformats.org/drawingml/2006/main">
            <a:pPr algn="l">
              <a:spcAft>
                <a:spcPts val="18"/>
              </a:spcAft>
              <a:defRPr sz="2400" b="0">
                <a:solidFill>
                  <a:srgbClr val="000000"/>
                </a:solidFill>
                <a:latin typeface="Times New Roman"/>
                <a:ea typeface="Times New Roman"/>
                <a:cs typeface="Times New Roman"/>
              </a:defRPr>
            </a:pPr>
            <a:r>
              <a:rPr sz="2400">
                <a:latin typeface="Times New Roman"/>
                <a:ea typeface="Times New Roman"/>
                <a:cs typeface="Times New Roman"/>
              </a:rPr>
              <a:t>Normal changes can make an old model raise unwanted alerts.</a:t>
            </a:r>
          </a:p>
          <a:p xmlns:a="http://schemas.openxmlformats.org/drawingml/2006/main">
            <a:pPr algn="l">
              <a:spcAft>
                <a:spcPts val="18"/>
              </a:spcAft>
              <a:defRPr sz="2400" b="0">
                <a:solidFill>
                  <a:srgbClr val="000000"/>
                </a:solidFill>
                <a:latin typeface="Times New Roman"/>
                <a:ea typeface="Times New Roman"/>
                <a:cs typeface="Times New Roman"/>
              </a:defRPr>
            </a:pPr>
            <a:r>
              <a:rPr sz="2400">
                <a:latin typeface="Times New Roman"/>
                <a:ea typeface="Times New Roman"/>
                <a:cs typeface="Times New Roman"/>
              </a:rPr>
              <a:t>Isolation Forest finds unusual actions. SHAP explains the model output.</a:t>
            </a:r>
          </a:p>
          <a:p xmlns:a="http://schemas.openxmlformats.org/drawingml/2006/main">
            <a:pPr algn="l">
              <a:spcAft>
                <a:spcPts val="18"/>
              </a:spcAft>
              <a:defRPr sz="2400" b="0">
                <a:solidFill>
                  <a:srgbClr val="000000"/>
                </a:solidFill>
                <a:latin typeface="Times New Roman"/>
                <a:ea typeface="Times New Roman"/>
                <a:cs typeface="Times New Roman"/>
              </a:defRPr>
            </a:pPr>
            <a:r>
              <a:rPr sz="2400">
                <a:latin typeface="Times New Roman"/>
                <a:ea typeface="Times New Roman"/>
                <a:cs typeface="Times New Roman"/>
              </a:rPr>
              <a:t>We compare data changes and explanation changes before updating the model.</a:t>
            </a:r>
          </a:p>
          <a:p xmlns:a="http://schemas.openxmlformats.org/drawingml/2006/main">
            <a:pPr algn="l">
              <a:spcAft>
                <a:spcPts val="18"/>
              </a:spcAft>
              <a:defRPr sz="2400" b="0">
                <a:solidFill>
                  <a:srgbClr val="000000"/>
                </a:solidFill>
                <a:latin typeface="Times New Roman"/>
                <a:ea typeface="Times New Roman"/>
                <a:cs typeface="Times New Roman"/>
              </a:defRPr>
            </a:pPr>
            <a:r>
              <a:rPr sz="2400">
                <a:latin typeface="Times New Roman"/>
                <a:ea typeface="Times New Roman"/>
                <a:cs typeface="Times New Roman"/>
              </a:rPr>
              <a:t>Data: 1,939,207 records across 45 months. The original data has no attack labels.</a:t>
            </a:r>
          </a:p>
        </p:txBody>
      </p:sp>
    </p:spTree>
    <p:extLst>
      <p:ext uri="{BB962C8B-B14F-4D97-AF65-F5344CB8AC3E}">
        <p14:creationId xmlns:p14="http://schemas.microsoft.com/office/powerpoint/2010/main" val="345309793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435FB437-6170-6BA2-1A38-A902855A3E61}"/>
              </a:ext>
            </a:extLst>
          </p:cNvPr>
          <p:cNvSpPr>
            <a:spLocks xmlns:a="http://schemas.openxmlformats.org/drawingml/2006/main" noGrp="1"/>
          </p:cNvSpPr>
          <p:nvPr>
            <p:ph type="title" idx="0"/>
          </p:nvPr>
        </p:nvSpPr>
        <p:spPr>
          <a:xfrm xmlns:a="http://schemas.openxmlformats.org/drawingml/2006/main">
            <a:off x="448056"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spc="-25">
                <a:solidFill>
                  <a:srgbClr val="000000"/>
                </a:solidFill>
                <a:latin typeface="Times New Roman"/>
                <a:ea typeface="Times New Roman"/>
                <a:cs typeface="Times New Roman"/>
              </a:rPr>
              <a:t>Literature Review</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78CC5E82-1EAD-499D-AB14-AC2B8CCBA35B}"/>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259B250C-D6E7-4939-A1C7-92242AEA556B}"/>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5">
            <a:extLst xmlns:a="http://schemas.openxmlformats.org/drawingml/2006/main">
              <a:ext uri="{FF2B5EF4-FFF2-40B4-BE49-F238E27FC236}">
                <a16:creationId xmlns:a16="http://schemas.microsoft.com/office/drawing/2014/main" id="{1BEF3D0B-F6B3-4D30-AB78-D7AC1AD9D899}"/>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5</a:t>
            </a:r>
          </a:p>
        </p:txBody>
      </p:sp>
      <p:graphicFrame>
        <p:nvGraphicFramePr>
          <p:cNvPr id="8" name="">
            <a:extLst xmlns:a="http://schemas.openxmlformats.org/drawingml/2006/main">
              <a:ext uri="{FF2B5EF4-FFF2-40B4-BE49-F238E27FC236}">
                <a16:creationId xmlns:a16="http://schemas.microsoft.com/office/drawing/2014/main" id="{918A84D5-05D0-4811-8E03-85401FA57DFB}"/>
              </a:ext>
            </a:extLst>
          </p:cNvPr>
          <p:cNvGraphicFramePr/>
          <p:nvPr/>
        </p:nvGraphicFramePr>
        <p:xfrm>
          <a:off xmlns:a="http://schemas.openxmlformats.org/drawingml/2006/main" x="838200" y="1809750"/>
          <a:ext xmlns:a="http://schemas.openxmlformats.org/drawingml/2006/main" cx="10515600" cy="4095750"/>
        </p:xfrm>
        <a:graphic xmlns:a="http://schemas.openxmlformats.org/drawingml/2006/main">
          <a:graphicData uri="http://schemas.openxmlformats.org/drawingml/2006/table">
            <a:tbl>
              <a:tblPr firstRow="1" bandRow="0"/>
              <a:tblGrid>
                <a:gridCol w="1857375"/>
                <a:gridCol w="2000250"/>
                <a:gridCol w="2095500"/>
                <a:gridCol w="2428875"/>
                <a:gridCol w="2133600"/>
              </a:tblGrid>
              <a:tr h="819150">
                <a:tc>
                  <a:txBody>
                    <a:bodyPr/>
                    <a:lstStyle/>
                    <a:p>
                      <a:pPr algn="l"/>
                      <a:r>
                        <a:rPr sz="1800" b="1">
                          <a:solidFill>
                            <a:srgbClr val="FFFFFF"/>
                          </a:solidFill>
                          <a:latin typeface="Times New Roman"/>
                          <a:ea typeface="Times New Roman"/>
                          <a:cs typeface="Times New Roman"/>
                        </a:rPr>
                        <a:t>Paper</a:t>
                      </a:r>
                    </a:p>
                  </a:txBody>
                  <a:tcPr marL="85725" marR="85725" marT="66675" marB="66675" anchor="ctr">
                    <a:lnL w="9525">
                      <a:solidFill>
                        <a:srgbClr val="B6BEC8"/>
                      </a:solidFill>
                      <a:prstDash val="solid"/>
                    </a:lnL>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Objective</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Method</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Strength / limit</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800" b="1">
                          <a:solidFill>
                            <a:srgbClr val="FFFFFF"/>
                          </a:solidFill>
                          <a:latin typeface="Times New Roman"/>
                          <a:ea typeface="Times New Roman"/>
                          <a:cs typeface="Times New Roman"/>
                        </a:rPr>
                        <a:t>Finding</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r>
              <a:tr h="819150">
                <a:tc>
                  <a:txBody>
                    <a:bodyPr/>
                    <a:lstStyle/>
                    <a:p>
                      <a:pPr algn="l"/>
                      <a:r>
                        <a:rPr sz="1800" b="0">
                          <a:solidFill>
                            <a:srgbClr val="000000"/>
                          </a:solidFill>
                          <a:latin typeface="Times New Roman"/>
                          <a:ea typeface="Times New Roman"/>
                          <a:cs typeface="Times New Roman"/>
                        </a:rPr>
                        <a:t>Sethi &amp;</a:t>
                      </a:r>
                    </a:p>
                    <a:p>
                      <a:pPr algn="l"/>
                      <a:r>
                        <a:rPr sz="1800" b="0">
                          <a:solidFill>
                            <a:srgbClr val="000000"/>
                          </a:solidFill>
                          <a:latin typeface="Times New Roman"/>
                          <a:ea typeface="Times New Roman"/>
                          <a:cs typeface="Times New Roman"/>
                        </a:rPr>
                        <a:t>Kantardzic, 2017</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Find drift without labels</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Unlabelled drift monitoring</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Input changes can over-alert</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Check model relevance</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819150">
                <a:tc>
                  <a:txBody>
                    <a:bodyPr/>
                    <a:lstStyle/>
                    <a:p>
                      <a:pPr algn="l"/>
                      <a:r>
                        <a:rPr sz="1800" b="0">
                          <a:solidFill>
                            <a:srgbClr val="000000"/>
                          </a:solidFill>
                          <a:latin typeface="Times New Roman"/>
                          <a:ea typeface="Times New Roman"/>
                          <a:cs typeface="Times New Roman"/>
                        </a:rPr>
                        <a:t>Han et al.</a:t>
                      </a:r>
                    </a:p>
                    <a:p>
                      <a:pPr algn="l"/>
                      <a:r>
                        <a:rPr sz="1800" b="0">
                          <a:solidFill>
                            <a:srgbClr val="000000"/>
                          </a:solidFill>
                          <a:latin typeface="Times New Roman"/>
                          <a:ea typeface="Times New Roman"/>
                          <a:cs typeface="Times New Roman"/>
                        </a:rPr>
                        <a:t>2023</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Handle changes in normal behaviour</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OWAD</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Security focus</a:t>
                      </a:r>
                    </a:p>
                    <a:p>
                      <a:pPr algn="l"/>
                      <a:r>
                        <a:rPr sz="1800" b="0">
                          <a:solidFill>
                            <a:srgbClr val="000000"/>
                          </a:solidFill>
                          <a:latin typeface="Times New Roman"/>
                          <a:ea typeface="Times New Roman"/>
                          <a:cs typeface="Times New Roman"/>
                        </a:rPr>
                        <a:t>Different data</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Adaptation needs care</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819150">
                <a:tc>
                  <a:txBody>
                    <a:bodyPr/>
                    <a:lstStyle/>
                    <a:p>
                      <a:pPr algn="l"/>
                      <a:r>
                        <a:rPr sz="1800" b="0">
                          <a:solidFill>
                            <a:srgbClr val="000000"/>
                          </a:solidFill>
                          <a:latin typeface="Times New Roman"/>
                          <a:ea typeface="Times New Roman"/>
                          <a:cs typeface="Times New Roman"/>
                        </a:rPr>
                        <a:t>Lee et al.</a:t>
                      </a:r>
                    </a:p>
                    <a:p>
                      <a:pPr algn="l"/>
                      <a:r>
                        <a:rPr sz="1800" b="0">
                          <a:solidFill>
                            <a:srgbClr val="000000"/>
                          </a:solidFill>
                          <a:latin typeface="Times New Roman"/>
                          <a:ea typeface="Times New Roman"/>
                          <a:cs typeface="Times New Roman"/>
                        </a:rPr>
                        <a:t>2023</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Monitor model drift</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SHAP-based monitoring</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Uses explanations</a:t>
                      </a:r>
                    </a:p>
                    <a:p>
                      <a:pPr algn="l"/>
                      <a:r>
                        <a:rPr sz="1800" b="0">
                          <a:solidFill>
                            <a:srgbClr val="000000"/>
                          </a:solidFill>
                          <a:latin typeface="Times New Roman"/>
                          <a:ea typeface="Times New Roman"/>
                          <a:cs typeface="Times New Roman"/>
                        </a:rPr>
                        <a:t>Different setting</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800" b="0">
                          <a:solidFill>
                            <a:srgbClr val="000000"/>
                          </a:solidFill>
                          <a:latin typeface="Times New Roman"/>
                          <a:ea typeface="Times New Roman"/>
                          <a:cs typeface="Times New Roman"/>
                        </a:rPr>
                        <a:t>SHAP drift already exists</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819150">
                <a:tc>
                  <a:txBody>
                    <a:bodyPr/>
                    <a:lstStyle/>
                    <a:p>
                      <a:pPr algn="l"/>
                      <a:r>
                        <a:rPr sz="1800" b="0">
                          <a:solidFill>
                            <a:srgbClr val="000000"/>
                          </a:solidFill>
                          <a:latin typeface="Times New Roman"/>
                          <a:ea typeface="Times New Roman"/>
                          <a:cs typeface="Times New Roman"/>
                        </a:rPr>
                        <a:t>Varma &amp; Ramya</a:t>
                      </a:r>
                    </a:p>
                    <a:p>
                      <a:pPr algn="l"/>
                      <a:r>
                        <a:rPr sz="1800" b="0">
                          <a:solidFill>
                            <a:srgbClr val="000000"/>
                          </a:solidFill>
                          <a:latin typeface="Times New Roman"/>
                          <a:ea typeface="Times New Roman"/>
                          <a:cs typeface="Times New Roman"/>
                        </a:rPr>
                        <a:t>2025</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Explain CloudTrail anomalies</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ML and explanations</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CloudTrail focus</a:t>
                      </a:r>
                    </a:p>
                    <a:p>
                      <a:pPr algn="l"/>
                      <a:r>
                        <a:rPr sz="1800" b="0">
                          <a:solidFill>
                            <a:srgbClr val="000000"/>
                          </a:solidFill>
                          <a:latin typeface="Times New Roman"/>
                          <a:ea typeface="Times New Roman"/>
                          <a:cs typeface="Times New Roman"/>
                        </a:rPr>
                        <a:t>No coupling gate</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800" b="0">
                          <a:solidFill>
                            <a:srgbClr val="000000"/>
                          </a:solidFill>
                          <a:latin typeface="Times New Roman"/>
                          <a:ea typeface="Times New Roman"/>
                          <a:cs typeface="Times New Roman"/>
                        </a:rPr>
                        <a:t>Supports the use case</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bl>
          </a:graphicData>
        </a:graphic>
      </p:graphicFrame>
    </p:spTree>
    <p:extLst>
      <p:ext uri="{BB962C8B-B14F-4D97-AF65-F5344CB8AC3E}">
        <p14:creationId xmlns:p14="http://schemas.microsoft.com/office/powerpoint/2010/main" val="85744972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2E07AC55-BA5E-4123-39E6-B79860C6C9EE}"/>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Research Gap and Novelty</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8AA405D3-78B4-47D9-9757-DD1FBD57E060}"/>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0C563BEA-604F-4F0E-B689-745FE94A1DF2}"/>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6">
            <a:extLst xmlns:a="http://schemas.openxmlformats.org/drawingml/2006/main">
              <a:ext uri="{FF2B5EF4-FFF2-40B4-BE49-F238E27FC236}">
                <a16:creationId xmlns:a16="http://schemas.microsoft.com/office/drawing/2014/main" id="{81788F8A-32DB-452D-9942-ED9FF6A68716}"/>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6</a:t>
            </a:r>
          </a:p>
        </p:txBody>
      </p:sp>
      <p:sp>
        <p:nvSpPr>
          <p:cNvPr id="8" name="A data change alone does not tell us whether ">
            <a:extLst xmlns:a="http://schemas.openxmlformats.org/drawingml/2006/main">
              <a:ext uri="{FF2B5EF4-FFF2-40B4-BE49-F238E27FC236}">
                <a16:creationId xmlns:a16="http://schemas.microsoft.com/office/drawing/2014/main" id="{ECF1437C-E6AE-40A8-9709-AC6EAD1E59D9}"/>
              </a:ext>
            </a:extLst>
          </p:cNvPr>
          <p:cNvSpPr>
            <a:spLocks xmlns:a="http://schemas.openxmlformats.org/drawingml/2006/main" noGrp="1"/>
          </p:cNvSpPr>
          <p:nvPr/>
        </p:nvSpPr>
        <p:spPr>
          <a:xfrm xmlns:a="http://schemas.openxmlformats.org/drawingml/2006/main">
            <a:off x="838200" y="1647825"/>
            <a:ext cx="10515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0">
                <a:solidFill>
                  <a:srgbClr val="000000"/>
                </a:solidFill>
                <a:latin typeface="Times New Roman"/>
                <a:ea typeface="Times New Roman"/>
                <a:cs typeface="Times New Roman"/>
              </a:defRPr>
            </a:defPPr>
            <a:lvl1pPr algn="l">
              <a:defRPr sz="2400" b="0">
                <a:solidFill>
                  <a:srgbClr val="000000"/>
                </a:solidFill>
                <a:latin typeface="Times New Roman"/>
                <a:ea typeface="Times New Roman"/>
                <a:cs typeface="Times New Roman"/>
              </a:defRPr>
            </a:lvl1pPr>
            <a:lvl2pPr algn="l">
              <a:defRPr sz="2400" b="0">
                <a:solidFill>
                  <a:srgbClr val="000000"/>
                </a:solidFill>
                <a:latin typeface="Times New Roman"/>
                <a:ea typeface="Times New Roman"/>
                <a:cs typeface="Times New Roman"/>
              </a:defRPr>
            </a:lvl2pPr>
            <a:lvl3pPr algn="l">
              <a:defRPr sz="2400" b="0">
                <a:solidFill>
                  <a:srgbClr val="000000"/>
                </a:solidFill>
                <a:latin typeface="Times New Roman"/>
                <a:ea typeface="Times New Roman"/>
                <a:cs typeface="Times New Roman"/>
              </a:defRPr>
            </a:lvl3pPr>
            <a:lvl4pPr algn="l">
              <a:defRPr sz="2400" b="0">
                <a:solidFill>
                  <a:srgbClr val="000000"/>
                </a:solidFill>
                <a:latin typeface="Times New Roman"/>
                <a:ea typeface="Times New Roman"/>
                <a:cs typeface="Times New Roman"/>
              </a:defRPr>
            </a:lvl4pPr>
            <a:lvl5pPr algn="l">
              <a:defRPr sz="2400" b="0">
                <a:solidFill>
                  <a:srgbClr val="000000"/>
                </a:solidFill>
                <a:latin typeface="Times New Roman"/>
                <a:ea typeface="Times New Roman"/>
                <a:cs typeface="Times New Roman"/>
              </a:defRPr>
            </a:lvl5pPr>
            <a:lvl6pPr algn="l">
              <a:defRPr sz="2400" b="0">
                <a:solidFill>
                  <a:srgbClr val="000000"/>
                </a:solidFill>
                <a:latin typeface="Times New Roman"/>
                <a:ea typeface="Times New Roman"/>
                <a:cs typeface="Times New Roman"/>
              </a:defRPr>
            </a:lvl6pPr>
            <a:lvl7pPr algn="l">
              <a:defRPr sz="2400" b="0">
                <a:solidFill>
                  <a:srgbClr val="000000"/>
                </a:solidFill>
                <a:latin typeface="Times New Roman"/>
                <a:ea typeface="Times New Roman"/>
                <a:cs typeface="Times New Roman"/>
              </a:defRPr>
            </a:lvl7pPr>
            <a:lvl8pPr algn="l">
              <a:defRPr sz="2400" b="0">
                <a:solidFill>
                  <a:srgbClr val="000000"/>
                </a:solidFill>
                <a:latin typeface="Times New Roman"/>
                <a:ea typeface="Times New Roman"/>
                <a:cs typeface="Times New Roman"/>
              </a:defRPr>
            </a:lvl8pPr>
            <a:lvl9pPr algn="l">
              <a:defRPr sz="2400" b="0">
                <a:solidFill>
                  <a:srgbClr val="000000"/>
                </a:solidFill>
                <a:latin typeface="Times New Roman"/>
                <a:ea typeface="Times New Roman"/>
                <a:cs typeface="Times New Roman"/>
              </a:defRPr>
            </a:lvl9pPr>
          </a:lstStyle>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A data change alone does not tell us whether the model needs an update.</a:t>
            </a:r>
          </a:p>
        </p:txBody>
      </p:sp>
      <p:graphicFrame>
        <p:nvGraphicFramePr>
          <p:cNvPr id="9" name="">
            <a:extLst xmlns:a="http://schemas.openxmlformats.org/drawingml/2006/main">
              <a:ext uri="{FF2B5EF4-FFF2-40B4-BE49-F238E27FC236}">
                <a16:creationId xmlns:a16="http://schemas.microsoft.com/office/drawing/2014/main" id="{080129AC-CDC4-4D4E-8AAD-EA9A99C2F8B7}"/>
              </a:ext>
            </a:extLst>
          </p:cNvPr>
          <p:cNvGraphicFramePr/>
          <p:nvPr/>
        </p:nvGraphicFramePr>
        <p:xfrm>
          <a:off xmlns:a="http://schemas.openxmlformats.org/drawingml/2006/main" x="838200" y="2524125"/>
          <a:ext xmlns:a="http://schemas.openxmlformats.org/drawingml/2006/main" cx="10515600" cy="2333625"/>
        </p:xfrm>
        <a:graphic xmlns:a="http://schemas.openxmlformats.org/drawingml/2006/main">
          <a:graphicData uri="http://schemas.openxmlformats.org/drawingml/2006/table">
            <a:tbl>
              <a:tblPr firstRow="1" bandRow="0"/>
              <a:tblGrid>
                <a:gridCol w="5619750"/>
                <a:gridCol w="4895850"/>
              </a:tblGrid>
              <a:tr h="583406">
                <a:tc>
                  <a:txBody>
                    <a:bodyPr/>
                    <a:lstStyle/>
                    <a:p>
                      <a:pPr algn="l"/>
                      <a:r>
                        <a:rPr sz="2200" b="1">
                          <a:solidFill>
                            <a:srgbClr val="FFFFFF"/>
                          </a:solidFill>
                          <a:latin typeface="Times New Roman"/>
                          <a:ea typeface="Times New Roman"/>
                          <a:cs typeface="Times New Roman"/>
                        </a:rPr>
                        <a:t>Observed change</a:t>
                      </a:r>
                    </a:p>
                  </a:txBody>
                  <a:tcPr marL="85725" marR="85725" marT="66675" marB="66675" anchor="ctr">
                    <a:lnL w="9525">
                      <a:solidFill>
                        <a:srgbClr val="B6BEC8"/>
                      </a:solidFill>
                      <a:prstDash val="solid"/>
                    </a:lnL>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2200" b="1">
                          <a:solidFill>
                            <a:srgbClr val="FFFFFF"/>
                          </a:solidFill>
                          <a:latin typeface="Times New Roman"/>
                          <a:ea typeface="Times New Roman"/>
                          <a:cs typeface="Times New Roman"/>
                        </a:rPr>
                        <a:t>Possible meaning</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r>
              <a:tr h="583406">
                <a:tc>
                  <a:txBody>
                    <a:bodyPr/>
                    <a:lstStyle/>
                    <a:p>
                      <a:pPr algn="l"/>
                      <a:r>
                        <a:rPr sz="2200" b="0">
                          <a:solidFill>
                            <a:srgbClr val="000000"/>
                          </a:solidFill>
                          <a:latin typeface="Times New Roman"/>
                          <a:ea typeface="Times New Roman"/>
                          <a:cs typeface="Times New Roman"/>
                        </a:rPr>
                        <a:t>Data changes, explanations stay similar</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2200" b="0">
                          <a:solidFill>
                            <a:srgbClr val="000000"/>
                          </a:solidFill>
                          <a:latin typeface="Times New Roman"/>
                          <a:ea typeface="Times New Roman"/>
                          <a:cs typeface="Times New Roman"/>
                        </a:rPr>
                        <a:t>Likely routine change</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583406">
                <a:tc>
                  <a:txBody>
                    <a:bodyPr/>
                    <a:lstStyle/>
                    <a:p>
                      <a:pPr algn="l"/>
                      <a:r>
                        <a:rPr sz="2200" b="0">
                          <a:solidFill>
                            <a:srgbClr val="000000"/>
                          </a:solidFill>
                          <a:latin typeface="Times New Roman"/>
                          <a:ea typeface="Times New Roman"/>
                          <a:cs typeface="Times New Roman"/>
                        </a:rPr>
                        <a:t>Both change on the same features</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2200" b="0">
                          <a:solidFill>
                            <a:srgbClr val="000000"/>
                          </a:solidFill>
                          <a:latin typeface="Times New Roman"/>
                          <a:ea typeface="Times New Roman"/>
                          <a:cs typeface="Times New Roman"/>
                        </a:rPr>
                        <a:t>May need a model update</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583406">
                <a:tc>
                  <a:txBody>
                    <a:bodyPr/>
                    <a:lstStyle/>
                    <a:p>
                      <a:pPr algn="l"/>
                      <a:r>
                        <a:rPr sz="2200" b="0">
                          <a:solidFill>
                            <a:srgbClr val="000000"/>
                          </a:solidFill>
                          <a:latin typeface="Times New Roman"/>
                          <a:ea typeface="Times New Roman"/>
                          <a:cs typeface="Times New Roman"/>
                        </a:rPr>
                        <a:t>Signals disagree</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2200" b="0">
                          <a:solidFill>
                            <a:srgbClr val="000000"/>
                          </a:solidFill>
                          <a:latin typeface="Times New Roman"/>
                          <a:ea typeface="Times New Roman"/>
                          <a:cs typeface="Times New Roman"/>
                        </a:rPr>
                        <a:t>Needs closer review</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bl>
          </a:graphicData>
        </a:graphic>
      </p:graphicFrame>
      <p:sp>
        <p:nvSpPr>
          <p:cNvPr id="10" name="New part: coupling checks whether the same fe">
            <a:extLst xmlns:a="http://schemas.openxmlformats.org/drawingml/2006/main">
              <a:ext uri="{FF2B5EF4-FFF2-40B4-BE49-F238E27FC236}">
                <a16:creationId xmlns:a16="http://schemas.microsoft.com/office/drawing/2014/main" id="{EAB7DFCB-6611-44FE-B885-DC2D6CCC9DB0}"/>
              </a:ext>
            </a:extLst>
          </p:cNvPr>
          <p:cNvSpPr>
            <a:spLocks xmlns:a="http://schemas.openxmlformats.org/drawingml/2006/main" noGrp="1"/>
          </p:cNvSpPr>
          <p:nvPr/>
        </p:nvSpPr>
        <p:spPr>
          <a:xfrm xmlns:a="http://schemas.openxmlformats.org/drawingml/2006/main">
            <a:off x="838200" y="5191125"/>
            <a:ext cx="10515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000000"/>
                </a:solidFill>
                <a:latin typeface="Times New Roman"/>
                <a:ea typeface="Times New Roman"/>
                <a:cs typeface="Times New Roman"/>
              </a:defRPr>
            </a:defPPr>
            <a:lvl1pPr algn="l">
              <a:defRPr sz="2400" b="1">
                <a:solidFill>
                  <a:srgbClr val="000000"/>
                </a:solidFill>
                <a:latin typeface="Times New Roman"/>
                <a:ea typeface="Times New Roman"/>
                <a:cs typeface="Times New Roman"/>
              </a:defRPr>
            </a:lvl1pPr>
            <a:lvl2pPr algn="l">
              <a:defRPr sz="2400" b="1">
                <a:solidFill>
                  <a:srgbClr val="000000"/>
                </a:solidFill>
                <a:latin typeface="Times New Roman"/>
                <a:ea typeface="Times New Roman"/>
                <a:cs typeface="Times New Roman"/>
              </a:defRPr>
            </a:lvl2pPr>
            <a:lvl3pPr algn="l">
              <a:defRPr sz="2400" b="1">
                <a:solidFill>
                  <a:srgbClr val="000000"/>
                </a:solidFill>
                <a:latin typeface="Times New Roman"/>
                <a:ea typeface="Times New Roman"/>
                <a:cs typeface="Times New Roman"/>
              </a:defRPr>
            </a:lvl3pPr>
            <a:lvl4pPr algn="l">
              <a:defRPr sz="2400" b="1">
                <a:solidFill>
                  <a:srgbClr val="000000"/>
                </a:solidFill>
                <a:latin typeface="Times New Roman"/>
                <a:ea typeface="Times New Roman"/>
                <a:cs typeface="Times New Roman"/>
              </a:defRPr>
            </a:lvl4pPr>
            <a:lvl5pPr algn="l">
              <a:defRPr sz="2400" b="1">
                <a:solidFill>
                  <a:srgbClr val="000000"/>
                </a:solidFill>
                <a:latin typeface="Times New Roman"/>
                <a:ea typeface="Times New Roman"/>
                <a:cs typeface="Times New Roman"/>
              </a:defRPr>
            </a:lvl5pPr>
            <a:lvl6pPr algn="l">
              <a:defRPr sz="2400" b="1">
                <a:solidFill>
                  <a:srgbClr val="000000"/>
                </a:solidFill>
                <a:latin typeface="Times New Roman"/>
                <a:ea typeface="Times New Roman"/>
                <a:cs typeface="Times New Roman"/>
              </a:defRPr>
            </a:lvl6pPr>
            <a:lvl7pPr algn="l">
              <a:defRPr sz="2400" b="1">
                <a:solidFill>
                  <a:srgbClr val="000000"/>
                </a:solidFill>
                <a:latin typeface="Times New Roman"/>
                <a:ea typeface="Times New Roman"/>
                <a:cs typeface="Times New Roman"/>
              </a:defRPr>
            </a:lvl7pPr>
            <a:lvl8pPr algn="l">
              <a:defRPr sz="2400" b="1">
                <a:solidFill>
                  <a:srgbClr val="000000"/>
                </a:solidFill>
                <a:latin typeface="Times New Roman"/>
                <a:ea typeface="Times New Roman"/>
                <a:cs typeface="Times New Roman"/>
              </a:defRPr>
            </a:lvl8pPr>
            <a:lvl9pPr algn="l">
              <a:defRPr sz="2400" b="1">
                <a:solidFill>
                  <a:srgbClr val="000000"/>
                </a:solidFill>
                <a:latin typeface="Times New Roman"/>
                <a:ea typeface="Times New Roman"/>
                <a:cs typeface="Times New Roman"/>
              </a:defRPr>
            </a:lvl9pPr>
          </a:lstStyle>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New part: coupling checks whether the same features drive both changes.</a:t>
            </a:r>
          </a:p>
        </p:txBody>
      </p:sp>
    </p:spTree>
    <p:extLst>
      <p:ext uri="{BB962C8B-B14F-4D97-AF65-F5344CB8AC3E}">
        <p14:creationId xmlns:p14="http://schemas.microsoft.com/office/powerpoint/2010/main" val="262310282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22BADD22-870A-4D8F-B788-CCCD5C223F9A}"/>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Objectives</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C80518DF-B650-43E5-8C71-7B2EE58BB95E}"/>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30D11AEB-A8FD-4E14-A055-45B2682BADC0}"/>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7">
            <a:extLst xmlns:a="http://schemas.openxmlformats.org/drawingml/2006/main">
              <a:ext uri="{FF2B5EF4-FFF2-40B4-BE49-F238E27FC236}">
                <a16:creationId xmlns:a16="http://schemas.microsoft.com/office/drawing/2014/main" id="{F345E630-200E-48EA-9A91-2EFBC8126CAA}"/>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7</a:t>
            </a:r>
          </a:p>
        </p:txBody>
      </p:sp>
      <p:sp>
        <p:nvSpPr>
          <p:cNvPr id="8" name="">
            <a:extLst xmlns:a="http://schemas.openxmlformats.org/drawingml/2006/main">
              <a:ext uri="{FF2B5EF4-FFF2-40B4-BE49-F238E27FC236}">
                <a16:creationId xmlns:a16="http://schemas.microsoft.com/office/drawing/2014/main" id="{DD3A470E-5033-493C-A8B6-B8EBBD5C5F11}"/>
              </a:ext>
            </a:extLst>
          </p:cNvPr>
          <p:cNvSpPr>
            <a:spLocks xmlns:a="http://schemas.openxmlformats.org/drawingml/2006/main" noGrp="1"/>
          </p:cNvSpPr>
          <p:nvPr/>
        </p:nvSpPr>
        <p:spPr>
          <a:xfrm xmlns:a="http://schemas.openxmlformats.org/drawingml/2006/main">
            <a:off x="838200" y="1657350"/>
            <a:ext cx="105156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600" b="0">
                <a:solidFill>
                  <a:srgbClr val="000000"/>
                </a:solidFill>
                <a:latin typeface="Times New Roman"/>
                <a:ea typeface="Times New Roman"/>
                <a:cs typeface="Times New Roman"/>
              </a:defRPr>
            </a:defPPr>
            <a:lvl1pPr algn="l">
              <a:defRPr sz="2600" b="0">
                <a:solidFill>
                  <a:srgbClr val="000000"/>
                </a:solidFill>
                <a:latin typeface="Times New Roman"/>
                <a:ea typeface="Times New Roman"/>
                <a:cs typeface="Times New Roman"/>
              </a:defRPr>
            </a:lvl1pPr>
            <a:lvl2pPr algn="l">
              <a:defRPr sz="2600" b="0">
                <a:solidFill>
                  <a:srgbClr val="000000"/>
                </a:solidFill>
                <a:latin typeface="Times New Roman"/>
                <a:ea typeface="Times New Roman"/>
                <a:cs typeface="Times New Roman"/>
              </a:defRPr>
            </a:lvl2pPr>
            <a:lvl3pPr algn="l">
              <a:defRPr sz="2600" b="0">
                <a:solidFill>
                  <a:srgbClr val="000000"/>
                </a:solidFill>
                <a:latin typeface="Times New Roman"/>
                <a:ea typeface="Times New Roman"/>
                <a:cs typeface="Times New Roman"/>
              </a:defRPr>
            </a:lvl3pPr>
            <a:lvl4pPr algn="l">
              <a:defRPr sz="2600" b="0">
                <a:solidFill>
                  <a:srgbClr val="000000"/>
                </a:solidFill>
                <a:latin typeface="Times New Roman"/>
                <a:ea typeface="Times New Roman"/>
                <a:cs typeface="Times New Roman"/>
              </a:defRPr>
            </a:lvl4pPr>
            <a:lvl5pPr algn="l">
              <a:defRPr sz="2600" b="0">
                <a:solidFill>
                  <a:srgbClr val="000000"/>
                </a:solidFill>
                <a:latin typeface="Times New Roman"/>
                <a:ea typeface="Times New Roman"/>
                <a:cs typeface="Times New Roman"/>
              </a:defRPr>
            </a:lvl5pPr>
            <a:lvl6pPr algn="l">
              <a:defRPr sz="2600" b="0">
                <a:solidFill>
                  <a:srgbClr val="000000"/>
                </a:solidFill>
                <a:latin typeface="Times New Roman"/>
                <a:ea typeface="Times New Roman"/>
                <a:cs typeface="Times New Roman"/>
              </a:defRPr>
            </a:lvl6pPr>
            <a:lvl7pPr algn="l">
              <a:defRPr sz="2600" b="0">
                <a:solidFill>
                  <a:srgbClr val="000000"/>
                </a:solidFill>
                <a:latin typeface="Times New Roman"/>
                <a:ea typeface="Times New Roman"/>
                <a:cs typeface="Times New Roman"/>
              </a:defRPr>
            </a:lvl7pPr>
            <a:lvl8pPr algn="l">
              <a:defRPr sz="2600" b="0">
                <a:solidFill>
                  <a:srgbClr val="000000"/>
                </a:solidFill>
                <a:latin typeface="Times New Roman"/>
                <a:ea typeface="Times New Roman"/>
                <a:cs typeface="Times New Roman"/>
              </a:defRPr>
            </a:lvl8pPr>
            <a:lvl9pPr algn="l">
              <a:defRPr sz="2600" b="0">
                <a:solidFill>
                  <a:srgbClr val="000000"/>
                </a:solidFill>
                <a:latin typeface="Times New Roman"/>
                <a:ea typeface="Times New Roman"/>
                <a:cs typeface="Times New Roman"/>
              </a:defRPr>
            </a:lvl9pPr>
          </a:lstStyle>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Prepare the data in time order and train the detector.</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Track changes in data and SHAP explanations.</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Compare update rules and count unnecessary updates.</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Test the method on a separate cloud-log dataset.</a:t>
            </a:r>
          </a:p>
        </p:txBody>
      </p:sp>
      <p:sp>
        <p:nvSpPr>
          <p:cNvPr id="9" name="SDG 9: reliable digital infrastructure&#10;SDG 16">
            <a:extLst xmlns:a="http://schemas.openxmlformats.org/drawingml/2006/main">
              <a:ext uri="{FF2B5EF4-FFF2-40B4-BE49-F238E27FC236}">
                <a16:creationId xmlns:a16="http://schemas.microsoft.com/office/drawing/2014/main" id="{74DC838F-68A4-4A8E-B351-EAAB8E385B28}"/>
              </a:ext>
            </a:extLst>
          </p:cNvPr>
          <p:cNvSpPr>
            <a:spLocks xmlns:a="http://schemas.openxmlformats.org/drawingml/2006/main" noGrp="1"/>
          </p:cNvSpPr>
          <p:nvPr/>
        </p:nvSpPr>
        <p:spPr>
          <a:xfrm xmlns:a="http://schemas.openxmlformats.org/drawingml/2006/main">
            <a:off x="838200" y="5238750"/>
            <a:ext cx="105156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SDG 9: reliable digital infrastructure</a:t>
            </a:r>
          </a:p>
          <a:p xmlns:a="http://schemas.openxmlformats.org/drawingml/2006/main">
            <a:pPr algn="l">
              <a:defRPr sz="2000" b="0">
                <a:solidFill>
                  <a:srgbClr val="000000"/>
                </a:solidFill>
                <a:latin typeface="Times New Roman"/>
                <a:ea typeface="Times New Roman"/>
                <a:cs typeface="Times New Roman"/>
              </a:defRPr>
            </a:pPr>
            <a:r>
              <a:rPr sz="2000" b="0">
                <a:solidFill>
                  <a:srgbClr val="000000"/>
                </a:solidFill>
                <a:latin typeface="Times New Roman"/>
                <a:ea typeface="Times New Roman"/>
                <a:cs typeface="Times New Roman"/>
              </a:rPr>
              <a:t>SDG 16: accountable security decisions</a:t>
            </a:r>
          </a:p>
        </p:txBody>
      </p:sp>
    </p:spTree>
    <p:extLst>
      <p:ext uri="{BB962C8B-B14F-4D97-AF65-F5344CB8AC3E}">
        <p14:creationId xmlns:p14="http://schemas.microsoft.com/office/powerpoint/2010/main" val="233596249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5DE9EA00-8D77-8DC9-1AE3-8B6FD1AF6BCC}"/>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Framework / Architecture</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EF715DBE-5053-4DF0-9688-6D743C40CC46}"/>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C4C07CFE-4A22-4FEF-9BAC-7A664565C98B}"/>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8">
            <a:extLst xmlns:a="http://schemas.openxmlformats.org/drawingml/2006/main">
              <a:ext uri="{FF2B5EF4-FFF2-40B4-BE49-F238E27FC236}">
                <a16:creationId xmlns:a16="http://schemas.microsoft.com/office/drawing/2014/main" id="{02331C73-DA9A-46F9-AC60-5BD2B62DEEAA}"/>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8</a:t>
            </a:r>
          </a:p>
        </p:txBody>
      </p:sp>
      <p:sp>
        <p:nvSpPr>
          <p:cNvPr id="8" name="CloudTrail&#10;logs">
            <a:extLst xmlns:a="http://schemas.openxmlformats.org/drawingml/2006/main">
              <a:ext uri="{FF2B5EF4-FFF2-40B4-BE49-F238E27FC236}">
                <a16:creationId xmlns:a16="http://schemas.microsoft.com/office/drawing/2014/main" id="{3A10E1BF-BCE1-45FA-9D57-D8F6409F7D59}"/>
              </a:ext>
            </a:extLst>
          </p:cNvPr>
          <p:cNvSpPr>
            <a:spLocks xmlns:a="http://schemas.openxmlformats.org/drawingml/2006/main" noGrp="1"/>
          </p:cNvSpPr>
          <p:nvPr/>
        </p:nvSpPr>
        <p:spPr>
          <a:xfrm xmlns:a="http://schemas.openxmlformats.org/drawingml/2006/main">
            <a:off x="838200" y="1952625"/>
            <a:ext cx="2333625" cy="952500"/>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CloudTrail</a:t>
            </a:r>
          </a:p>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logs</a:t>
            </a:r>
          </a:p>
        </p:txBody>
      </p:sp>
      <p:sp>
        <p:nvSpPr>
          <p:cNvPr id="9" name="Prepare&#10;features">
            <a:extLst xmlns:a="http://schemas.openxmlformats.org/drawingml/2006/main">
              <a:ext uri="{FF2B5EF4-FFF2-40B4-BE49-F238E27FC236}">
                <a16:creationId xmlns:a16="http://schemas.microsoft.com/office/drawing/2014/main" id="{6582AA06-9113-449F-B7FA-FD76A091652B}"/>
              </a:ext>
            </a:extLst>
          </p:cNvPr>
          <p:cNvSpPr>
            <a:spLocks xmlns:a="http://schemas.openxmlformats.org/drawingml/2006/main" noGrp="1"/>
          </p:cNvSpPr>
          <p:nvPr/>
        </p:nvSpPr>
        <p:spPr>
          <a:xfrm xmlns:a="http://schemas.openxmlformats.org/drawingml/2006/main">
            <a:off x="3571875" y="1952625"/>
            <a:ext cx="2333625" cy="952500"/>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Prepare</a:t>
            </a:r>
          </a:p>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features</a:t>
            </a:r>
          </a:p>
        </p:txBody>
      </p:sp>
      <p:sp>
        <p:nvSpPr>
          <p:cNvPr id="10" name="Isolation Forest&#10;scores">
            <a:extLst xmlns:a="http://schemas.openxmlformats.org/drawingml/2006/main">
              <a:ext uri="{FF2B5EF4-FFF2-40B4-BE49-F238E27FC236}">
                <a16:creationId xmlns:a16="http://schemas.microsoft.com/office/drawing/2014/main" id="{68FA59CD-8C01-4A38-8087-076CFCACEED3}"/>
              </a:ext>
            </a:extLst>
          </p:cNvPr>
          <p:cNvSpPr>
            <a:spLocks xmlns:a="http://schemas.openxmlformats.org/drawingml/2006/main" noGrp="1"/>
          </p:cNvSpPr>
          <p:nvPr/>
        </p:nvSpPr>
        <p:spPr>
          <a:xfrm xmlns:a="http://schemas.openxmlformats.org/drawingml/2006/main">
            <a:off x="6305550" y="1952625"/>
            <a:ext cx="2333625" cy="952500"/>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Isolation Forest</a:t>
            </a:r>
          </a:p>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scores</a:t>
            </a:r>
          </a:p>
        </p:txBody>
      </p:sp>
      <p:sp>
        <p:nvSpPr>
          <p:cNvPr id="11" name="SHAP&#10;explanations">
            <a:extLst xmlns:a="http://schemas.openxmlformats.org/drawingml/2006/main">
              <a:ext uri="{FF2B5EF4-FFF2-40B4-BE49-F238E27FC236}">
                <a16:creationId xmlns:a16="http://schemas.microsoft.com/office/drawing/2014/main" id="{E8EF15A7-50CD-4A9F-8515-B6D0F47D6E8F}"/>
              </a:ext>
            </a:extLst>
          </p:cNvPr>
          <p:cNvSpPr>
            <a:spLocks xmlns:a="http://schemas.openxmlformats.org/drawingml/2006/main" noGrp="1"/>
          </p:cNvSpPr>
          <p:nvPr/>
        </p:nvSpPr>
        <p:spPr>
          <a:xfrm xmlns:a="http://schemas.openxmlformats.org/drawingml/2006/main">
            <a:off x="9039225" y="1952625"/>
            <a:ext cx="2333625" cy="952500"/>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SHAP</a:t>
            </a:r>
          </a:p>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explanations</a:t>
            </a:r>
          </a:p>
        </p:txBody>
      </p:sp>
      <p:sp>
        <p:nvSpPr>
          <p:cNvPr id="12" name="Flow connector">
            <a:extLst xmlns:a="http://schemas.openxmlformats.org/drawingml/2006/main">
              <a:ext uri="{FF2B5EF4-FFF2-40B4-BE49-F238E27FC236}">
                <a16:creationId xmlns:a16="http://schemas.microsoft.com/office/drawing/2014/main" id="{1C9EE36A-E0E3-4AF5-99A7-76655DFEE521}"/>
              </a:ext>
            </a:extLst>
          </p:cNvPr>
          <p:cNvSpPr>
            <a:spLocks xmlns:a="http://schemas.openxmlformats.org/drawingml/2006/main" noGrp="1"/>
          </p:cNvSpPr>
          <p:nvPr/>
        </p:nvSpPr>
        <p:spPr>
          <a:xfrm xmlns:a="http://schemas.openxmlformats.org/drawingml/2006/main">
            <a:off x="3209925" y="2314575"/>
            <a:ext cx="323850" cy="228600"/>
          </a:xfrm>
          <a:prstGeom xmlns:a="http://schemas.openxmlformats.org/drawingml/2006/main" prst="rightArrow">
            <a:avLst/>
          </a:prstGeom>
          <a:solidFill xmlns:a="http://schemas.openxmlformats.org/drawingml/2006/main">
            <a:srgbClr val="4F81BD"/>
          </a:solidFill>
          <a:ln xmlns:a="http://schemas.openxmlformats.org/drawingml/2006/main" w="0">
            <a:solidFill>
              <a:srgbClr val="4F81BD"/>
            </a:solidFill>
          </a:ln>
        </p:spPr>
      </p:sp>
      <p:sp>
        <p:nvSpPr>
          <p:cNvPr id="13" name="Flow connector">
            <a:extLst xmlns:a="http://schemas.openxmlformats.org/drawingml/2006/main">
              <a:ext uri="{FF2B5EF4-FFF2-40B4-BE49-F238E27FC236}">
                <a16:creationId xmlns:a16="http://schemas.microsoft.com/office/drawing/2014/main" id="{34DE9107-FACC-4C67-B4DF-9808AA0EC444}"/>
              </a:ext>
            </a:extLst>
          </p:cNvPr>
          <p:cNvSpPr>
            <a:spLocks xmlns:a="http://schemas.openxmlformats.org/drawingml/2006/main" noGrp="1"/>
          </p:cNvSpPr>
          <p:nvPr/>
        </p:nvSpPr>
        <p:spPr>
          <a:xfrm xmlns:a="http://schemas.openxmlformats.org/drawingml/2006/main">
            <a:off x="5943600" y="2314575"/>
            <a:ext cx="323850" cy="228600"/>
          </a:xfrm>
          <a:prstGeom xmlns:a="http://schemas.openxmlformats.org/drawingml/2006/main" prst="rightArrow">
            <a:avLst/>
          </a:prstGeom>
          <a:solidFill xmlns:a="http://schemas.openxmlformats.org/drawingml/2006/main">
            <a:srgbClr val="4F81BD"/>
          </a:solidFill>
          <a:ln xmlns:a="http://schemas.openxmlformats.org/drawingml/2006/main" w="0">
            <a:solidFill>
              <a:srgbClr val="4F81BD"/>
            </a:solidFill>
          </a:ln>
        </p:spPr>
      </p:sp>
      <p:sp>
        <p:nvSpPr>
          <p:cNvPr id="14" name="Flow connector">
            <a:extLst xmlns:a="http://schemas.openxmlformats.org/drawingml/2006/main">
              <a:ext uri="{FF2B5EF4-FFF2-40B4-BE49-F238E27FC236}">
                <a16:creationId xmlns:a16="http://schemas.microsoft.com/office/drawing/2014/main" id="{B1DAAF61-2A23-4CBF-8600-66A515F4E5FC}"/>
              </a:ext>
            </a:extLst>
          </p:cNvPr>
          <p:cNvSpPr>
            <a:spLocks xmlns:a="http://schemas.openxmlformats.org/drawingml/2006/main" noGrp="1"/>
          </p:cNvSpPr>
          <p:nvPr/>
        </p:nvSpPr>
        <p:spPr>
          <a:xfrm xmlns:a="http://schemas.openxmlformats.org/drawingml/2006/main">
            <a:off x="8677275" y="2314575"/>
            <a:ext cx="323850" cy="228600"/>
          </a:xfrm>
          <a:prstGeom xmlns:a="http://schemas.openxmlformats.org/drawingml/2006/main" prst="rightArrow">
            <a:avLst/>
          </a:prstGeom>
          <a:solidFill xmlns:a="http://schemas.openxmlformats.org/drawingml/2006/main">
            <a:srgbClr val="4F81BD"/>
          </a:solidFill>
          <a:ln xmlns:a="http://schemas.openxmlformats.org/drawingml/2006/main" w="0">
            <a:solidFill>
              <a:srgbClr val="4F81BD"/>
            </a:solidFill>
          </a:ln>
        </p:spPr>
      </p:sp>
      <p:sp>
        <p:nvSpPr>
          <p:cNvPr id="15" name="Explanations to drift measurement">
            <a:extLst xmlns:a="http://schemas.openxmlformats.org/drawingml/2006/main">
              <a:ext uri="{FF2B5EF4-FFF2-40B4-BE49-F238E27FC236}">
                <a16:creationId xmlns:a16="http://schemas.microsoft.com/office/drawing/2014/main" id="{C31E373C-5721-4154-9619-FF43476CE413}"/>
              </a:ext>
            </a:extLst>
          </p:cNvPr>
          <p:cNvSpPr>
            <a:spLocks xmlns:a="http://schemas.openxmlformats.org/drawingml/2006/main" noGrp="1"/>
          </p:cNvSpPr>
          <p:nvPr/>
        </p:nvSpPr>
        <p:spPr>
          <a:xfrm xmlns:a="http://schemas.openxmlformats.org/drawingml/2006/main">
            <a:off x="10096500" y="2971800"/>
            <a:ext cx="228600" cy="266700"/>
          </a:xfrm>
          <a:prstGeom xmlns:a="http://schemas.openxmlformats.org/drawingml/2006/main" prst="downArrow">
            <a:avLst/>
          </a:prstGeom>
          <a:solidFill xmlns:a="http://schemas.openxmlformats.org/drawingml/2006/main">
            <a:srgbClr val="4F81BD"/>
          </a:solidFill>
          <a:ln xmlns:a="http://schemas.openxmlformats.org/drawingml/2006/main" w="0">
            <a:solidFill>
              <a:srgbClr val="4F81BD"/>
            </a:solidFill>
          </a:ln>
        </p:spPr>
      </p:sp>
      <p:sp>
        <p:nvSpPr>
          <p:cNvPr id="16" name="Continue to the drift stage">
            <a:extLst xmlns:a="http://schemas.openxmlformats.org/drawingml/2006/main">
              <a:ext uri="{FF2B5EF4-FFF2-40B4-BE49-F238E27FC236}">
                <a16:creationId xmlns:a16="http://schemas.microsoft.com/office/drawing/2014/main" id="{36B73B8B-CF33-4B48-AC1F-9D3072706F95}"/>
              </a:ext>
            </a:extLst>
          </p:cNvPr>
          <p:cNvSpPr>
            <a:spLocks xmlns:a="http://schemas.openxmlformats.org/drawingml/2006/main" noGrp="1"/>
          </p:cNvSpPr>
          <p:nvPr/>
        </p:nvSpPr>
        <p:spPr>
          <a:xfrm xmlns:a="http://schemas.openxmlformats.org/drawingml/2006/main">
            <a:off x="2428875" y="3295650"/>
            <a:ext cx="7905750" cy="190500"/>
          </a:xfrm>
          <a:prstGeom xmlns:a="http://schemas.openxmlformats.org/drawingml/2006/main" prst="leftArrow">
            <a:avLst/>
          </a:prstGeom>
          <a:solidFill xmlns:a="http://schemas.openxmlformats.org/drawingml/2006/main">
            <a:srgbClr val="4F81BD"/>
          </a:solidFill>
          <a:ln xmlns:a="http://schemas.openxmlformats.org/drawingml/2006/main" w="0">
            <a:solidFill>
              <a:srgbClr val="4F81BD"/>
            </a:solidFill>
          </a:ln>
        </p:spPr>
      </p:sp>
      <p:sp>
        <p:nvSpPr>
          <p:cNvPr id="17" name="Enter drift measurement">
            <a:extLst xmlns:a="http://schemas.openxmlformats.org/drawingml/2006/main">
              <a:ext uri="{FF2B5EF4-FFF2-40B4-BE49-F238E27FC236}">
                <a16:creationId xmlns:a16="http://schemas.microsoft.com/office/drawing/2014/main" id="{D3875BF3-3802-4543-B858-DA1BB2E3B6B6}"/>
              </a:ext>
            </a:extLst>
          </p:cNvPr>
          <p:cNvSpPr>
            <a:spLocks xmlns:a="http://schemas.openxmlformats.org/drawingml/2006/main" noGrp="1"/>
          </p:cNvSpPr>
          <p:nvPr/>
        </p:nvSpPr>
        <p:spPr>
          <a:xfrm xmlns:a="http://schemas.openxmlformats.org/drawingml/2006/main">
            <a:off x="2333625" y="3552825"/>
            <a:ext cx="190500" cy="257175"/>
          </a:xfrm>
          <a:prstGeom xmlns:a="http://schemas.openxmlformats.org/drawingml/2006/main" prst="downArrow">
            <a:avLst/>
          </a:prstGeom>
          <a:solidFill xmlns:a="http://schemas.openxmlformats.org/drawingml/2006/main">
            <a:srgbClr val="4F81BD"/>
          </a:solidFill>
          <a:ln xmlns:a="http://schemas.openxmlformats.org/drawingml/2006/main" w="0">
            <a:solidFill>
              <a:srgbClr val="4F81BD"/>
            </a:solidFill>
          </a:ln>
        </p:spPr>
      </p:sp>
      <p:sp>
        <p:nvSpPr>
          <p:cNvPr id="18" name="Feature drift and SHAP drift">
            <a:extLst xmlns:a="http://schemas.openxmlformats.org/drawingml/2006/main">
              <a:ext uri="{FF2B5EF4-FFF2-40B4-BE49-F238E27FC236}">
                <a16:creationId xmlns:a16="http://schemas.microsoft.com/office/drawing/2014/main" id="{0458977D-2302-4790-ADFC-44F2F9F95DA8}"/>
              </a:ext>
            </a:extLst>
          </p:cNvPr>
          <p:cNvSpPr>
            <a:spLocks xmlns:a="http://schemas.openxmlformats.org/drawingml/2006/main" noGrp="1"/>
          </p:cNvSpPr>
          <p:nvPr/>
        </p:nvSpPr>
        <p:spPr>
          <a:xfrm xmlns:a="http://schemas.openxmlformats.org/drawingml/2006/main">
            <a:off x="838200" y="3857625"/>
            <a:ext cx="3190875" cy="1000125"/>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Feature drift and SHAP drift</a:t>
            </a:r>
          </a:p>
        </p:txBody>
      </p:sp>
      <p:sp>
        <p:nvSpPr>
          <p:cNvPr id="19" name="Coupling and&#10;diagnosis">
            <a:extLst xmlns:a="http://schemas.openxmlformats.org/drawingml/2006/main">
              <a:ext uri="{FF2B5EF4-FFF2-40B4-BE49-F238E27FC236}">
                <a16:creationId xmlns:a16="http://schemas.microsoft.com/office/drawing/2014/main" id="{82EEFEEE-105A-4987-B0F1-11B1FD78DD65}"/>
              </a:ext>
            </a:extLst>
          </p:cNvPr>
          <p:cNvSpPr>
            <a:spLocks xmlns:a="http://schemas.openxmlformats.org/drawingml/2006/main" noGrp="1"/>
          </p:cNvSpPr>
          <p:nvPr/>
        </p:nvSpPr>
        <p:spPr>
          <a:xfrm xmlns:a="http://schemas.openxmlformats.org/drawingml/2006/main">
            <a:off x="4505325" y="3857625"/>
            <a:ext cx="3190875" cy="1000125"/>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Coupling and</a:t>
            </a:r>
          </a:p>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diagnosis</a:t>
            </a:r>
          </a:p>
        </p:txBody>
      </p:sp>
      <p:sp>
        <p:nvSpPr>
          <p:cNvPr id="20" name="Protected&#10;model update">
            <a:extLst xmlns:a="http://schemas.openxmlformats.org/drawingml/2006/main">
              <a:ext uri="{FF2B5EF4-FFF2-40B4-BE49-F238E27FC236}">
                <a16:creationId xmlns:a16="http://schemas.microsoft.com/office/drawing/2014/main" id="{C67866FA-EF29-4D62-8041-04C3CFC99B01}"/>
              </a:ext>
            </a:extLst>
          </p:cNvPr>
          <p:cNvSpPr>
            <a:spLocks xmlns:a="http://schemas.openxmlformats.org/drawingml/2006/main" noGrp="1"/>
          </p:cNvSpPr>
          <p:nvPr/>
        </p:nvSpPr>
        <p:spPr>
          <a:xfrm xmlns:a="http://schemas.openxmlformats.org/drawingml/2006/main">
            <a:off x="8172450" y="3857625"/>
            <a:ext cx="3190875" cy="1000125"/>
          </a:xfrm>
          <a:prstGeom xmlns:a="http://schemas.openxmlformats.org/drawingml/2006/main" prst="rect">
            <a:avLst/>
          </a:prstGeom>
          <a:solidFill xmlns:a="http://schemas.openxmlformats.org/drawingml/2006/main">
            <a:srgbClr val="F1F5FB"/>
          </a:solidFill>
          <a:ln xmlns:a="http://schemas.openxmlformats.org/drawingml/2006/main" w="14288">
            <a:solidFill>
              <a:srgbClr val="4F81BD"/>
            </a:solidFill>
          </a:ln>
        </p:spPr>
        <p:txBody>
          <a:bodyPr xmlns:a="http://schemas.openxmlformats.org/drawingml/2006/main" anchor="ctr"/>
          <a:lstStyle xmlns:a="http://schemas.openxmlformats.org/drawingml/2006/main">
            <a:defPPr algn="ctr">
              <a:defRPr sz="2200">
                <a:solidFill>
                  <a:srgbClr val="000000"/>
                </a:solidFill>
                <a:latin typeface="Times New Roman"/>
                <a:ea typeface="Times New Roman"/>
                <a:cs typeface="Times New Roman"/>
              </a:defRPr>
            </a:defPPr>
            <a:lvl1pPr algn="ctr">
              <a:defRPr sz="2200">
                <a:solidFill>
                  <a:srgbClr val="000000"/>
                </a:solidFill>
                <a:latin typeface="Times New Roman"/>
                <a:ea typeface="Times New Roman"/>
                <a:cs typeface="Times New Roman"/>
              </a:defRPr>
            </a:lvl1pPr>
            <a:lvl2pPr algn="ctr">
              <a:defRPr sz="2200">
                <a:solidFill>
                  <a:srgbClr val="000000"/>
                </a:solidFill>
                <a:latin typeface="Times New Roman"/>
                <a:ea typeface="Times New Roman"/>
                <a:cs typeface="Times New Roman"/>
              </a:defRPr>
            </a:lvl2pPr>
            <a:lvl3pPr algn="ctr">
              <a:defRPr sz="2200">
                <a:solidFill>
                  <a:srgbClr val="000000"/>
                </a:solidFill>
                <a:latin typeface="Times New Roman"/>
                <a:ea typeface="Times New Roman"/>
                <a:cs typeface="Times New Roman"/>
              </a:defRPr>
            </a:lvl3pPr>
            <a:lvl4pPr algn="ctr">
              <a:defRPr sz="2200">
                <a:solidFill>
                  <a:srgbClr val="000000"/>
                </a:solidFill>
                <a:latin typeface="Times New Roman"/>
                <a:ea typeface="Times New Roman"/>
                <a:cs typeface="Times New Roman"/>
              </a:defRPr>
            </a:lvl4pPr>
            <a:lvl5pPr algn="ctr">
              <a:defRPr sz="2200">
                <a:solidFill>
                  <a:srgbClr val="000000"/>
                </a:solidFill>
                <a:latin typeface="Times New Roman"/>
                <a:ea typeface="Times New Roman"/>
                <a:cs typeface="Times New Roman"/>
              </a:defRPr>
            </a:lvl5pPr>
            <a:lvl6pPr algn="ctr">
              <a:defRPr sz="2200">
                <a:solidFill>
                  <a:srgbClr val="000000"/>
                </a:solidFill>
                <a:latin typeface="Times New Roman"/>
                <a:ea typeface="Times New Roman"/>
                <a:cs typeface="Times New Roman"/>
              </a:defRPr>
            </a:lvl6pPr>
            <a:lvl7pPr algn="ctr">
              <a:defRPr sz="2200">
                <a:solidFill>
                  <a:srgbClr val="000000"/>
                </a:solidFill>
                <a:latin typeface="Times New Roman"/>
                <a:ea typeface="Times New Roman"/>
                <a:cs typeface="Times New Roman"/>
              </a:defRPr>
            </a:lvl7pPr>
            <a:lvl8pPr algn="ctr">
              <a:defRPr sz="2200">
                <a:solidFill>
                  <a:srgbClr val="000000"/>
                </a:solidFill>
                <a:latin typeface="Times New Roman"/>
                <a:ea typeface="Times New Roman"/>
                <a:cs typeface="Times New Roman"/>
              </a:defRPr>
            </a:lvl8pPr>
            <a:lvl9pPr algn="ctr">
              <a:defRPr sz="2200">
                <a:solidFill>
                  <a:srgbClr val="000000"/>
                </a:solidFill>
                <a:latin typeface="Times New Roman"/>
                <a:ea typeface="Times New Roman"/>
                <a:cs typeface="Times New Roman"/>
              </a:defRPr>
            </a:lvl9pPr>
          </a:lstStyle>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Protected</a:t>
            </a:r>
          </a:p>
          <a:p xmlns:a="http://schemas.openxmlformats.org/drawingml/2006/main">
            <a:pPr algn="ctr">
              <a:defRPr sz="2200">
                <a:solidFill>
                  <a:srgbClr val="000000"/>
                </a:solidFill>
                <a:latin typeface="Times New Roman"/>
                <a:ea typeface="Times New Roman"/>
                <a:cs typeface="Times New Roman"/>
              </a:defRPr>
            </a:pPr>
            <a:r>
              <a:rPr sz="2200">
                <a:solidFill>
                  <a:srgbClr val="000000"/>
                </a:solidFill>
                <a:latin typeface="Times New Roman"/>
                <a:ea typeface="Times New Roman"/>
                <a:cs typeface="Times New Roman"/>
              </a:rPr>
              <a:t>model update</a:t>
            </a:r>
          </a:p>
        </p:txBody>
      </p:sp>
      <p:sp>
        <p:nvSpPr>
          <p:cNvPr id="21" name="Flow connector">
            <a:extLst xmlns:a="http://schemas.openxmlformats.org/drawingml/2006/main">
              <a:ext uri="{FF2B5EF4-FFF2-40B4-BE49-F238E27FC236}">
                <a16:creationId xmlns:a16="http://schemas.microsoft.com/office/drawing/2014/main" id="{41ECAB6F-3358-4907-AFB2-4A9739BCBA19}"/>
              </a:ext>
            </a:extLst>
          </p:cNvPr>
          <p:cNvSpPr>
            <a:spLocks xmlns:a="http://schemas.openxmlformats.org/drawingml/2006/main" noGrp="1"/>
          </p:cNvSpPr>
          <p:nvPr/>
        </p:nvSpPr>
        <p:spPr>
          <a:xfrm xmlns:a="http://schemas.openxmlformats.org/drawingml/2006/main">
            <a:off x="4095750" y="4238625"/>
            <a:ext cx="323850" cy="228600"/>
          </a:xfrm>
          <a:prstGeom xmlns:a="http://schemas.openxmlformats.org/drawingml/2006/main" prst="rightArrow">
            <a:avLst/>
          </a:prstGeom>
          <a:solidFill xmlns:a="http://schemas.openxmlformats.org/drawingml/2006/main">
            <a:srgbClr val="4F81BD"/>
          </a:solidFill>
          <a:ln xmlns:a="http://schemas.openxmlformats.org/drawingml/2006/main" w="0">
            <a:solidFill>
              <a:srgbClr val="4F81BD"/>
            </a:solidFill>
          </a:ln>
        </p:spPr>
      </p:sp>
      <p:sp>
        <p:nvSpPr>
          <p:cNvPr id="22" name="Flow connector">
            <a:extLst xmlns:a="http://schemas.openxmlformats.org/drawingml/2006/main">
              <a:ext uri="{FF2B5EF4-FFF2-40B4-BE49-F238E27FC236}">
                <a16:creationId xmlns:a16="http://schemas.microsoft.com/office/drawing/2014/main" id="{3DC70810-FB62-42B2-A5C1-A78683276F1C}"/>
              </a:ext>
            </a:extLst>
          </p:cNvPr>
          <p:cNvSpPr>
            <a:spLocks xmlns:a="http://schemas.openxmlformats.org/drawingml/2006/main" noGrp="1"/>
          </p:cNvSpPr>
          <p:nvPr/>
        </p:nvSpPr>
        <p:spPr>
          <a:xfrm xmlns:a="http://schemas.openxmlformats.org/drawingml/2006/main">
            <a:off x="7762875" y="4238625"/>
            <a:ext cx="323850" cy="228600"/>
          </a:xfrm>
          <a:prstGeom xmlns:a="http://schemas.openxmlformats.org/drawingml/2006/main" prst="rightArrow">
            <a:avLst/>
          </a:prstGeom>
          <a:solidFill xmlns:a="http://schemas.openxmlformats.org/drawingml/2006/main">
            <a:srgbClr val="4F81BD"/>
          </a:solidFill>
          <a:ln xmlns:a="http://schemas.openxmlformats.org/drawingml/2006/main" w="0">
            <a:solidFill>
              <a:srgbClr val="4F81BD"/>
            </a:solidFill>
          </a:ln>
        </p:spPr>
      </p:sp>
      <p:sp>
        <p:nvSpPr>
          <p:cNvPr id="23" name="The model uses past data plus current rows it">
            <a:extLst xmlns:a="http://schemas.openxmlformats.org/drawingml/2006/main">
              <a:ext uri="{FF2B5EF4-FFF2-40B4-BE49-F238E27FC236}">
                <a16:creationId xmlns:a16="http://schemas.microsoft.com/office/drawing/2014/main" id="{151F54CC-3413-4C63-B3A2-389939CC1196}"/>
              </a:ext>
            </a:extLst>
          </p:cNvPr>
          <p:cNvSpPr>
            <a:spLocks xmlns:a="http://schemas.openxmlformats.org/drawingml/2006/main" noGrp="1"/>
          </p:cNvSpPr>
          <p:nvPr/>
        </p:nvSpPr>
        <p:spPr>
          <a:xfrm xmlns:a="http://schemas.openxmlformats.org/drawingml/2006/main">
            <a:off x="838200" y="5286375"/>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00" b="0">
                <a:solidFill>
                  <a:srgbClr val="000000"/>
                </a:solidFill>
                <a:latin typeface="Times New Roman"/>
                <a:ea typeface="Times New Roman"/>
                <a:cs typeface="Times New Roman"/>
              </a:defRPr>
            </a:defPPr>
            <a:lvl1pPr algn="l">
              <a:defRPr sz="2200" b="0">
                <a:solidFill>
                  <a:srgbClr val="000000"/>
                </a:solidFill>
                <a:latin typeface="Times New Roman"/>
                <a:ea typeface="Times New Roman"/>
                <a:cs typeface="Times New Roman"/>
              </a:defRPr>
            </a:lvl1pPr>
            <a:lvl2pPr algn="l">
              <a:defRPr sz="2200" b="0">
                <a:solidFill>
                  <a:srgbClr val="000000"/>
                </a:solidFill>
                <a:latin typeface="Times New Roman"/>
                <a:ea typeface="Times New Roman"/>
                <a:cs typeface="Times New Roman"/>
              </a:defRPr>
            </a:lvl2pPr>
            <a:lvl3pPr algn="l">
              <a:defRPr sz="2200" b="0">
                <a:solidFill>
                  <a:srgbClr val="000000"/>
                </a:solidFill>
                <a:latin typeface="Times New Roman"/>
                <a:ea typeface="Times New Roman"/>
                <a:cs typeface="Times New Roman"/>
              </a:defRPr>
            </a:lvl3pPr>
            <a:lvl4pPr algn="l">
              <a:defRPr sz="2200" b="0">
                <a:solidFill>
                  <a:srgbClr val="000000"/>
                </a:solidFill>
                <a:latin typeface="Times New Roman"/>
                <a:ea typeface="Times New Roman"/>
                <a:cs typeface="Times New Roman"/>
              </a:defRPr>
            </a:lvl4pPr>
            <a:lvl5pPr algn="l">
              <a:defRPr sz="2200" b="0">
                <a:solidFill>
                  <a:srgbClr val="000000"/>
                </a:solidFill>
                <a:latin typeface="Times New Roman"/>
                <a:ea typeface="Times New Roman"/>
                <a:cs typeface="Times New Roman"/>
              </a:defRPr>
            </a:lvl5pPr>
            <a:lvl6pPr algn="l">
              <a:defRPr sz="2200" b="0">
                <a:solidFill>
                  <a:srgbClr val="000000"/>
                </a:solidFill>
                <a:latin typeface="Times New Roman"/>
                <a:ea typeface="Times New Roman"/>
                <a:cs typeface="Times New Roman"/>
              </a:defRPr>
            </a:lvl6pPr>
            <a:lvl7pPr algn="l">
              <a:defRPr sz="2200" b="0">
                <a:solidFill>
                  <a:srgbClr val="000000"/>
                </a:solidFill>
                <a:latin typeface="Times New Roman"/>
                <a:ea typeface="Times New Roman"/>
                <a:cs typeface="Times New Roman"/>
              </a:defRPr>
            </a:lvl7pPr>
            <a:lvl8pPr algn="l">
              <a:defRPr sz="2200" b="0">
                <a:solidFill>
                  <a:srgbClr val="000000"/>
                </a:solidFill>
                <a:latin typeface="Times New Roman"/>
                <a:ea typeface="Times New Roman"/>
                <a:cs typeface="Times New Roman"/>
              </a:defRPr>
            </a:lvl8pPr>
            <a:lvl9pPr algn="l">
              <a:defRPr sz="2200" b="0">
                <a:solidFill>
                  <a:srgbClr val="000000"/>
                </a:solidFill>
                <a:latin typeface="Times New Roman"/>
                <a:ea typeface="Times New Roman"/>
                <a:cs typeface="Times New Roman"/>
              </a:defRPr>
            </a:lvl9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The model uses past data plus current rows it predicts as normal for a requested update.</a:t>
            </a:r>
          </a:p>
        </p:txBody>
      </p:sp>
    </p:spTree>
    <p:extLst>
      <p:ext uri="{BB962C8B-B14F-4D97-AF65-F5344CB8AC3E}">
        <p14:creationId xmlns:p14="http://schemas.microsoft.com/office/powerpoint/2010/main" val="6381353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0C9A0194-5820-F292-3A94-449C000E51A7}"/>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Functional Requirements</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4CEF5052-6C17-4F5D-A943-D5090722BA50}"/>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4C8C1681-5A3E-4C2F-AC5E-15D5AE56478E}"/>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9">
            <a:extLst xmlns:a="http://schemas.openxmlformats.org/drawingml/2006/main">
              <a:ext uri="{FF2B5EF4-FFF2-40B4-BE49-F238E27FC236}">
                <a16:creationId xmlns:a16="http://schemas.microsoft.com/office/drawing/2014/main" id="{F3E1B4D2-7E8C-4C87-9E42-44B2B789FFDF}"/>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9</a:t>
            </a:r>
          </a:p>
        </p:txBody>
      </p:sp>
      <p:sp>
        <p:nvSpPr>
          <p:cNvPr id="8" name="">
            <a:extLst xmlns:a="http://schemas.openxmlformats.org/drawingml/2006/main">
              <a:ext uri="{FF2B5EF4-FFF2-40B4-BE49-F238E27FC236}">
                <a16:creationId xmlns:a16="http://schemas.microsoft.com/office/drawing/2014/main" id="{1266A26D-55F6-41EA-A380-14C68B0E537D}"/>
              </a:ext>
            </a:extLst>
          </p:cNvPr>
          <p:cNvSpPr>
            <a:spLocks xmlns:a="http://schemas.openxmlformats.org/drawingml/2006/main" noGrp="1"/>
          </p:cNvSpPr>
          <p:nvPr/>
        </p:nvSpPr>
        <p:spPr>
          <a:xfrm xmlns:a="http://schemas.openxmlformats.org/drawingml/2006/main">
            <a:off x="838200" y="1809750"/>
            <a:ext cx="105156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600" b="0">
                <a:solidFill>
                  <a:srgbClr val="000000"/>
                </a:solidFill>
                <a:latin typeface="Times New Roman"/>
                <a:ea typeface="Times New Roman"/>
                <a:cs typeface="Times New Roman"/>
              </a:defRPr>
            </a:defPPr>
            <a:lvl1pPr algn="l">
              <a:defRPr sz="2600" b="0">
                <a:solidFill>
                  <a:srgbClr val="000000"/>
                </a:solidFill>
                <a:latin typeface="Times New Roman"/>
                <a:ea typeface="Times New Roman"/>
                <a:cs typeface="Times New Roman"/>
              </a:defRPr>
            </a:lvl1pPr>
            <a:lvl2pPr algn="l">
              <a:defRPr sz="2600" b="0">
                <a:solidFill>
                  <a:srgbClr val="000000"/>
                </a:solidFill>
                <a:latin typeface="Times New Roman"/>
                <a:ea typeface="Times New Roman"/>
                <a:cs typeface="Times New Roman"/>
              </a:defRPr>
            </a:lvl2pPr>
            <a:lvl3pPr algn="l">
              <a:defRPr sz="2600" b="0">
                <a:solidFill>
                  <a:srgbClr val="000000"/>
                </a:solidFill>
                <a:latin typeface="Times New Roman"/>
                <a:ea typeface="Times New Roman"/>
                <a:cs typeface="Times New Roman"/>
              </a:defRPr>
            </a:lvl3pPr>
            <a:lvl4pPr algn="l">
              <a:defRPr sz="2600" b="0">
                <a:solidFill>
                  <a:srgbClr val="000000"/>
                </a:solidFill>
                <a:latin typeface="Times New Roman"/>
                <a:ea typeface="Times New Roman"/>
                <a:cs typeface="Times New Roman"/>
              </a:defRPr>
            </a:lvl4pPr>
            <a:lvl5pPr algn="l">
              <a:defRPr sz="2600" b="0">
                <a:solidFill>
                  <a:srgbClr val="000000"/>
                </a:solidFill>
                <a:latin typeface="Times New Roman"/>
                <a:ea typeface="Times New Roman"/>
                <a:cs typeface="Times New Roman"/>
              </a:defRPr>
            </a:lvl5pPr>
            <a:lvl6pPr algn="l">
              <a:defRPr sz="2600" b="0">
                <a:solidFill>
                  <a:srgbClr val="000000"/>
                </a:solidFill>
                <a:latin typeface="Times New Roman"/>
                <a:ea typeface="Times New Roman"/>
                <a:cs typeface="Times New Roman"/>
              </a:defRPr>
            </a:lvl6pPr>
            <a:lvl7pPr algn="l">
              <a:defRPr sz="2600" b="0">
                <a:solidFill>
                  <a:srgbClr val="000000"/>
                </a:solidFill>
                <a:latin typeface="Times New Roman"/>
                <a:ea typeface="Times New Roman"/>
                <a:cs typeface="Times New Roman"/>
              </a:defRPr>
            </a:lvl7pPr>
            <a:lvl8pPr algn="l">
              <a:defRPr sz="2600" b="0">
                <a:solidFill>
                  <a:srgbClr val="000000"/>
                </a:solidFill>
                <a:latin typeface="Times New Roman"/>
                <a:ea typeface="Times New Roman"/>
                <a:cs typeface="Times New Roman"/>
              </a:defRPr>
            </a:lvl8pPr>
            <a:lvl9pPr algn="l">
              <a:defRPr sz="2600" b="0">
                <a:solidFill>
                  <a:srgbClr val="000000"/>
                </a:solidFill>
                <a:latin typeface="Times New Roman"/>
                <a:ea typeface="Times New Roman"/>
                <a:cs typeface="Times New Roman"/>
              </a:defRPr>
            </a:lvl9pPr>
          </a:lstStyle>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Read the source data without changing it.</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Learn feature codes from training data only.</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Save anomaly scores, explanations and drift signals.</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Apply the same update rules to each test scenario.</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Save results so they can be checked and repeated.</a:t>
            </a:r>
          </a:p>
        </p:txBody>
      </p:sp>
    </p:spTree>
    <p:extLst>
      <p:ext uri="{BB962C8B-B14F-4D97-AF65-F5344CB8AC3E}">
        <p14:creationId xmlns:p14="http://schemas.microsoft.com/office/powerpoint/2010/main" val="319129921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B27DA514-48FC-4BF4-8205-DE21D456C5FF}"/>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Modules</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EB027F7B-E300-468C-B648-1E7F7636D84A}"/>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2DA862CB-FB66-44E4-9853-9FC6C9427092}"/>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10">
            <a:extLst xmlns:a="http://schemas.openxmlformats.org/drawingml/2006/main">
              <a:ext uri="{FF2B5EF4-FFF2-40B4-BE49-F238E27FC236}">
                <a16:creationId xmlns:a16="http://schemas.microsoft.com/office/drawing/2014/main" id="{7BEB559F-5AF6-4670-AE67-356EA8C518B5}"/>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10</a:t>
            </a:r>
          </a:p>
        </p:txBody>
      </p:sp>
      <p:graphicFrame>
        <p:nvGraphicFramePr>
          <p:cNvPr id="8" name="">
            <a:extLst xmlns:a="http://schemas.openxmlformats.org/drawingml/2006/main">
              <a:ext uri="{FF2B5EF4-FFF2-40B4-BE49-F238E27FC236}">
                <a16:creationId xmlns:a16="http://schemas.microsoft.com/office/drawing/2014/main" id="{89983D94-AE7B-4983-975B-284357F12577}"/>
              </a:ext>
            </a:extLst>
          </p:cNvPr>
          <p:cNvGraphicFramePr/>
          <p:nvPr/>
        </p:nvGraphicFramePr>
        <p:xfrm>
          <a:off xmlns:a="http://schemas.openxmlformats.org/drawingml/2006/main" x="838200" y="1809750"/>
          <a:ext xmlns:a="http://schemas.openxmlformats.org/drawingml/2006/main" cx="10515600" cy="3476625"/>
        </p:xfrm>
        <a:graphic xmlns:a="http://schemas.openxmlformats.org/drawingml/2006/main">
          <a:graphicData uri="http://schemas.openxmlformats.org/drawingml/2006/table">
            <a:tbl>
              <a:tblPr firstRow="1" bandRow="0"/>
              <a:tblGrid>
                <a:gridCol w="3429000"/>
                <a:gridCol w="7086600"/>
              </a:tblGrid>
              <a:tr h="579438">
                <a:tc>
                  <a:txBody>
                    <a:bodyPr/>
                    <a:lstStyle/>
                    <a:p>
                      <a:pPr algn="l"/>
                      <a:r>
                        <a:rPr sz="2200" b="1">
                          <a:solidFill>
                            <a:srgbClr val="FFFFFF"/>
                          </a:solidFill>
                          <a:latin typeface="Times New Roman"/>
                          <a:ea typeface="Times New Roman"/>
                          <a:cs typeface="Times New Roman"/>
                        </a:rPr>
                        <a:t>Module</a:t>
                      </a:r>
                    </a:p>
                  </a:txBody>
                  <a:tcPr marL="85725" marR="85725" marT="66675" marB="66675" anchor="ctr">
                    <a:lnL w="9525">
                      <a:solidFill>
                        <a:srgbClr val="B6BEC8"/>
                      </a:solidFill>
                      <a:prstDash val="solid"/>
                    </a:lnL>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2200" b="1">
                          <a:solidFill>
                            <a:srgbClr val="FFFFFF"/>
                          </a:solidFill>
                          <a:latin typeface="Times New Roman"/>
                          <a:ea typeface="Times New Roman"/>
                          <a:cs typeface="Times New Roman"/>
                        </a:rPr>
                        <a:t>What it does</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r>
              <a:tr h="579438">
                <a:tc>
                  <a:txBody>
                    <a:bodyPr/>
                    <a:lstStyle/>
                    <a:p>
                      <a:pPr algn="l"/>
                      <a:r>
                        <a:rPr sz="2200" b="0">
                          <a:solidFill>
                            <a:srgbClr val="000000"/>
                          </a:solidFill>
                          <a:latin typeface="Times New Roman"/>
                          <a:ea typeface="Times New Roman"/>
                          <a:cs typeface="Times New Roman"/>
                        </a:rPr>
                        <a:t>Data preparation</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2200" b="0">
                          <a:solidFill>
                            <a:srgbClr val="000000"/>
                          </a:solidFill>
                          <a:latin typeface="Times New Roman"/>
                          <a:ea typeface="Times New Roman"/>
                          <a:cs typeface="Times New Roman"/>
                        </a:rPr>
                        <a:t>Checks the source and builds monthly windows</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579438">
                <a:tc>
                  <a:txBody>
                    <a:bodyPr/>
                    <a:lstStyle/>
                    <a:p>
                      <a:pPr algn="l"/>
                      <a:r>
                        <a:rPr sz="2200" b="0">
                          <a:solidFill>
                            <a:srgbClr val="000000"/>
                          </a:solidFill>
                          <a:latin typeface="Times New Roman"/>
                          <a:ea typeface="Times New Roman"/>
                          <a:cs typeface="Times New Roman"/>
                        </a:rPr>
                        <a:t>Detection and explanation</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2200" b="0">
                          <a:solidFill>
                            <a:srgbClr val="000000"/>
                          </a:solidFill>
                          <a:latin typeface="Times New Roman"/>
                          <a:ea typeface="Times New Roman"/>
                          <a:cs typeface="Times New Roman"/>
                        </a:rPr>
                        <a:t>Finds unusual events and computes SHAP values</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579438">
                <a:tc>
                  <a:txBody>
                    <a:bodyPr/>
                    <a:lstStyle/>
                    <a:p>
                      <a:pPr algn="l"/>
                      <a:r>
                        <a:rPr sz="2200" b="0">
                          <a:solidFill>
                            <a:srgbClr val="000000"/>
                          </a:solidFill>
                          <a:latin typeface="Times New Roman"/>
                          <a:ea typeface="Times New Roman"/>
                          <a:cs typeface="Times New Roman"/>
                        </a:rPr>
                        <a:t>Drift and coupling</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2200" b="0">
                          <a:solidFill>
                            <a:srgbClr val="000000"/>
                          </a:solidFill>
                          <a:latin typeface="Times New Roman"/>
                          <a:ea typeface="Times New Roman"/>
                          <a:cs typeface="Times New Roman"/>
                        </a:rPr>
                        <a:t>Compares data changes with explanation changes</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579438">
                <a:tc>
                  <a:txBody>
                    <a:bodyPr/>
                    <a:lstStyle/>
                    <a:p>
                      <a:pPr algn="l"/>
                      <a:r>
                        <a:rPr sz="2200" b="0">
                          <a:solidFill>
                            <a:srgbClr val="000000"/>
                          </a:solidFill>
                          <a:latin typeface="Times New Roman"/>
                          <a:ea typeface="Times New Roman"/>
                          <a:cs typeface="Times New Roman"/>
                        </a:rPr>
                        <a:t>Adaptation</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2200" b="0">
                          <a:solidFill>
                            <a:srgbClr val="000000"/>
                          </a:solidFill>
                          <a:latin typeface="Times New Roman"/>
                          <a:ea typeface="Times New Roman"/>
                          <a:cs typeface="Times New Roman"/>
                        </a:rPr>
                        <a:t>Decides whether to refit the model</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579438">
                <a:tc>
                  <a:txBody>
                    <a:bodyPr/>
                    <a:lstStyle/>
                    <a:p>
                      <a:pPr algn="l"/>
                      <a:r>
                        <a:rPr sz="2200" b="0">
                          <a:solidFill>
                            <a:srgbClr val="000000"/>
                          </a:solidFill>
                          <a:latin typeface="Times New Roman"/>
                          <a:ea typeface="Times New Roman"/>
                          <a:cs typeface="Times New Roman"/>
                        </a:rPr>
                        <a:t>Evaluation</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2200" b="0">
                          <a:solidFill>
                            <a:srgbClr val="000000"/>
                          </a:solidFill>
                          <a:latin typeface="Times New Roman"/>
                          <a:ea typeface="Times New Roman"/>
                          <a:cs typeface="Times New Roman"/>
                        </a:rPr>
                        <a:t>Compares rules and saves results</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bl>
          </a:graphicData>
        </a:graphic>
      </p:graphicFrame>
    </p:spTree>
    <p:extLst>
      <p:ext uri="{BB962C8B-B14F-4D97-AF65-F5344CB8AC3E}">
        <p14:creationId xmlns:p14="http://schemas.microsoft.com/office/powerpoint/2010/main" val="379987032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E386D544-A80A-B599-44C7-B40BA6ECC63C}"/>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Experiments and Results</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A3D4C7D8-DFD4-4DC5-9887-6BBD74F324E9}"/>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12BA7D5A-D43D-449F-9CCB-B47B3F0C13C4}"/>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11">
            <a:extLst xmlns:a="http://schemas.openxmlformats.org/drawingml/2006/main">
              <a:ext uri="{FF2B5EF4-FFF2-40B4-BE49-F238E27FC236}">
                <a16:creationId xmlns:a16="http://schemas.microsoft.com/office/drawing/2014/main" id="{D5C0F514-AC25-4051-B1D2-8D3F6706B036}"/>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11</a:t>
            </a:r>
          </a:p>
        </p:txBody>
      </p:sp>
      <p:graphicFrame>
        <p:nvGraphicFramePr>
          <p:cNvPr id="8" name="">
            <a:extLst xmlns:a="http://schemas.openxmlformats.org/drawingml/2006/main">
              <a:ext uri="{FF2B5EF4-FFF2-40B4-BE49-F238E27FC236}">
                <a16:creationId xmlns:a16="http://schemas.microsoft.com/office/drawing/2014/main" id="{35AE7C84-CB91-4D86-B465-5AC57B301B1C}"/>
              </a:ext>
            </a:extLst>
          </p:cNvPr>
          <p:cNvGraphicFramePr/>
          <p:nvPr/>
        </p:nvGraphicFramePr>
        <p:xfrm>
          <a:off xmlns:a="http://schemas.openxmlformats.org/drawingml/2006/main" x="838200" y="1809750"/>
          <a:ext xmlns:a="http://schemas.openxmlformats.org/drawingml/2006/main" cx="10515600" cy="3238500"/>
        </p:xfrm>
        <a:graphic xmlns:a="http://schemas.openxmlformats.org/drawingml/2006/main">
          <a:graphicData uri="http://schemas.openxmlformats.org/drawingml/2006/table">
            <a:tbl>
              <a:tblPr firstRow="1" bandRow="0"/>
              <a:tblGrid>
                <a:gridCol w="3238500"/>
                <a:gridCol w="1809750"/>
                <a:gridCol w="2667000"/>
                <a:gridCol w="2800350"/>
              </a:tblGrid>
              <a:tr h="462643">
                <a:tc>
                  <a:txBody>
                    <a:bodyPr/>
                    <a:lstStyle/>
                    <a:p>
                      <a:pPr algn="l"/>
                      <a:r>
                        <a:rPr sz="2000" b="1">
                          <a:solidFill>
                            <a:srgbClr val="FFFFFF"/>
                          </a:solidFill>
                          <a:latin typeface="Times New Roman"/>
                          <a:ea typeface="Times New Roman"/>
                          <a:cs typeface="Times New Roman"/>
                        </a:rPr>
                        <a:t>Update rule</a:t>
                      </a:r>
                    </a:p>
                  </a:txBody>
                  <a:tcPr marL="85725" marR="85725" marT="66675" marB="66675" anchor="ctr">
                    <a:lnL w="9525">
                      <a:solidFill>
                        <a:srgbClr val="B6BEC8"/>
                      </a:solidFill>
                      <a:prstDash val="solid"/>
                    </a:lnL>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2000" b="1">
                          <a:solidFill>
                            <a:srgbClr val="FFFFFF"/>
                          </a:solidFill>
                          <a:latin typeface="Times New Roman"/>
                          <a:ea typeface="Times New Roman"/>
                          <a:cs typeface="Times New Roman"/>
                        </a:rPr>
                        <a:t>Mean F1</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2000" b="1">
                          <a:solidFill>
                            <a:srgbClr val="FFFFFF"/>
                          </a:solidFill>
                          <a:latin typeface="Times New Roman"/>
                          <a:ea typeface="Times New Roman"/>
                          <a:cs typeface="Times New Roman"/>
                        </a:rPr>
                        <a:t>False-positive rate</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2000" b="1">
                          <a:solidFill>
                            <a:srgbClr val="FFFFFF"/>
                          </a:solidFill>
                          <a:latin typeface="Times New Roman"/>
                          <a:ea typeface="Times New Roman"/>
                          <a:cs typeface="Times New Roman"/>
                        </a:rPr>
                        <a:t>Unnecessary updates</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r>
              <a:tr h="462643">
                <a:tc>
                  <a:txBody>
                    <a:bodyPr/>
                    <a:lstStyle/>
                    <a:p>
                      <a:pPr algn="l"/>
                      <a:r>
                        <a:rPr sz="2000" b="0">
                          <a:solidFill>
                            <a:srgbClr val="000000"/>
                          </a:solidFill>
                          <a:latin typeface="Times New Roman"/>
                          <a:ea typeface="Times New Roman"/>
                          <a:cs typeface="Times New Roman"/>
                        </a:rPr>
                        <a:t>No update</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2000" b="0">
                          <a:solidFill>
                            <a:srgbClr val="000000"/>
                          </a:solidFill>
                          <a:latin typeface="Times New Roman"/>
                          <a:ea typeface="Times New Roman"/>
                          <a:cs typeface="Times New Roman"/>
                        </a:rPr>
                        <a:t>0.2901</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2000" b="0">
                          <a:solidFill>
                            <a:srgbClr val="000000"/>
                          </a:solidFill>
                          <a:latin typeface="Times New Roman"/>
                          <a:ea typeface="Times New Roman"/>
                          <a:cs typeface="Times New Roman"/>
                        </a:rPr>
                        <a:t>0.4282</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2000" b="0">
                          <a:solidFill>
                            <a:srgbClr val="000000"/>
                          </a:solidFill>
                          <a:latin typeface="Times New Roman"/>
                          <a:ea typeface="Times New Roman"/>
                          <a:cs typeface="Times New Roman"/>
                        </a:rPr>
                        <a:t>0.0000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462643">
                <a:tc>
                  <a:txBody>
                    <a:bodyPr/>
                    <a:lstStyle/>
                    <a:p>
                      <a:pPr algn="l"/>
                      <a:r>
                        <a:rPr sz="2000" b="0">
                          <a:solidFill>
                            <a:srgbClr val="000000"/>
                          </a:solidFill>
                          <a:latin typeface="Times New Roman"/>
                          <a:ea typeface="Times New Roman"/>
                          <a:cs typeface="Times New Roman"/>
                        </a:rPr>
                        <a:t>Periodic</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2000" b="0">
                          <a:solidFill>
                            <a:srgbClr val="000000"/>
                          </a:solidFill>
                          <a:latin typeface="Times New Roman"/>
                          <a:ea typeface="Times New Roman"/>
                          <a:cs typeface="Times New Roman"/>
                        </a:rPr>
                        <a:t>0.2888</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2000" b="0">
                          <a:solidFill>
                            <a:srgbClr val="000000"/>
                          </a:solidFill>
                          <a:latin typeface="Times New Roman"/>
                          <a:ea typeface="Times New Roman"/>
                          <a:cs typeface="Times New Roman"/>
                        </a:rPr>
                        <a:t>0.3160</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2000" b="0">
                          <a:solidFill>
                            <a:srgbClr val="000000"/>
                          </a:solidFill>
                          <a:latin typeface="Times New Roman"/>
                          <a:ea typeface="Times New Roman"/>
                          <a:cs typeface="Times New Roman"/>
                        </a:rPr>
                        <a:t>0.2000</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462643">
                <a:tc>
                  <a:txBody>
                    <a:bodyPr/>
                    <a:lstStyle/>
                    <a:p>
                      <a:pPr algn="l"/>
                      <a:r>
                        <a:rPr sz="2000" b="0">
                          <a:solidFill>
                            <a:srgbClr val="000000"/>
                          </a:solidFill>
                          <a:latin typeface="Times New Roman"/>
                          <a:ea typeface="Times New Roman"/>
                          <a:cs typeface="Times New Roman"/>
                        </a:rPr>
                        <a:t>Data change only</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2000" b="0">
                          <a:solidFill>
                            <a:srgbClr val="000000"/>
                          </a:solidFill>
                          <a:latin typeface="Times New Roman"/>
                          <a:ea typeface="Times New Roman"/>
                          <a:cs typeface="Times New Roman"/>
                        </a:rPr>
                        <a:t>0.2734</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2000" b="0">
                          <a:solidFill>
                            <a:srgbClr val="000000"/>
                          </a:solidFill>
                          <a:latin typeface="Times New Roman"/>
                          <a:ea typeface="Times New Roman"/>
                          <a:cs typeface="Times New Roman"/>
                        </a:rPr>
                        <a:t>0.1825</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2000" b="0">
                          <a:solidFill>
                            <a:srgbClr val="000000"/>
                          </a:solidFill>
                          <a:latin typeface="Times New Roman"/>
                          <a:ea typeface="Times New Roman"/>
                          <a:cs typeface="Times New Roman"/>
                        </a:rPr>
                        <a:t>0.3286</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462643">
                <a:tc>
                  <a:txBody>
                    <a:bodyPr/>
                    <a:lstStyle/>
                    <a:p>
                      <a:pPr algn="l"/>
                      <a:r>
                        <a:rPr sz="2000" b="0">
                          <a:solidFill>
                            <a:srgbClr val="000000"/>
                          </a:solidFill>
                          <a:latin typeface="Times New Roman"/>
                          <a:ea typeface="Times New Roman"/>
                          <a:cs typeface="Times New Roman"/>
                        </a:rPr>
                        <a:t>SHAP change only</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2000" b="0">
                          <a:solidFill>
                            <a:srgbClr val="000000"/>
                          </a:solidFill>
                          <a:latin typeface="Times New Roman"/>
                          <a:ea typeface="Times New Roman"/>
                          <a:cs typeface="Times New Roman"/>
                        </a:rPr>
                        <a:t>0.2873</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2000" b="0">
                          <a:solidFill>
                            <a:srgbClr val="000000"/>
                          </a:solidFill>
                          <a:latin typeface="Times New Roman"/>
                          <a:ea typeface="Times New Roman"/>
                          <a:cs typeface="Times New Roman"/>
                        </a:rPr>
                        <a:t>0.3397</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2000" b="0">
                          <a:solidFill>
                            <a:srgbClr val="000000"/>
                          </a:solidFill>
                          <a:latin typeface="Times New Roman"/>
                          <a:ea typeface="Times New Roman"/>
                          <a:cs typeface="Times New Roman"/>
                        </a:rPr>
                        <a:t>0.0000</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462643">
                <a:tc>
                  <a:txBody>
                    <a:bodyPr/>
                    <a:lstStyle/>
                    <a:p>
                      <a:pPr algn="l"/>
                      <a:r>
                        <a:rPr sz="2000" b="0">
                          <a:solidFill>
                            <a:srgbClr val="000000"/>
                          </a:solidFill>
                          <a:latin typeface="Times New Roman"/>
                          <a:ea typeface="Times New Roman"/>
                          <a:cs typeface="Times New Roman"/>
                        </a:rPr>
                        <a:t>Dual signals</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2000" b="0">
                          <a:solidFill>
                            <a:srgbClr val="000000"/>
                          </a:solidFill>
                          <a:latin typeface="Times New Roman"/>
                          <a:ea typeface="Times New Roman"/>
                          <a:cs typeface="Times New Roman"/>
                        </a:rPr>
                        <a:t>0.2873</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2000" b="0">
                          <a:solidFill>
                            <a:srgbClr val="000000"/>
                          </a:solidFill>
                          <a:latin typeface="Times New Roman"/>
                          <a:ea typeface="Times New Roman"/>
                          <a:cs typeface="Times New Roman"/>
                        </a:rPr>
                        <a:t>0.3397</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2000" b="0">
                          <a:solidFill>
                            <a:srgbClr val="000000"/>
                          </a:solidFill>
                          <a:latin typeface="Times New Roman"/>
                          <a:ea typeface="Times New Roman"/>
                          <a:cs typeface="Times New Roman"/>
                        </a:rPr>
                        <a:t>0.0000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462643">
                <a:tc>
                  <a:txBody>
                    <a:bodyPr/>
                    <a:lstStyle/>
                    <a:p>
                      <a:pPr algn="l"/>
                      <a:r>
                        <a:rPr sz="2000" b="0">
                          <a:solidFill>
                            <a:srgbClr val="000000"/>
                          </a:solidFill>
                          <a:latin typeface="Times New Roman"/>
                          <a:ea typeface="Times New Roman"/>
                          <a:cs typeface="Times New Roman"/>
                        </a:rPr>
                        <a:t>Coupling</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2000" b="0">
                          <a:solidFill>
                            <a:srgbClr val="000000"/>
                          </a:solidFill>
                          <a:latin typeface="Times New Roman"/>
                          <a:ea typeface="Times New Roman"/>
                          <a:cs typeface="Times New Roman"/>
                        </a:rPr>
                        <a:t>0.2873</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2000" b="0">
                          <a:solidFill>
                            <a:srgbClr val="000000"/>
                          </a:solidFill>
                          <a:latin typeface="Times New Roman"/>
                          <a:ea typeface="Times New Roman"/>
                          <a:cs typeface="Times New Roman"/>
                        </a:rPr>
                        <a:t>0.3397</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2000" b="0">
                          <a:solidFill>
                            <a:srgbClr val="000000"/>
                          </a:solidFill>
                          <a:latin typeface="Times New Roman"/>
                          <a:ea typeface="Times New Roman"/>
                          <a:cs typeface="Times New Roman"/>
                        </a:rPr>
                        <a:t>0.0000</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bl>
          </a:graphicData>
        </a:graphic>
      </p:graphicFrame>
      <p:sp>
        <p:nvSpPr>
          <p:cNvPr id="9" name="Dual signals reduced false positives versus n">
            <a:extLst xmlns:a="http://schemas.openxmlformats.org/drawingml/2006/main">
              <a:ext uri="{FF2B5EF4-FFF2-40B4-BE49-F238E27FC236}">
                <a16:creationId xmlns:a16="http://schemas.microsoft.com/office/drawing/2014/main" id="{215A85CC-6258-40AF-BF24-0D3247EB1B8B}"/>
              </a:ext>
            </a:extLst>
          </p:cNvPr>
          <p:cNvSpPr>
            <a:spLocks xmlns:a="http://schemas.openxmlformats.org/drawingml/2006/main" noGrp="1"/>
          </p:cNvSpPr>
          <p:nvPr/>
        </p:nvSpPr>
        <p:spPr>
          <a:xfrm xmlns:a="http://schemas.openxmlformats.org/drawingml/2006/main">
            <a:off x="838200" y="5334000"/>
            <a:ext cx="10515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00" b="0">
                <a:solidFill>
                  <a:srgbClr val="000000"/>
                </a:solidFill>
                <a:latin typeface="Times New Roman"/>
                <a:ea typeface="Times New Roman"/>
                <a:cs typeface="Times New Roman"/>
              </a:defRPr>
            </a:defPPr>
            <a:lvl1pPr algn="l">
              <a:defRPr sz="2200" b="0">
                <a:solidFill>
                  <a:srgbClr val="000000"/>
                </a:solidFill>
                <a:latin typeface="Times New Roman"/>
                <a:ea typeface="Times New Roman"/>
                <a:cs typeface="Times New Roman"/>
              </a:defRPr>
            </a:lvl1pPr>
            <a:lvl2pPr algn="l">
              <a:defRPr sz="2200" b="0">
                <a:solidFill>
                  <a:srgbClr val="000000"/>
                </a:solidFill>
                <a:latin typeface="Times New Roman"/>
                <a:ea typeface="Times New Roman"/>
                <a:cs typeface="Times New Roman"/>
              </a:defRPr>
            </a:lvl2pPr>
            <a:lvl3pPr algn="l">
              <a:defRPr sz="2200" b="0">
                <a:solidFill>
                  <a:srgbClr val="000000"/>
                </a:solidFill>
                <a:latin typeface="Times New Roman"/>
                <a:ea typeface="Times New Roman"/>
                <a:cs typeface="Times New Roman"/>
              </a:defRPr>
            </a:lvl3pPr>
            <a:lvl4pPr algn="l">
              <a:defRPr sz="2200" b="0">
                <a:solidFill>
                  <a:srgbClr val="000000"/>
                </a:solidFill>
                <a:latin typeface="Times New Roman"/>
                <a:ea typeface="Times New Roman"/>
                <a:cs typeface="Times New Roman"/>
              </a:defRPr>
            </a:lvl4pPr>
            <a:lvl5pPr algn="l">
              <a:defRPr sz="2200" b="0">
                <a:solidFill>
                  <a:srgbClr val="000000"/>
                </a:solidFill>
                <a:latin typeface="Times New Roman"/>
                <a:ea typeface="Times New Roman"/>
                <a:cs typeface="Times New Roman"/>
              </a:defRPr>
            </a:lvl5pPr>
            <a:lvl6pPr algn="l">
              <a:defRPr sz="2200" b="0">
                <a:solidFill>
                  <a:srgbClr val="000000"/>
                </a:solidFill>
                <a:latin typeface="Times New Roman"/>
                <a:ea typeface="Times New Roman"/>
                <a:cs typeface="Times New Roman"/>
              </a:defRPr>
            </a:lvl6pPr>
            <a:lvl7pPr algn="l">
              <a:defRPr sz="2200" b="0">
                <a:solidFill>
                  <a:srgbClr val="000000"/>
                </a:solidFill>
                <a:latin typeface="Times New Roman"/>
                <a:ea typeface="Times New Roman"/>
                <a:cs typeface="Times New Roman"/>
              </a:defRPr>
            </a:lvl7pPr>
            <a:lvl8pPr algn="l">
              <a:defRPr sz="2200" b="0">
                <a:solidFill>
                  <a:srgbClr val="000000"/>
                </a:solidFill>
                <a:latin typeface="Times New Roman"/>
                <a:ea typeface="Times New Roman"/>
                <a:cs typeface="Times New Roman"/>
              </a:defRPr>
            </a:lvl8pPr>
            <a:lvl9pPr algn="l">
              <a:defRPr sz="2200" b="0">
                <a:solidFill>
                  <a:srgbClr val="000000"/>
                </a:solidFill>
                <a:latin typeface="Times New Roman"/>
                <a:ea typeface="Times New Roman"/>
                <a:cs typeface="Times New Roman"/>
              </a:defRPr>
            </a:lvl9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Dual signals reduced false positives versus no update.</a:t>
            </a:r>
          </a:p>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Coupling matched the simpler rules. F1 did not show a clear improvement.</a:t>
            </a:r>
          </a:p>
        </p:txBody>
      </p:sp>
    </p:spTree>
    <p:extLst>
      <p:ext uri="{BB962C8B-B14F-4D97-AF65-F5344CB8AC3E}">
        <p14:creationId xmlns:p14="http://schemas.microsoft.com/office/powerpoint/2010/main" val="366618880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9" name="External Validation">
            <a:extLst xmlns:a="http://schemas.openxmlformats.org/drawingml/2006/main">
              <a:ext uri="{FF2B5EF4-FFF2-40B4-BE49-F238E27FC236}">
                <a16:creationId xmlns:a16="http://schemas.microsoft.com/office/drawing/2014/main" id="{591594E7-79B2-4083-9247-0356236FEE5B}"/>
              </a:ext>
            </a:extLst>
          </p:cNvPr>
          <p:cNvSpPr>
            <a:spLocks xmlns:a="http://schemas.openxmlformats.org/drawingml/2006/main" noGrp="1"/>
          </p:cNvSpPr>
          <p:nvPr/>
        </p:nvSpPr>
        <p:spPr>
          <a:xfrm xmlns:a="http://schemas.openxmlformats.org/drawingml/2006/main">
            <a:off x="460248" y="681038"/>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algn="l">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External Validation</a:t>
            </a:r>
          </a:p>
        </p:txBody>
      </p:sp>
      <p:sp>
        <p:nvSpPr>
          <p:cNvPr id="2" name="28-10-2026">
            <a:extLst xmlns:a="http://schemas.openxmlformats.org/drawingml/2006/main">
              <a:ext uri="{FF2B5EF4-FFF2-40B4-BE49-F238E27FC236}">
                <a16:creationId xmlns:a16="http://schemas.microsoft.com/office/drawing/2014/main" id="{807684C1-BD75-4221-8824-B72C9ACDFA53}"/>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3" name="SCOPE">
            <a:extLst xmlns:a="http://schemas.openxmlformats.org/drawingml/2006/main">
              <a:ext uri="{FF2B5EF4-FFF2-40B4-BE49-F238E27FC236}">
                <a16:creationId xmlns:a16="http://schemas.microsoft.com/office/drawing/2014/main" id="{4C7A48A5-2E38-4C7E-BAF9-96F1B29E4DF5}"/>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4" name="12">
            <a:extLst xmlns:a="http://schemas.openxmlformats.org/drawingml/2006/main">
              <a:ext uri="{FF2B5EF4-FFF2-40B4-BE49-F238E27FC236}">
                <a16:creationId xmlns:a16="http://schemas.microsoft.com/office/drawing/2014/main" id="{FE47E2BD-0E65-400C-A509-5D2F44AE1ACA}"/>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12</a:t>
            </a:r>
          </a:p>
        </p:txBody>
      </p:sp>
      <p:sp>
        <p:nvSpPr>
          <p:cNvPr id="5" name="Separate dataset: 24,087 test events&#10;Isolatio">
            <a:extLst xmlns:a="http://schemas.openxmlformats.org/drawingml/2006/main">
              <a:ext uri="{FF2B5EF4-FFF2-40B4-BE49-F238E27FC236}">
                <a16:creationId xmlns:a16="http://schemas.microsoft.com/office/drawing/2014/main" id="{59B666F1-00CF-491D-A6DE-D9A2D71FF4BB}"/>
              </a:ext>
            </a:extLst>
          </p:cNvPr>
          <p:cNvSpPr>
            <a:spLocks xmlns:a="http://schemas.openxmlformats.org/drawingml/2006/main" noGrp="1"/>
          </p:cNvSpPr>
          <p:nvPr/>
        </p:nvSpPr>
        <p:spPr>
          <a:xfrm xmlns:a="http://schemas.openxmlformats.org/drawingml/2006/main">
            <a:off x="838200" y="1619250"/>
            <a:ext cx="10515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0">
                <a:solidFill>
                  <a:srgbClr val="000000"/>
                </a:solidFill>
                <a:latin typeface="Times New Roman"/>
                <a:ea typeface="Times New Roman"/>
                <a:cs typeface="Times New Roman"/>
              </a:defRPr>
            </a:defPPr>
            <a:lvl1pPr algn="l">
              <a:defRPr sz="2400" b="0">
                <a:solidFill>
                  <a:srgbClr val="000000"/>
                </a:solidFill>
                <a:latin typeface="Times New Roman"/>
                <a:ea typeface="Times New Roman"/>
                <a:cs typeface="Times New Roman"/>
              </a:defRPr>
            </a:lvl1pPr>
            <a:lvl2pPr algn="l">
              <a:defRPr sz="2400" b="0">
                <a:solidFill>
                  <a:srgbClr val="000000"/>
                </a:solidFill>
                <a:latin typeface="Times New Roman"/>
                <a:ea typeface="Times New Roman"/>
                <a:cs typeface="Times New Roman"/>
              </a:defRPr>
            </a:lvl2pPr>
            <a:lvl3pPr algn="l">
              <a:defRPr sz="2400" b="0">
                <a:solidFill>
                  <a:srgbClr val="000000"/>
                </a:solidFill>
                <a:latin typeface="Times New Roman"/>
                <a:ea typeface="Times New Roman"/>
                <a:cs typeface="Times New Roman"/>
              </a:defRPr>
            </a:lvl3pPr>
            <a:lvl4pPr algn="l">
              <a:defRPr sz="2400" b="0">
                <a:solidFill>
                  <a:srgbClr val="000000"/>
                </a:solidFill>
                <a:latin typeface="Times New Roman"/>
                <a:ea typeface="Times New Roman"/>
                <a:cs typeface="Times New Roman"/>
              </a:defRPr>
            </a:lvl4pPr>
            <a:lvl5pPr algn="l">
              <a:defRPr sz="2400" b="0">
                <a:solidFill>
                  <a:srgbClr val="000000"/>
                </a:solidFill>
                <a:latin typeface="Times New Roman"/>
                <a:ea typeface="Times New Roman"/>
                <a:cs typeface="Times New Roman"/>
              </a:defRPr>
            </a:lvl5pPr>
            <a:lvl6pPr algn="l">
              <a:defRPr sz="2400" b="0">
                <a:solidFill>
                  <a:srgbClr val="000000"/>
                </a:solidFill>
                <a:latin typeface="Times New Roman"/>
                <a:ea typeface="Times New Roman"/>
                <a:cs typeface="Times New Roman"/>
              </a:defRPr>
            </a:lvl6pPr>
            <a:lvl7pPr algn="l">
              <a:defRPr sz="2400" b="0">
                <a:solidFill>
                  <a:srgbClr val="000000"/>
                </a:solidFill>
                <a:latin typeface="Times New Roman"/>
                <a:ea typeface="Times New Roman"/>
                <a:cs typeface="Times New Roman"/>
              </a:defRPr>
            </a:lvl7pPr>
            <a:lvl8pPr algn="l">
              <a:defRPr sz="2400" b="0">
                <a:solidFill>
                  <a:srgbClr val="000000"/>
                </a:solidFill>
                <a:latin typeface="Times New Roman"/>
                <a:ea typeface="Times New Roman"/>
                <a:cs typeface="Times New Roman"/>
              </a:defRPr>
            </a:lvl8pPr>
            <a:lvl9pPr algn="l">
              <a:defRPr sz="2400" b="0">
                <a:solidFill>
                  <a:srgbClr val="000000"/>
                </a:solidFill>
                <a:latin typeface="Times New Roman"/>
                <a:ea typeface="Times New Roman"/>
                <a:cs typeface="Times New Roman"/>
              </a:defRPr>
            </a:lvl9pPr>
          </a:lstStyle>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Separate dataset: 24,087 test events</a:t>
            </a:r>
          </a:p>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Isolation Forest event-detection F1: 0.4519</a:t>
            </a:r>
          </a:p>
        </p:txBody>
      </p:sp>
      <p:sp>
        <p:nvSpPr>
          <p:cNvPr id="6" name="Small drift check: 12 windows">
            <a:extLst xmlns:a="http://schemas.openxmlformats.org/drawingml/2006/main">
              <a:ext uri="{FF2B5EF4-FFF2-40B4-BE49-F238E27FC236}">
                <a16:creationId xmlns:a16="http://schemas.microsoft.com/office/drawing/2014/main" id="{163A926E-4BDD-4893-81CE-4A531D80BA44}"/>
              </a:ext>
            </a:extLst>
          </p:cNvPr>
          <p:cNvSpPr>
            <a:spLocks xmlns:a="http://schemas.openxmlformats.org/drawingml/2006/main" noGrp="1"/>
          </p:cNvSpPr>
          <p:nvPr/>
        </p:nvSpPr>
        <p:spPr>
          <a:xfrm xmlns:a="http://schemas.openxmlformats.org/drawingml/2006/main">
            <a:off x="838200" y="2724150"/>
            <a:ext cx="10515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000000"/>
                </a:solidFill>
                <a:latin typeface="Times New Roman"/>
                <a:ea typeface="Times New Roman"/>
                <a:cs typeface="Times New Roman"/>
              </a:defRPr>
            </a:defPPr>
            <a:lvl1pPr algn="l">
              <a:defRPr sz="2400" b="1">
                <a:solidFill>
                  <a:srgbClr val="000000"/>
                </a:solidFill>
                <a:latin typeface="Times New Roman"/>
                <a:ea typeface="Times New Roman"/>
                <a:cs typeface="Times New Roman"/>
              </a:defRPr>
            </a:lvl1pPr>
            <a:lvl2pPr algn="l">
              <a:defRPr sz="2400" b="1">
                <a:solidFill>
                  <a:srgbClr val="000000"/>
                </a:solidFill>
                <a:latin typeface="Times New Roman"/>
                <a:ea typeface="Times New Roman"/>
                <a:cs typeface="Times New Roman"/>
              </a:defRPr>
            </a:lvl2pPr>
            <a:lvl3pPr algn="l">
              <a:defRPr sz="2400" b="1">
                <a:solidFill>
                  <a:srgbClr val="000000"/>
                </a:solidFill>
                <a:latin typeface="Times New Roman"/>
                <a:ea typeface="Times New Roman"/>
                <a:cs typeface="Times New Roman"/>
              </a:defRPr>
            </a:lvl3pPr>
            <a:lvl4pPr algn="l">
              <a:defRPr sz="2400" b="1">
                <a:solidFill>
                  <a:srgbClr val="000000"/>
                </a:solidFill>
                <a:latin typeface="Times New Roman"/>
                <a:ea typeface="Times New Roman"/>
                <a:cs typeface="Times New Roman"/>
              </a:defRPr>
            </a:lvl4pPr>
            <a:lvl5pPr algn="l">
              <a:defRPr sz="2400" b="1">
                <a:solidFill>
                  <a:srgbClr val="000000"/>
                </a:solidFill>
                <a:latin typeface="Times New Roman"/>
                <a:ea typeface="Times New Roman"/>
                <a:cs typeface="Times New Roman"/>
              </a:defRPr>
            </a:lvl5pPr>
            <a:lvl6pPr algn="l">
              <a:defRPr sz="2400" b="1">
                <a:solidFill>
                  <a:srgbClr val="000000"/>
                </a:solidFill>
                <a:latin typeface="Times New Roman"/>
                <a:ea typeface="Times New Roman"/>
                <a:cs typeface="Times New Roman"/>
              </a:defRPr>
            </a:lvl6pPr>
            <a:lvl7pPr algn="l">
              <a:defRPr sz="2400" b="1">
                <a:solidFill>
                  <a:srgbClr val="000000"/>
                </a:solidFill>
                <a:latin typeface="Times New Roman"/>
                <a:ea typeface="Times New Roman"/>
                <a:cs typeface="Times New Roman"/>
              </a:defRPr>
            </a:lvl7pPr>
            <a:lvl8pPr algn="l">
              <a:defRPr sz="2400" b="1">
                <a:solidFill>
                  <a:srgbClr val="000000"/>
                </a:solidFill>
                <a:latin typeface="Times New Roman"/>
                <a:ea typeface="Times New Roman"/>
                <a:cs typeface="Times New Roman"/>
              </a:defRPr>
            </a:lvl8pPr>
            <a:lvl9pPr algn="l">
              <a:defRPr sz="2400" b="1">
                <a:solidFill>
                  <a:srgbClr val="000000"/>
                </a:solidFill>
                <a:latin typeface="Times New Roman"/>
                <a:ea typeface="Times New Roman"/>
                <a:cs typeface="Times New Roman"/>
              </a:defRPr>
            </a:lvl9pPr>
          </a:lstStyle>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Small drift check: 12 windows</a:t>
            </a:r>
          </a:p>
        </p:txBody>
      </p:sp>
      <p:graphicFrame>
        <p:nvGraphicFramePr>
          <p:cNvPr id="7" name="">
            <a:extLst xmlns:a="http://schemas.openxmlformats.org/drawingml/2006/main">
              <a:ext uri="{FF2B5EF4-FFF2-40B4-BE49-F238E27FC236}">
                <a16:creationId xmlns:a16="http://schemas.microsoft.com/office/drawing/2014/main" id="{D991A22A-57F9-4F63-B7B6-2BEAE1D5B014}"/>
              </a:ext>
            </a:extLst>
          </p:cNvPr>
          <p:cNvGraphicFramePr/>
          <p:nvPr/>
        </p:nvGraphicFramePr>
        <p:xfrm>
          <a:off xmlns:a="http://schemas.openxmlformats.org/drawingml/2006/main" x="838200" y="3333750"/>
          <a:ext xmlns:a="http://schemas.openxmlformats.org/drawingml/2006/main" cx="10515600" cy="2000250"/>
        </p:xfrm>
        <a:graphic xmlns:a="http://schemas.openxmlformats.org/drawingml/2006/main">
          <a:graphicData uri="http://schemas.openxmlformats.org/drawingml/2006/table">
            <a:tbl>
              <a:tblPr firstRow="1" bandRow="0"/>
              <a:tblGrid>
                <a:gridCol w="4857750"/>
                <a:gridCol w="1524000"/>
                <a:gridCol w="1524000"/>
                <a:gridCol w="2609850"/>
              </a:tblGrid>
              <a:tr h="500063">
                <a:tc>
                  <a:txBody>
                    <a:bodyPr/>
                    <a:lstStyle/>
                    <a:p>
                      <a:pPr algn="l"/>
                      <a:r>
                        <a:rPr sz="1900" b="1">
                          <a:solidFill>
                            <a:srgbClr val="FFFFFF"/>
                          </a:solidFill>
                          <a:latin typeface="Times New Roman"/>
                          <a:ea typeface="Times New Roman"/>
                          <a:cs typeface="Times New Roman"/>
                        </a:rPr>
                        <a:t>Rule</a:t>
                      </a:r>
                    </a:p>
                  </a:txBody>
                  <a:tcPr marL="85725" marR="85725" marT="66675" marB="66675" anchor="ctr">
                    <a:lnL w="9525">
                      <a:solidFill>
                        <a:srgbClr val="B6BEC8"/>
                      </a:solidFill>
                      <a:prstDash val="solid"/>
                    </a:lnL>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900" b="1">
                          <a:solidFill>
                            <a:srgbClr val="FFFFFF"/>
                          </a:solidFill>
                          <a:latin typeface="Times New Roman"/>
                          <a:ea typeface="Times New Roman"/>
                          <a:cs typeface="Times New Roman"/>
                        </a:rPr>
                        <a:t>Recall</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900" b="1">
                          <a:solidFill>
                            <a:srgbClr val="FFFFFF"/>
                          </a:solidFill>
                          <a:latin typeface="Times New Roman"/>
                          <a:ea typeface="Times New Roman"/>
                          <a:cs typeface="Times New Roman"/>
                        </a:rPr>
                        <a:t>F1</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c>
                  <a:txBody>
                    <a:bodyPr/>
                    <a:lstStyle/>
                    <a:p>
                      <a:pPr algn="l"/>
                      <a:r>
                        <a:rPr sz="1900" b="1">
                          <a:solidFill>
                            <a:srgbClr val="FFFFFF"/>
                          </a:solidFill>
                          <a:latin typeface="Times New Roman"/>
                          <a:ea typeface="Times New Roman"/>
                          <a:cs typeface="Times New Roman"/>
                        </a:rPr>
                        <a:t>False-positive rate</a:t>
                      </a:r>
                    </a:p>
                  </a:txBody>
                  <a:tcPr marL="85725" marR="85725" marT="66675" marB="66675" anchor="ctr">
                    <a:lnR w="9525">
                      <a:solidFill>
                        <a:srgbClr val="B6BEC8"/>
                      </a:solidFill>
                      <a:prstDash val="solid"/>
                    </a:lnR>
                    <a:lnT w="9525">
                      <a:solidFill>
                        <a:srgbClr val="B6BEC8"/>
                      </a:solidFill>
                      <a:prstDash val="solid"/>
                    </a:lnT>
                    <a:lnB w="9525">
                      <a:solidFill>
                        <a:srgbClr val="B6BEC8"/>
                      </a:solidFill>
                      <a:prstDash val="solid"/>
                    </a:lnB>
                    <a:solidFill>
                      <a:srgbClr val="4F81BD"/>
                    </a:solidFill>
                  </a:tcPr>
                </a:tc>
              </a:tr>
              <a:tr h="500063">
                <a:tc>
                  <a:txBody>
                    <a:bodyPr/>
                    <a:lstStyle/>
                    <a:p>
                      <a:pPr algn="l"/>
                      <a:r>
                        <a:rPr sz="1900" b="0">
                          <a:solidFill>
                            <a:srgbClr val="000000"/>
                          </a:solidFill>
                          <a:latin typeface="Times New Roman"/>
                          <a:ea typeface="Times New Roman"/>
                          <a:cs typeface="Times New Roman"/>
                        </a:rPr>
                        <a:t>Dual signals</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900" b="0">
                          <a:solidFill>
                            <a:srgbClr val="000000"/>
                          </a:solidFill>
                          <a:latin typeface="Times New Roman"/>
                          <a:ea typeface="Times New Roman"/>
                          <a:cs typeface="Times New Roman"/>
                        </a:rPr>
                        <a:t>1.0000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900" b="0">
                          <a:solidFill>
                            <a:srgbClr val="000000"/>
                          </a:solidFill>
                          <a:latin typeface="Times New Roman"/>
                          <a:ea typeface="Times New Roman"/>
                          <a:cs typeface="Times New Roman"/>
                        </a:rPr>
                        <a:t>0.9524</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900" b="0">
                          <a:solidFill>
                            <a:srgbClr val="000000"/>
                          </a:solidFill>
                          <a:latin typeface="Times New Roman"/>
                          <a:ea typeface="Times New Roman"/>
                          <a:cs typeface="Times New Roman"/>
                        </a:rPr>
                        <a:t>0.5000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r h="500063">
                <a:tc>
                  <a:txBody>
                    <a:bodyPr/>
                    <a:lstStyle/>
                    <a:p>
                      <a:pPr algn="l"/>
                      <a:r>
                        <a:rPr sz="1900" b="0">
                          <a:solidFill>
                            <a:srgbClr val="000000"/>
                          </a:solidFill>
                          <a:latin typeface="Times New Roman"/>
                          <a:ea typeface="Times New Roman"/>
                          <a:cs typeface="Times New Roman"/>
                        </a:rPr>
                        <a:t>Coupling: source threshold</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D5DFEF"/>
                    </a:solidFill>
                  </a:tcPr>
                </a:tc>
                <a:tc>
                  <a:txBody>
                    <a:bodyPr/>
                    <a:lstStyle/>
                    <a:p>
                      <a:pPr algn="l"/>
                      <a:r>
                        <a:rPr sz="1900" b="0">
                          <a:solidFill>
                            <a:srgbClr val="000000"/>
                          </a:solidFill>
                          <a:latin typeface="Times New Roman"/>
                          <a:ea typeface="Times New Roman"/>
                          <a:cs typeface="Times New Roman"/>
                        </a:rPr>
                        <a:t>0.1000</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900" b="0">
                          <a:solidFill>
                            <a:srgbClr val="000000"/>
                          </a:solidFill>
                          <a:latin typeface="Times New Roman"/>
                          <a:ea typeface="Times New Roman"/>
                          <a:cs typeface="Times New Roman"/>
                        </a:rPr>
                        <a:t>0.1818</a:t>
                      </a:r>
                    </a:p>
                  </a:txBody>
                  <a:tcPr marL="85725" marR="85725" marT="66675" marB="66675" anchor="ctr">
                    <a:lnR w="9525">
                      <a:solidFill>
                        <a:srgbClr val="B6BEC8"/>
                      </a:solidFill>
                      <a:prstDash val="solid"/>
                    </a:lnR>
                    <a:lnB w="9525">
                      <a:solidFill>
                        <a:srgbClr val="B6BEC8"/>
                      </a:solidFill>
                      <a:prstDash val="solid"/>
                    </a:lnB>
                    <a:solidFill>
                      <a:srgbClr val="D5DFEF"/>
                    </a:solidFill>
                  </a:tcPr>
                </a:tc>
                <a:tc>
                  <a:txBody>
                    <a:bodyPr/>
                    <a:lstStyle/>
                    <a:p>
                      <a:pPr algn="l"/>
                      <a:r>
                        <a:rPr sz="1900" b="0">
                          <a:solidFill>
                            <a:srgbClr val="000000"/>
                          </a:solidFill>
                          <a:latin typeface="Times New Roman"/>
                          <a:ea typeface="Times New Roman"/>
                          <a:cs typeface="Times New Roman"/>
                        </a:rPr>
                        <a:t>0.0000</a:t>
                      </a:r>
                    </a:p>
                  </a:txBody>
                  <a:tcPr marL="85725" marR="85725" marT="66675" marB="66675" anchor="ctr">
                    <a:lnR w="9525">
                      <a:solidFill>
                        <a:srgbClr val="B6BEC8"/>
                      </a:solidFill>
                      <a:prstDash val="solid"/>
                    </a:lnR>
                    <a:lnB w="9525">
                      <a:solidFill>
                        <a:srgbClr val="B6BEC8"/>
                      </a:solidFill>
                      <a:prstDash val="solid"/>
                    </a:lnB>
                    <a:solidFill>
                      <a:srgbClr val="D5DFEF"/>
                    </a:solidFill>
                  </a:tcPr>
                </a:tc>
              </a:tr>
              <a:tr h="500063">
                <a:tc>
                  <a:txBody>
                    <a:bodyPr/>
                    <a:lstStyle/>
                    <a:p>
                      <a:pPr algn="l"/>
                      <a:r>
                        <a:rPr sz="1900" b="0">
                          <a:solidFill>
                            <a:srgbClr val="000000"/>
                          </a:solidFill>
                          <a:latin typeface="Times New Roman"/>
                          <a:ea typeface="Times New Roman"/>
                          <a:cs typeface="Times New Roman"/>
                        </a:rPr>
                        <a:t>Coupling: target threshold</a:t>
                      </a:r>
                    </a:p>
                  </a:txBody>
                  <a:tcPr marL="85725" marR="85725" marT="66675" marB="66675" anchor="ctr">
                    <a:lnL w="9525">
                      <a:solidFill>
                        <a:srgbClr val="B6BEC8"/>
                      </a:solidFill>
                      <a:prstDash val="solid"/>
                    </a:lnL>
                    <a:lnR w="9525">
                      <a:solidFill>
                        <a:srgbClr val="B6BEC8"/>
                      </a:solidFill>
                      <a:prstDash val="solid"/>
                    </a:lnR>
                    <a:lnB w="9525">
                      <a:solidFill>
                        <a:srgbClr val="B6BEC8"/>
                      </a:solidFill>
                      <a:prstDash val="solid"/>
                    </a:lnB>
                    <a:solidFill>
                      <a:srgbClr val="E9EDF5"/>
                    </a:solidFill>
                  </a:tcPr>
                </a:tc>
                <a:tc>
                  <a:txBody>
                    <a:bodyPr/>
                    <a:lstStyle/>
                    <a:p>
                      <a:pPr algn="l"/>
                      <a:r>
                        <a:rPr sz="1900" b="0">
                          <a:solidFill>
                            <a:srgbClr val="000000"/>
                          </a:solidFill>
                          <a:latin typeface="Times New Roman"/>
                          <a:ea typeface="Times New Roman"/>
                          <a:cs typeface="Times New Roman"/>
                        </a:rPr>
                        <a:t>1.0000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900" b="0">
                          <a:solidFill>
                            <a:srgbClr val="000000"/>
                          </a:solidFill>
                          <a:latin typeface="Times New Roman"/>
                          <a:ea typeface="Times New Roman"/>
                          <a:cs typeface="Times New Roman"/>
                        </a:rPr>
                        <a:t>1.0000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c>
                  <a:txBody>
                    <a:bodyPr/>
                    <a:lstStyle/>
                    <a:p>
                      <a:pPr algn="l"/>
                      <a:r>
                        <a:rPr sz="1900" b="0">
                          <a:solidFill>
                            <a:srgbClr val="000000"/>
                          </a:solidFill>
                          <a:latin typeface="Times New Roman"/>
                          <a:ea typeface="Times New Roman"/>
                          <a:cs typeface="Times New Roman"/>
                        </a:rPr>
                        <a:t>0.0000</a:t>
                      </a:r>
                    </a:p>
                  </a:txBody>
                  <a:tcPr marL="85725" marR="85725" marT="66675" marB="66675" anchor="ctr">
                    <a:lnR w="9525">
                      <a:solidFill>
                        <a:srgbClr val="B6BEC8"/>
                      </a:solidFill>
                      <a:prstDash val="solid"/>
                    </a:lnR>
                    <a:lnB w="9525">
                      <a:solidFill>
                        <a:srgbClr val="B6BEC8"/>
                      </a:solidFill>
                      <a:prstDash val="solid"/>
                    </a:lnB>
                    <a:solidFill>
                      <a:srgbClr val="E9EDF5"/>
                    </a:solidFill>
                  </a:tcPr>
                </a:tc>
              </a:tr>
            </a:tbl>
          </a:graphicData>
        </a:graphic>
      </p:graphicFrame>
      <p:sp>
        <p:nvSpPr>
          <p:cNvPr id="8" name="No attack labels used for the new threshold. ">
            <a:extLst xmlns:a="http://schemas.openxmlformats.org/drawingml/2006/main">
              <a:ext uri="{FF2B5EF4-FFF2-40B4-BE49-F238E27FC236}">
                <a16:creationId xmlns:a16="http://schemas.microsoft.com/office/drawing/2014/main" id="{60EE83C8-6E84-4783-B40A-FC826507A41D}"/>
              </a:ext>
            </a:extLst>
          </p:cNvPr>
          <p:cNvSpPr>
            <a:spLocks xmlns:a="http://schemas.openxmlformats.org/drawingml/2006/main" noGrp="1"/>
          </p:cNvSpPr>
          <p:nvPr/>
        </p:nvSpPr>
        <p:spPr>
          <a:xfrm xmlns:a="http://schemas.openxmlformats.org/drawingml/2006/main">
            <a:off x="838200" y="5905500"/>
            <a:ext cx="10515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100" b="0">
                <a:solidFill>
                  <a:srgbClr val="000000"/>
                </a:solidFill>
                <a:latin typeface="Times New Roman"/>
                <a:ea typeface="Times New Roman"/>
                <a:cs typeface="Times New Roman"/>
              </a:defRPr>
            </a:defPPr>
            <a:lvl1pPr algn="l">
              <a:defRPr sz="2100" b="0">
                <a:solidFill>
                  <a:srgbClr val="000000"/>
                </a:solidFill>
                <a:latin typeface="Times New Roman"/>
                <a:ea typeface="Times New Roman"/>
                <a:cs typeface="Times New Roman"/>
              </a:defRPr>
            </a:lvl1pPr>
            <a:lvl2pPr algn="l">
              <a:defRPr sz="2100" b="0">
                <a:solidFill>
                  <a:srgbClr val="000000"/>
                </a:solidFill>
                <a:latin typeface="Times New Roman"/>
                <a:ea typeface="Times New Roman"/>
                <a:cs typeface="Times New Roman"/>
              </a:defRPr>
            </a:lvl2pPr>
            <a:lvl3pPr algn="l">
              <a:defRPr sz="2100" b="0">
                <a:solidFill>
                  <a:srgbClr val="000000"/>
                </a:solidFill>
                <a:latin typeface="Times New Roman"/>
                <a:ea typeface="Times New Roman"/>
                <a:cs typeface="Times New Roman"/>
              </a:defRPr>
            </a:lvl3pPr>
            <a:lvl4pPr algn="l">
              <a:defRPr sz="2100" b="0">
                <a:solidFill>
                  <a:srgbClr val="000000"/>
                </a:solidFill>
                <a:latin typeface="Times New Roman"/>
                <a:ea typeface="Times New Roman"/>
                <a:cs typeface="Times New Roman"/>
              </a:defRPr>
            </a:lvl4pPr>
            <a:lvl5pPr algn="l">
              <a:defRPr sz="2100" b="0">
                <a:solidFill>
                  <a:srgbClr val="000000"/>
                </a:solidFill>
                <a:latin typeface="Times New Roman"/>
                <a:ea typeface="Times New Roman"/>
                <a:cs typeface="Times New Roman"/>
              </a:defRPr>
            </a:lvl5pPr>
            <a:lvl6pPr algn="l">
              <a:defRPr sz="2100" b="0">
                <a:solidFill>
                  <a:srgbClr val="000000"/>
                </a:solidFill>
                <a:latin typeface="Times New Roman"/>
                <a:ea typeface="Times New Roman"/>
                <a:cs typeface="Times New Roman"/>
              </a:defRPr>
            </a:lvl6pPr>
            <a:lvl7pPr algn="l">
              <a:defRPr sz="2100" b="0">
                <a:solidFill>
                  <a:srgbClr val="000000"/>
                </a:solidFill>
                <a:latin typeface="Times New Roman"/>
                <a:ea typeface="Times New Roman"/>
                <a:cs typeface="Times New Roman"/>
              </a:defRPr>
            </a:lvl7pPr>
            <a:lvl8pPr algn="l">
              <a:defRPr sz="2100" b="0">
                <a:solidFill>
                  <a:srgbClr val="000000"/>
                </a:solidFill>
                <a:latin typeface="Times New Roman"/>
                <a:ea typeface="Times New Roman"/>
                <a:cs typeface="Times New Roman"/>
              </a:defRPr>
            </a:lvl8pPr>
            <a:lvl9pPr algn="l">
              <a:defRPr sz="2100" b="0">
                <a:solidFill>
                  <a:srgbClr val="000000"/>
                </a:solidFill>
                <a:latin typeface="Times New Roman"/>
                <a:ea typeface="Times New Roman"/>
                <a:cs typeface="Times New Roman"/>
              </a:defRPr>
            </a:lvl9pPr>
          </a:lstStyle>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No attack labels used for the new threshold. More tests are needed.</a:t>
            </a:r>
          </a:p>
        </p:txBody>
      </p:sp>
    </p:spTree>
    <p:extLst>
      <p:ext uri="{BB962C8B-B14F-4D97-AF65-F5344CB8AC3E}">
        <p14:creationId xmlns:p14="http://schemas.microsoft.com/office/powerpoint/2010/main" val="197056398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3754A46F-4AC3-5AF1-0B78-C0B5112BD14C}"/>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Conclusion and Future Work</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188256BB-02A7-4884-8990-B269AE82518B}"/>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7CAD8A72-6149-46DC-A3CB-6418E331B399}"/>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13">
            <a:extLst xmlns:a="http://schemas.openxmlformats.org/drawingml/2006/main">
              <a:ext uri="{FF2B5EF4-FFF2-40B4-BE49-F238E27FC236}">
                <a16:creationId xmlns:a16="http://schemas.microsoft.com/office/drawing/2014/main" id="{0E5211D9-C886-4BA0-BEE4-B0C60764479C}"/>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13</a:t>
            </a:r>
          </a:p>
        </p:txBody>
      </p:sp>
      <p:sp>
        <p:nvSpPr>
          <p:cNvPr id="8" name="">
            <a:extLst xmlns:a="http://schemas.openxmlformats.org/drawingml/2006/main">
              <a:ext uri="{FF2B5EF4-FFF2-40B4-BE49-F238E27FC236}">
                <a16:creationId xmlns:a16="http://schemas.microsoft.com/office/drawing/2014/main" id="{753F460F-FBC4-48C5-B9C5-0A48E78ADA8A}"/>
              </a:ext>
            </a:extLst>
          </p:cNvPr>
          <p:cNvSpPr>
            <a:spLocks xmlns:a="http://schemas.openxmlformats.org/drawingml/2006/main" noGrp="1"/>
          </p:cNvSpPr>
          <p:nvPr/>
        </p:nvSpPr>
        <p:spPr>
          <a:xfrm xmlns:a="http://schemas.openxmlformats.org/drawingml/2006/main">
            <a:off x="838200" y="1809750"/>
            <a:ext cx="105156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600" b="0">
                <a:solidFill>
                  <a:srgbClr val="000000"/>
                </a:solidFill>
                <a:latin typeface="Times New Roman"/>
                <a:ea typeface="Times New Roman"/>
                <a:cs typeface="Times New Roman"/>
              </a:defRPr>
            </a:defPPr>
            <a:lvl1pPr algn="l">
              <a:defRPr sz="2600" b="0">
                <a:solidFill>
                  <a:srgbClr val="000000"/>
                </a:solidFill>
                <a:latin typeface="Times New Roman"/>
                <a:ea typeface="Times New Roman"/>
                <a:cs typeface="Times New Roman"/>
              </a:defRPr>
            </a:lvl1pPr>
            <a:lvl2pPr algn="l">
              <a:defRPr sz="2600" b="0">
                <a:solidFill>
                  <a:srgbClr val="000000"/>
                </a:solidFill>
                <a:latin typeface="Times New Roman"/>
                <a:ea typeface="Times New Roman"/>
                <a:cs typeface="Times New Roman"/>
              </a:defRPr>
            </a:lvl2pPr>
            <a:lvl3pPr algn="l">
              <a:defRPr sz="2600" b="0">
                <a:solidFill>
                  <a:srgbClr val="000000"/>
                </a:solidFill>
                <a:latin typeface="Times New Roman"/>
                <a:ea typeface="Times New Roman"/>
                <a:cs typeface="Times New Roman"/>
              </a:defRPr>
            </a:lvl3pPr>
            <a:lvl4pPr algn="l">
              <a:defRPr sz="2600" b="0">
                <a:solidFill>
                  <a:srgbClr val="000000"/>
                </a:solidFill>
                <a:latin typeface="Times New Roman"/>
                <a:ea typeface="Times New Roman"/>
                <a:cs typeface="Times New Roman"/>
              </a:defRPr>
            </a:lvl4pPr>
            <a:lvl5pPr algn="l">
              <a:defRPr sz="2600" b="0">
                <a:solidFill>
                  <a:srgbClr val="000000"/>
                </a:solidFill>
                <a:latin typeface="Times New Roman"/>
                <a:ea typeface="Times New Roman"/>
                <a:cs typeface="Times New Roman"/>
              </a:defRPr>
            </a:lvl5pPr>
            <a:lvl6pPr algn="l">
              <a:defRPr sz="2600" b="0">
                <a:solidFill>
                  <a:srgbClr val="000000"/>
                </a:solidFill>
                <a:latin typeface="Times New Roman"/>
                <a:ea typeface="Times New Roman"/>
                <a:cs typeface="Times New Roman"/>
              </a:defRPr>
            </a:lvl6pPr>
            <a:lvl7pPr algn="l">
              <a:defRPr sz="2600" b="0">
                <a:solidFill>
                  <a:srgbClr val="000000"/>
                </a:solidFill>
                <a:latin typeface="Times New Roman"/>
                <a:ea typeface="Times New Roman"/>
                <a:cs typeface="Times New Roman"/>
              </a:defRPr>
            </a:lvl7pPr>
            <a:lvl8pPr algn="l">
              <a:defRPr sz="2600" b="0">
                <a:solidFill>
                  <a:srgbClr val="000000"/>
                </a:solidFill>
                <a:latin typeface="Times New Roman"/>
                <a:ea typeface="Times New Roman"/>
                <a:cs typeface="Times New Roman"/>
              </a:defRPr>
            </a:lvl8pPr>
            <a:lvl9pPr algn="l">
              <a:defRPr sz="2600" b="0">
                <a:solidFill>
                  <a:srgbClr val="000000"/>
                </a:solidFill>
                <a:latin typeface="Times New Roman"/>
                <a:ea typeface="Times New Roman"/>
                <a:cs typeface="Times New Roman"/>
              </a:defRPr>
            </a:lvl9pPr>
          </a:lstStyle>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The working prototype connects drift checks, explanations and model updates.</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Controlled tests show fewer false positives than the fixed model.</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Coupling needs more evidence of an extra benefit.</a:t>
            </a:r>
          </a:p>
          <a:p xmlns:a="http://schemas.openxmlformats.org/drawingml/2006/main">
            <a:pPr algn="l">
              <a:spcAft>
                <a:spcPts val="18"/>
              </a:spcAft>
              <a:defRPr sz="2600" b="0">
                <a:solidFill>
                  <a:srgbClr val="000000"/>
                </a:solidFill>
                <a:latin typeface="Times New Roman"/>
                <a:ea typeface="Times New Roman"/>
                <a:cs typeface="Times New Roman"/>
              </a:defRPr>
            </a:pPr>
            <a:r>
              <a:rPr sz="2600">
                <a:latin typeface="Times New Roman"/>
                <a:ea typeface="Times New Roman"/>
                <a:cs typeface="Times New Roman"/>
              </a:rPr>
              <a:t>Next: test more real changes and longer update sequences.</a:t>
            </a:r>
          </a:p>
        </p:txBody>
      </p:sp>
    </p:spTree>
    <p:extLst>
      <p:ext uri="{BB962C8B-B14F-4D97-AF65-F5344CB8AC3E}">
        <p14:creationId xmlns:p14="http://schemas.microsoft.com/office/powerpoint/2010/main" val="131749873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7" name="Outcome Achieved">
            <a:extLst xmlns:a="http://schemas.openxmlformats.org/drawingml/2006/main">
              <a:ext uri="{FF2B5EF4-FFF2-40B4-BE49-F238E27FC236}">
                <a16:creationId xmlns:a16="http://schemas.microsoft.com/office/drawing/2014/main" id="{BC038A80-5F45-48C0-8DC0-F1298891857E}"/>
              </a:ext>
            </a:extLst>
          </p:cNvPr>
          <p:cNvSpPr>
            <a:spLocks xmlns:a="http://schemas.openxmlformats.org/drawingml/2006/main" noGrp="1"/>
          </p:cNvSpPr>
          <p:nvPr/>
        </p:nvSpPr>
        <p:spPr>
          <a:xfrm xmlns:a="http://schemas.openxmlformats.org/drawingml/2006/main">
            <a:off x="460248" y="681038"/>
            <a:ext cx="10515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algn="l">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Outcome Achieved</a:t>
            </a:r>
          </a:p>
        </p:txBody>
      </p:sp>
      <p:sp>
        <p:nvSpPr>
          <p:cNvPr id="2" name="28-10-2026">
            <a:extLst xmlns:a="http://schemas.openxmlformats.org/drawingml/2006/main">
              <a:ext uri="{FF2B5EF4-FFF2-40B4-BE49-F238E27FC236}">
                <a16:creationId xmlns:a16="http://schemas.microsoft.com/office/drawing/2014/main" id="{33347BB8-F878-45F6-85B0-3453FC4BD8AE}"/>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3" name="SCOPE">
            <a:extLst xmlns:a="http://schemas.openxmlformats.org/drawingml/2006/main">
              <a:ext uri="{FF2B5EF4-FFF2-40B4-BE49-F238E27FC236}">
                <a16:creationId xmlns:a16="http://schemas.microsoft.com/office/drawing/2014/main" id="{DFB22713-3C11-40D0-B3DA-DB06AD0A49CF}"/>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4" name="14">
            <a:extLst xmlns:a="http://schemas.openxmlformats.org/drawingml/2006/main">
              <a:ext uri="{FF2B5EF4-FFF2-40B4-BE49-F238E27FC236}">
                <a16:creationId xmlns:a16="http://schemas.microsoft.com/office/drawing/2014/main" id="{AB3A8F89-80DF-4628-A87C-6EFFF48D4FD5}"/>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14</a:t>
            </a:r>
          </a:p>
        </p:txBody>
      </p:sp>
      <p:sp>
        <p:nvSpPr>
          <p:cNvPr id="5" name="">
            <a:extLst xmlns:a="http://schemas.openxmlformats.org/drawingml/2006/main">
              <a:ext uri="{FF2B5EF4-FFF2-40B4-BE49-F238E27FC236}">
                <a16:creationId xmlns:a16="http://schemas.microsoft.com/office/drawing/2014/main" id="{3FF0D957-FBD4-42FB-B4E6-27A8C66A65A4}"/>
              </a:ext>
            </a:extLst>
          </p:cNvPr>
          <p:cNvSpPr>
            <a:spLocks xmlns:a="http://schemas.openxmlformats.org/drawingml/2006/main" noGrp="1"/>
          </p:cNvSpPr>
          <p:nvPr/>
        </p:nvSpPr>
        <p:spPr>
          <a:xfrm xmlns:a="http://schemas.openxmlformats.org/drawingml/2006/main">
            <a:off x="838200" y="1714500"/>
            <a:ext cx="105156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0">
                <a:solidFill>
                  <a:srgbClr val="000000"/>
                </a:solidFill>
                <a:latin typeface="Times New Roman"/>
                <a:ea typeface="Times New Roman"/>
                <a:cs typeface="Times New Roman"/>
              </a:defRPr>
            </a:defPPr>
            <a:lvl1pPr algn="l">
              <a:defRPr sz="2400" b="0">
                <a:solidFill>
                  <a:srgbClr val="000000"/>
                </a:solidFill>
                <a:latin typeface="Times New Roman"/>
                <a:ea typeface="Times New Roman"/>
                <a:cs typeface="Times New Roman"/>
              </a:defRPr>
            </a:lvl1pPr>
            <a:lvl2pPr algn="l">
              <a:defRPr sz="2400" b="0">
                <a:solidFill>
                  <a:srgbClr val="000000"/>
                </a:solidFill>
                <a:latin typeface="Times New Roman"/>
                <a:ea typeface="Times New Roman"/>
                <a:cs typeface="Times New Roman"/>
              </a:defRPr>
            </a:lvl2pPr>
            <a:lvl3pPr algn="l">
              <a:defRPr sz="2400" b="0">
                <a:solidFill>
                  <a:srgbClr val="000000"/>
                </a:solidFill>
                <a:latin typeface="Times New Roman"/>
                <a:ea typeface="Times New Roman"/>
                <a:cs typeface="Times New Roman"/>
              </a:defRPr>
            </a:lvl3pPr>
            <a:lvl4pPr algn="l">
              <a:defRPr sz="2400" b="0">
                <a:solidFill>
                  <a:srgbClr val="000000"/>
                </a:solidFill>
                <a:latin typeface="Times New Roman"/>
                <a:ea typeface="Times New Roman"/>
                <a:cs typeface="Times New Roman"/>
              </a:defRPr>
            </a:lvl4pPr>
            <a:lvl5pPr algn="l">
              <a:defRPr sz="2400" b="0">
                <a:solidFill>
                  <a:srgbClr val="000000"/>
                </a:solidFill>
                <a:latin typeface="Times New Roman"/>
                <a:ea typeface="Times New Roman"/>
                <a:cs typeface="Times New Roman"/>
              </a:defRPr>
            </a:lvl5pPr>
            <a:lvl6pPr algn="l">
              <a:defRPr sz="2400" b="0">
                <a:solidFill>
                  <a:srgbClr val="000000"/>
                </a:solidFill>
                <a:latin typeface="Times New Roman"/>
                <a:ea typeface="Times New Roman"/>
                <a:cs typeface="Times New Roman"/>
              </a:defRPr>
            </a:lvl6pPr>
            <a:lvl7pPr algn="l">
              <a:defRPr sz="2400" b="0">
                <a:solidFill>
                  <a:srgbClr val="000000"/>
                </a:solidFill>
                <a:latin typeface="Times New Roman"/>
                <a:ea typeface="Times New Roman"/>
                <a:cs typeface="Times New Roman"/>
              </a:defRPr>
            </a:lvl7pPr>
            <a:lvl8pPr algn="l">
              <a:defRPr sz="2400" b="0">
                <a:solidFill>
                  <a:srgbClr val="000000"/>
                </a:solidFill>
                <a:latin typeface="Times New Roman"/>
                <a:ea typeface="Times New Roman"/>
                <a:cs typeface="Times New Roman"/>
              </a:defRPr>
            </a:lvl8pPr>
            <a:lvl9pPr algn="l">
              <a:defRPr sz="2400" b="0">
                <a:solidFill>
                  <a:srgbClr val="000000"/>
                </a:solidFill>
                <a:latin typeface="Times New Roman"/>
                <a:ea typeface="Times New Roman"/>
                <a:cs typeface="Times New Roman"/>
              </a:defRPr>
            </a:lvl9pPr>
          </a:lstStyle>
          <a:p xmlns:a="http://schemas.openxmlformats.org/drawingml/2006/main">
            <a:pPr algn="l">
              <a:spcAft>
                <a:spcPts val="18"/>
              </a:spcAft>
              <a:defRPr sz="2400" b="0">
                <a:solidFill>
                  <a:srgbClr val="000000"/>
                </a:solidFill>
                <a:latin typeface="Times New Roman"/>
                <a:ea typeface="Times New Roman"/>
                <a:cs typeface="Times New Roman"/>
              </a:defRPr>
            </a:pPr>
            <a:r>
              <a:rPr sz="2400">
                <a:latin typeface="Times New Roman"/>
                <a:ea typeface="Times New Roman"/>
                <a:cs typeface="Times New Roman"/>
              </a:rPr>
              <a:t>Working Python pipeline with saved results and figures.</a:t>
            </a:r>
          </a:p>
          <a:p xmlns:a="http://schemas.openxmlformats.org/drawingml/2006/main">
            <a:pPr algn="l">
              <a:spcAft>
                <a:spcPts val="18"/>
              </a:spcAft>
              <a:defRPr sz="2400" b="0">
                <a:solidFill>
                  <a:srgbClr val="000000"/>
                </a:solidFill>
                <a:latin typeface="Times New Roman"/>
                <a:ea typeface="Times New Roman"/>
                <a:cs typeface="Times New Roman"/>
              </a:defRPr>
            </a:pPr>
            <a:r>
              <a:rPr sz="2400">
                <a:latin typeface="Times New Roman"/>
                <a:ea typeface="Times New Roman"/>
                <a:cs typeface="Times New Roman"/>
              </a:rPr>
              <a:t>28 automated tests pass.</a:t>
            </a:r>
          </a:p>
          <a:p xmlns:a="http://schemas.openxmlformats.org/drawingml/2006/main">
            <a:pPr algn="l">
              <a:spcAft>
                <a:spcPts val="18"/>
              </a:spcAft>
              <a:defRPr sz="2400" b="0">
                <a:solidFill>
                  <a:srgbClr val="000000"/>
                </a:solidFill>
                <a:latin typeface="Times New Roman"/>
                <a:ea typeface="Times New Roman"/>
                <a:cs typeface="Times New Roman"/>
              </a:defRPr>
            </a:pPr>
            <a:r>
              <a:rPr sz="2400">
                <a:latin typeface="Times New Roman"/>
                <a:ea typeface="Times New Roman"/>
                <a:cs typeface="Times New Roman"/>
              </a:rPr>
              <a:t>Capstone report and reproducible project code are ready.</a:t>
            </a:r>
          </a:p>
          <a:p xmlns:a="http://schemas.openxmlformats.org/drawingml/2006/main">
            <a:pPr algn="l">
              <a:spcAft>
                <a:spcPts val="18"/>
              </a:spcAft>
              <a:defRPr sz="2400" b="0">
                <a:solidFill>
                  <a:srgbClr val="000000"/>
                </a:solidFill>
                <a:latin typeface="Times New Roman"/>
                <a:ea typeface="Times New Roman"/>
                <a:cs typeface="Times New Roman"/>
              </a:defRPr>
            </a:pPr>
            <a:r>
              <a:rPr sz="2400">
                <a:latin typeface="Times New Roman"/>
                <a:ea typeface="Times New Roman"/>
                <a:cs typeface="Times New Roman"/>
              </a:rPr>
              <a:t>Demo: inspect the data, drift signals and update decisions.</a:t>
            </a:r>
          </a:p>
          <a:p xmlns:a="http://schemas.openxmlformats.org/drawingml/2006/main">
            <a:pPr algn="l">
              <a:spcAft>
                <a:spcPts val="18"/>
              </a:spcAft>
              <a:defRPr sz="2400" b="0">
                <a:solidFill>
                  <a:srgbClr val="000000"/>
                </a:solidFill>
                <a:latin typeface="Times New Roman"/>
                <a:ea typeface="Times New Roman"/>
                <a:cs typeface="Times New Roman"/>
              </a:defRPr>
            </a:pPr>
            <a:r>
              <a:rPr sz="2400">
                <a:latin typeface="Times New Roman"/>
                <a:ea typeface="Times New Roman"/>
                <a:cs typeface="Times New Roman"/>
              </a:rPr>
              <a:t>Journal work: research draft prepared. No acceptance claimed.</a:t>
            </a:r>
          </a:p>
        </p:txBody>
      </p:sp>
      <p:sp>
        <p:nvSpPr>
          <p:cNvPr id="6" name="github.com/sani3055/DriftDetection">
            <a:extLst xmlns:a="http://schemas.openxmlformats.org/drawingml/2006/main">
              <a:ext uri="{FF2B5EF4-FFF2-40B4-BE49-F238E27FC236}">
                <a16:creationId xmlns:a16="http://schemas.microsoft.com/office/drawing/2014/main" id="{29B4F9DD-5AE8-4A67-8673-4838146DF040}"/>
              </a:ext>
            </a:extLst>
          </p:cNvPr>
          <p:cNvSpPr>
            <a:spLocks xmlns:a="http://schemas.openxmlformats.org/drawingml/2006/main" noGrp="1"/>
          </p:cNvSpPr>
          <p:nvPr/>
        </p:nvSpPr>
        <p:spPr>
          <a:xfrm xmlns:a="http://schemas.openxmlformats.org/drawingml/2006/main">
            <a:off x="838200" y="5476875"/>
            <a:ext cx="10515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200" b="0">
                <a:solidFill>
                  <a:srgbClr val="000000"/>
                </a:solidFill>
                <a:latin typeface="Times New Roman"/>
                <a:ea typeface="Times New Roman"/>
                <a:cs typeface="Times New Roman"/>
              </a:defRPr>
            </a:defPPr>
            <a:lvl1pPr algn="l">
              <a:defRPr sz="2200" b="0">
                <a:solidFill>
                  <a:srgbClr val="000000"/>
                </a:solidFill>
                <a:latin typeface="Times New Roman"/>
                <a:ea typeface="Times New Roman"/>
                <a:cs typeface="Times New Roman"/>
              </a:defRPr>
            </a:lvl1pPr>
            <a:lvl2pPr algn="l">
              <a:defRPr sz="2200" b="0">
                <a:solidFill>
                  <a:srgbClr val="000000"/>
                </a:solidFill>
                <a:latin typeface="Times New Roman"/>
                <a:ea typeface="Times New Roman"/>
                <a:cs typeface="Times New Roman"/>
              </a:defRPr>
            </a:lvl2pPr>
            <a:lvl3pPr algn="l">
              <a:defRPr sz="2200" b="0">
                <a:solidFill>
                  <a:srgbClr val="000000"/>
                </a:solidFill>
                <a:latin typeface="Times New Roman"/>
                <a:ea typeface="Times New Roman"/>
                <a:cs typeface="Times New Roman"/>
              </a:defRPr>
            </a:lvl3pPr>
            <a:lvl4pPr algn="l">
              <a:defRPr sz="2200" b="0">
                <a:solidFill>
                  <a:srgbClr val="000000"/>
                </a:solidFill>
                <a:latin typeface="Times New Roman"/>
                <a:ea typeface="Times New Roman"/>
                <a:cs typeface="Times New Roman"/>
              </a:defRPr>
            </a:lvl4pPr>
            <a:lvl5pPr algn="l">
              <a:defRPr sz="2200" b="0">
                <a:solidFill>
                  <a:srgbClr val="000000"/>
                </a:solidFill>
                <a:latin typeface="Times New Roman"/>
                <a:ea typeface="Times New Roman"/>
                <a:cs typeface="Times New Roman"/>
              </a:defRPr>
            </a:lvl5pPr>
            <a:lvl6pPr algn="l">
              <a:defRPr sz="2200" b="0">
                <a:solidFill>
                  <a:srgbClr val="000000"/>
                </a:solidFill>
                <a:latin typeface="Times New Roman"/>
                <a:ea typeface="Times New Roman"/>
                <a:cs typeface="Times New Roman"/>
              </a:defRPr>
            </a:lvl6pPr>
            <a:lvl7pPr algn="l">
              <a:defRPr sz="2200" b="0">
                <a:solidFill>
                  <a:srgbClr val="000000"/>
                </a:solidFill>
                <a:latin typeface="Times New Roman"/>
                <a:ea typeface="Times New Roman"/>
                <a:cs typeface="Times New Roman"/>
              </a:defRPr>
            </a:lvl7pPr>
            <a:lvl8pPr algn="l">
              <a:defRPr sz="2200" b="0">
                <a:solidFill>
                  <a:srgbClr val="000000"/>
                </a:solidFill>
                <a:latin typeface="Times New Roman"/>
                <a:ea typeface="Times New Roman"/>
                <a:cs typeface="Times New Roman"/>
              </a:defRPr>
            </a:lvl8pPr>
            <a:lvl9pPr algn="l">
              <a:defRPr sz="2200" b="0">
                <a:solidFill>
                  <a:srgbClr val="000000"/>
                </a:solidFill>
                <a:latin typeface="Times New Roman"/>
                <a:ea typeface="Times New Roman"/>
                <a:cs typeface="Times New Roman"/>
              </a:defRPr>
            </a:lvl9pPr>
          </a:lstStyle>
          <a:p xmlns:a="http://schemas.openxmlformats.org/drawingml/2006/main">
            <a:pPr algn="l">
              <a:defRPr sz="2200" b="0">
                <a:solidFill>
                  <a:srgbClr val="000000"/>
                </a:solidFill>
                <a:latin typeface="Times New Roman"/>
                <a:ea typeface="Times New Roman"/>
                <a:cs typeface="Times New Roman"/>
              </a:defRPr>
            </a:pPr>
            <a:r>
              <a:rPr sz="2200" b="0">
                <a:solidFill>
                  <a:srgbClr val="000000"/>
                </a:solidFill>
                <a:latin typeface="Times New Roman"/>
                <a:ea typeface="Times New Roman"/>
                <a:cs typeface="Times New Roman"/>
              </a:rPr>
              <a:t>github.com/sani3055/DriftDetection</a:t>
            </a:r>
          </a:p>
        </p:txBody>
      </p:sp>
    </p:spTree>
    <p:extLst>
      <p:ext uri="{BB962C8B-B14F-4D97-AF65-F5344CB8AC3E}">
        <p14:creationId xmlns:p14="http://schemas.microsoft.com/office/powerpoint/2010/main" val="407157071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4" name="object 2">
            <a:extLst xmlns:a="http://schemas.openxmlformats.org/drawingml/2006/main">
              <a:ext uri="{FF2B5EF4-FFF2-40B4-BE49-F238E27FC236}">
                <a16:creationId xmlns:a16="http://schemas.microsoft.com/office/drawing/2014/main" id="{7CFC0C65-61CC-E657-43F7-99C8E5362448}"/>
              </a:ext>
            </a:extLst>
          </p:cNvPr>
          <p:cNvSpPr>
            <a:spLocks xmlns:a="http://schemas.openxmlformats.org/drawingml/2006/main" noGrp="1"/>
          </p:cNvSpPr>
          <p:nvPr>
            <p:ph type="title" idx="0"/>
          </p:nvPr>
        </p:nvSpPr>
        <p:spPr>
          <a:xfrm xmlns:a="http://schemas.openxmlformats.org/drawingml/2006/main">
            <a:off x="460248" y="681037"/>
            <a:ext cx="10515600" cy="571119"/>
          </a:xfrm>
          <a:prstGeom xmlns:a="http://schemas.openxmlformats.org/drawingml/2006/main" prst="rect">
            <a:avLst/>
          </a:prstGeom>
        </p:spPr>
        <p:txBody>
          <a:bodyPr xmlns:a="http://schemas.openxmlformats.org/drawingml/2006/main" vert="horz" wrap="square" lIns="0" tIns="113919" rIns="0" bIns="0">
            <a:spAutoFit/>
          </a:bodyPr>
          <a:lstStyle xmlns:a="http://schemas.openxmlformats.org/drawingml/2006/main">
            <a:defPPr algn="l">
              <a:defRPr sz="3000" b="1">
                <a:solidFill>
                  <a:srgbClr val="000000"/>
                </a:solidFill>
                <a:latin typeface="Times New Roman"/>
                <a:ea typeface="Times New Roman"/>
                <a:cs typeface="Times New Roman"/>
              </a:defRPr>
            </a:defPPr>
            <a:lvl1pPr algn="l">
              <a:defRPr sz="3000" b="1">
                <a:solidFill>
                  <a:srgbClr val="000000"/>
                </a:solidFill>
                <a:latin typeface="Times New Roman"/>
                <a:ea typeface="Times New Roman"/>
                <a:cs typeface="Times New Roman"/>
              </a:defRPr>
            </a:lvl1pPr>
            <a:lvl2pPr algn="l">
              <a:defRPr sz="3000" b="1">
                <a:solidFill>
                  <a:srgbClr val="000000"/>
                </a:solidFill>
                <a:latin typeface="Times New Roman"/>
                <a:ea typeface="Times New Roman"/>
                <a:cs typeface="Times New Roman"/>
              </a:defRPr>
            </a:lvl2pPr>
            <a:lvl3pPr algn="l">
              <a:defRPr sz="3000" b="1">
                <a:solidFill>
                  <a:srgbClr val="000000"/>
                </a:solidFill>
                <a:latin typeface="Times New Roman"/>
                <a:ea typeface="Times New Roman"/>
                <a:cs typeface="Times New Roman"/>
              </a:defRPr>
            </a:lvl3pPr>
            <a:lvl4pPr algn="l">
              <a:defRPr sz="3000" b="1">
                <a:solidFill>
                  <a:srgbClr val="000000"/>
                </a:solidFill>
                <a:latin typeface="Times New Roman"/>
                <a:ea typeface="Times New Roman"/>
                <a:cs typeface="Times New Roman"/>
              </a:defRPr>
            </a:lvl4pPr>
            <a:lvl5pPr algn="l">
              <a:defRPr sz="3000" b="1">
                <a:solidFill>
                  <a:srgbClr val="000000"/>
                </a:solidFill>
                <a:latin typeface="Times New Roman"/>
                <a:ea typeface="Times New Roman"/>
                <a:cs typeface="Times New Roman"/>
              </a:defRPr>
            </a:lvl5pPr>
            <a:lvl6pPr algn="l">
              <a:defRPr sz="3000" b="1">
                <a:solidFill>
                  <a:srgbClr val="000000"/>
                </a:solidFill>
                <a:latin typeface="Times New Roman"/>
                <a:ea typeface="Times New Roman"/>
                <a:cs typeface="Times New Roman"/>
              </a:defRPr>
            </a:lvl6pPr>
            <a:lvl7pPr algn="l">
              <a:defRPr sz="3000" b="1">
                <a:solidFill>
                  <a:srgbClr val="000000"/>
                </a:solidFill>
                <a:latin typeface="Times New Roman"/>
                <a:ea typeface="Times New Roman"/>
                <a:cs typeface="Times New Roman"/>
              </a:defRPr>
            </a:lvl7pPr>
            <a:lvl8pPr algn="l">
              <a:defRPr sz="3000" b="1">
                <a:solidFill>
                  <a:srgbClr val="000000"/>
                </a:solidFill>
                <a:latin typeface="Times New Roman"/>
                <a:ea typeface="Times New Roman"/>
                <a:cs typeface="Times New Roman"/>
              </a:defRPr>
            </a:lvl8pPr>
            <a:lvl9pPr algn="l">
              <a:defRPr sz="3000" b="1">
                <a:solidFill>
                  <a:srgbClr val="000000"/>
                </a:solidFill>
                <a:latin typeface="Times New Roman"/>
                <a:ea typeface="Times New Roman"/>
                <a:cs typeface="Times New Roman"/>
              </a:defRPr>
            </a:lvl9pPr>
          </a:lstStyle>
          <a:p xmlns:a="http://schemas.openxmlformats.org/drawingml/2006/main">
            <a:pPr marL="486409" algn="l">
              <a:lnSpc>
                <a:spcPct val="100000"/>
              </a:lnSpc>
              <a:spcBef>
                <a:spcPts val="130"/>
              </a:spcBef>
              <a:buNone/>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References</a:t>
            </a:r>
            <a:endParaRPr sz="3000" b="1">
              <a:latin typeface="Times New Roman"/>
              <a:ea typeface="Times New Roman"/>
              <a:cs typeface="Times New Roman"/>
            </a:endParaRPr>
          </a:p>
        </p:txBody>
      </p:sp>
      <p:sp>
        <p:nvSpPr>
          <p:cNvPr id="5" name="28-10-2026">
            <a:extLst xmlns:a="http://schemas.openxmlformats.org/drawingml/2006/main">
              <a:ext uri="{FF2B5EF4-FFF2-40B4-BE49-F238E27FC236}">
                <a16:creationId xmlns:a16="http://schemas.microsoft.com/office/drawing/2014/main" id="{5CF7DC47-516B-4115-9A66-3108D64296D7}"/>
              </a:ext>
            </a:extLst>
          </p:cNvPr>
          <p:cNvSpPr>
            <a:spLocks xmlns:a="http://schemas.openxmlformats.org/drawingml/2006/main" noGrp="1"/>
          </p:cNvSpPr>
          <p:nvPr/>
        </p:nvSpPr>
        <p:spPr>
          <a:xfrm xmlns:a="http://schemas.openxmlformats.org/drawingml/2006/main">
            <a:off x="8382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00" b="0">
                <a:solidFill>
                  <a:srgbClr val="8B8B8B"/>
                </a:solidFill>
                <a:latin typeface="Times New Roman"/>
                <a:ea typeface="Times New Roman"/>
                <a:cs typeface="Times New Roman"/>
              </a:defRPr>
            </a:defPPr>
            <a:lvl1pPr algn="l">
              <a:defRPr sz="1200" b="0">
                <a:solidFill>
                  <a:srgbClr val="8B8B8B"/>
                </a:solidFill>
                <a:latin typeface="Times New Roman"/>
                <a:ea typeface="Times New Roman"/>
                <a:cs typeface="Times New Roman"/>
              </a:defRPr>
            </a:lvl1pPr>
            <a:lvl2pPr algn="l">
              <a:defRPr sz="1200" b="0">
                <a:solidFill>
                  <a:srgbClr val="8B8B8B"/>
                </a:solidFill>
                <a:latin typeface="Times New Roman"/>
                <a:ea typeface="Times New Roman"/>
                <a:cs typeface="Times New Roman"/>
              </a:defRPr>
            </a:lvl2pPr>
            <a:lvl3pPr algn="l">
              <a:defRPr sz="1200" b="0">
                <a:solidFill>
                  <a:srgbClr val="8B8B8B"/>
                </a:solidFill>
                <a:latin typeface="Times New Roman"/>
                <a:ea typeface="Times New Roman"/>
                <a:cs typeface="Times New Roman"/>
              </a:defRPr>
            </a:lvl3pPr>
            <a:lvl4pPr algn="l">
              <a:defRPr sz="1200" b="0">
                <a:solidFill>
                  <a:srgbClr val="8B8B8B"/>
                </a:solidFill>
                <a:latin typeface="Times New Roman"/>
                <a:ea typeface="Times New Roman"/>
                <a:cs typeface="Times New Roman"/>
              </a:defRPr>
            </a:lvl4pPr>
            <a:lvl5pPr algn="l">
              <a:defRPr sz="1200" b="0">
                <a:solidFill>
                  <a:srgbClr val="8B8B8B"/>
                </a:solidFill>
                <a:latin typeface="Times New Roman"/>
                <a:ea typeface="Times New Roman"/>
                <a:cs typeface="Times New Roman"/>
              </a:defRPr>
            </a:lvl5pPr>
            <a:lvl6pPr algn="l">
              <a:defRPr sz="1200" b="0">
                <a:solidFill>
                  <a:srgbClr val="8B8B8B"/>
                </a:solidFill>
                <a:latin typeface="Times New Roman"/>
                <a:ea typeface="Times New Roman"/>
                <a:cs typeface="Times New Roman"/>
              </a:defRPr>
            </a:lvl6pPr>
            <a:lvl7pPr algn="l">
              <a:defRPr sz="1200" b="0">
                <a:solidFill>
                  <a:srgbClr val="8B8B8B"/>
                </a:solidFill>
                <a:latin typeface="Times New Roman"/>
                <a:ea typeface="Times New Roman"/>
                <a:cs typeface="Times New Roman"/>
              </a:defRPr>
            </a:lvl7pPr>
            <a:lvl8pPr algn="l">
              <a:defRPr sz="1200" b="0">
                <a:solidFill>
                  <a:srgbClr val="8B8B8B"/>
                </a:solidFill>
                <a:latin typeface="Times New Roman"/>
                <a:ea typeface="Times New Roman"/>
                <a:cs typeface="Times New Roman"/>
              </a:defRPr>
            </a:lvl8pPr>
            <a:lvl9pPr algn="l">
              <a:defRPr sz="1200" b="0">
                <a:solidFill>
                  <a:srgbClr val="8B8B8B"/>
                </a:solidFill>
                <a:latin typeface="Times New Roman"/>
                <a:ea typeface="Times New Roman"/>
                <a:cs typeface="Times New Roman"/>
              </a:defRPr>
            </a:lvl9pPr>
          </a:lstStyle>
          <a:p xmlns:a="http://schemas.openxmlformats.org/drawingml/2006/main">
            <a:pPr algn="l">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28-10-2026</a:t>
            </a:r>
          </a:p>
        </p:txBody>
      </p:sp>
      <p:sp>
        <p:nvSpPr>
          <p:cNvPr id="6" name="SCOPE">
            <a:extLst xmlns:a="http://schemas.openxmlformats.org/drawingml/2006/main">
              <a:ext uri="{FF2B5EF4-FFF2-40B4-BE49-F238E27FC236}">
                <a16:creationId xmlns:a16="http://schemas.microsoft.com/office/drawing/2014/main" id="{970854A9-FA75-4D58-8671-821C3BDBEEA5}"/>
              </a:ext>
            </a:extLst>
          </p:cNvPr>
          <p:cNvSpPr>
            <a:spLocks xmlns:a="http://schemas.openxmlformats.org/drawingml/2006/main" noGrp="1"/>
          </p:cNvSpPr>
          <p:nvPr/>
        </p:nvSpPr>
        <p:spPr>
          <a:xfrm xmlns:a="http://schemas.openxmlformats.org/drawingml/2006/main">
            <a:off x="4038600" y="6356318"/>
            <a:ext cx="41148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ctr">
              <a:defRPr sz="1200" b="0">
                <a:solidFill>
                  <a:srgbClr val="8B8B8B"/>
                </a:solidFill>
                <a:latin typeface="Times New Roman"/>
                <a:ea typeface="Times New Roman"/>
                <a:cs typeface="Times New Roman"/>
              </a:defRPr>
            </a:defPPr>
            <a:lvl1pPr algn="ctr">
              <a:defRPr sz="1200" b="0">
                <a:solidFill>
                  <a:srgbClr val="8B8B8B"/>
                </a:solidFill>
                <a:latin typeface="Times New Roman"/>
                <a:ea typeface="Times New Roman"/>
                <a:cs typeface="Times New Roman"/>
              </a:defRPr>
            </a:lvl1pPr>
            <a:lvl2pPr algn="ctr">
              <a:defRPr sz="1200" b="0">
                <a:solidFill>
                  <a:srgbClr val="8B8B8B"/>
                </a:solidFill>
                <a:latin typeface="Times New Roman"/>
                <a:ea typeface="Times New Roman"/>
                <a:cs typeface="Times New Roman"/>
              </a:defRPr>
            </a:lvl2pPr>
            <a:lvl3pPr algn="ctr">
              <a:defRPr sz="1200" b="0">
                <a:solidFill>
                  <a:srgbClr val="8B8B8B"/>
                </a:solidFill>
                <a:latin typeface="Times New Roman"/>
                <a:ea typeface="Times New Roman"/>
                <a:cs typeface="Times New Roman"/>
              </a:defRPr>
            </a:lvl3pPr>
            <a:lvl4pPr algn="ctr">
              <a:defRPr sz="1200" b="0">
                <a:solidFill>
                  <a:srgbClr val="8B8B8B"/>
                </a:solidFill>
                <a:latin typeface="Times New Roman"/>
                <a:ea typeface="Times New Roman"/>
                <a:cs typeface="Times New Roman"/>
              </a:defRPr>
            </a:lvl4pPr>
            <a:lvl5pPr algn="ctr">
              <a:defRPr sz="1200" b="0">
                <a:solidFill>
                  <a:srgbClr val="8B8B8B"/>
                </a:solidFill>
                <a:latin typeface="Times New Roman"/>
                <a:ea typeface="Times New Roman"/>
                <a:cs typeface="Times New Roman"/>
              </a:defRPr>
            </a:lvl5pPr>
            <a:lvl6pPr algn="ctr">
              <a:defRPr sz="1200" b="0">
                <a:solidFill>
                  <a:srgbClr val="8B8B8B"/>
                </a:solidFill>
                <a:latin typeface="Times New Roman"/>
                <a:ea typeface="Times New Roman"/>
                <a:cs typeface="Times New Roman"/>
              </a:defRPr>
            </a:lvl6pPr>
            <a:lvl7pPr algn="ctr">
              <a:defRPr sz="1200" b="0">
                <a:solidFill>
                  <a:srgbClr val="8B8B8B"/>
                </a:solidFill>
                <a:latin typeface="Times New Roman"/>
                <a:ea typeface="Times New Roman"/>
                <a:cs typeface="Times New Roman"/>
              </a:defRPr>
            </a:lvl7pPr>
            <a:lvl8pPr algn="ctr">
              <a:defRPr sz="1200" b="0">
                <a:solidFill>
                  <a:srgbClr val="8B8B8B"/>
                </a:solidFill>
                <a:latin typeface="Times New Roman"/>
                <a:ea typeface="Times New Roman"/>
                <a:cs typeface="Times New Roman"/>
              </a:defRPr>
            </a:lvl8pPr>
            <a:lvl9pPr algn="ctr">
              <a:defRPr sz="1200" b="0">
                <a:solidFill>
                  <a:srgbClr val="8B8B8B"/>
                </a:solidFill>
                <a:latin typeface="Times New Roman"/>
                <a:ea typeface="Times New Roman"/>
                <a:cs typeface="Times New Roman"/>
              </a:defRPr>
            </a:lvl9pPr>
          </a:lstStyle>
          <a:p xmlns:a="http://schemas.openxmlformats.org/drawingml/2006/main">
            <a:pPr algn="ct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SCOPE</a:t>
            </a:r>
          </a:p>
        </p:txBody>
      </p:sp>
      <p:sp>
        <p:nvSpPr>
          <p:cNvPr id="7" name="15">
            <a:extLst xmlns:a="http://schemas.openxmlformats.org/drawingml/2006/main">
              <a:ext uri="{FF2B5EF4-FFF2-40B4-BE49-F238E27FC236}">
                <a16:creationId xmlns:a16="http://schemas.microsoft.com/office/drawing/2014/main" id="{9886B07B-BEF6-4AB3-ADA6-4C0BC6D8084C}"/>
              </a:ext>
            </a:extLst>
          </p:cNvPr>
          <p:cNvSpPr>
            <a:spLocks xmlns:a="http://schemas.openxmlformats.org/drawingml/2006/main" noGrp="1"/>
          </p:cNvSpPr>
          <p:nvPr/>
        </p:nvSpPr>
        <p:spPr>
          <a:xfrm xmlns:a="http://schemas.openxmlformats.org/drawingml/2006/main">
            <a:off x="8610600" y="6356318"/>
            <a:ext cx="2743200" cy="3650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200" b="0">
                <a:solidFill>
                  <a:srgbClr val="8B8B8B"/>
                </a:solidFill>
                <a:latin typeface="Times New Roman"/>
                <a:ea typeface="Times New Roman"/>
                <a:cs typeface="Times New Roman"/>
              </a:defRPr>
            </a:defPPr>
            <a:lvl1pPr algn="r">
              <a:defRPr sz="1200" b="0">
                <a:solidFill>
                  <a:srgbClr val="8B8B8B"/>
                </a:solidFill>
                <a:latin typeface="Times New Roman"/>
                <a:ea typeface="Times New Roman"/>
                <a:cs typeface="Times New Roman"/>
              </a:defRPr>
            </a:lvl1pPr>
            <a:lvl2pPr algn="r">
              <a:defRPr sz="1200" b="0">
                <a:solidFill>
                  <a:srgbClr val="8B8B8B"/>
                </a:solidFill>
                <a:latin typeface="Times New Roman"/>
                <a:ea typeface="Times New Roman"/>
                <a:cs typeface="Times New Roman"/>
              </a:defRPr>
            </a:lvl2pPr>
            <a:lvl3pPr algn="r">
              <a:defRPr sz="1200" b="0">
                <a:solidFill>
                  <a:srgbClr val="8B8B8B"/>
                </a:solidFill>
                <a:latin typeface="Times New Roman"/>
                <a:ea typeface="Times New Roman"/>
                <a:cs typeface="Times New Roman"/>
              </a:defRPr>
            </a:lvl3pPr>
            <a:lvl4pPr algn="r">
              <a:defRPr sz="1200" b="0">
                <a:solidFill>
                  <a:srgbClr val="8B8B8B"/>
                </a:solidFill>
                <a:latin typeface="Times New Roman"/>
                <a:ea typeface="Times New Roman"/>
                <a:cs typeface="Times New Roman"/>
              </a:defRPr>
            </a:lvl4pPr>
            <a:lvl5pPr algn="r">
              <a:defRPr sz="1200" b="0">
                <a:solidFill>
                  <a:srgbClr val="8B8B8B"/>
                </a:solidFill>
                <a:latin typeface="Times New Roman"/>
                <a:ea typeface="Times New Roman"/>
                <a:cs typeface="Times New Roman"/>
              </a:defRPr>
            </a:lvl5pPr>
            <a:lvl6pPr algn="r">
              <a:defRPr sz="1200" b="0">
                <a:solidFill>
                  <a:srgbClr val="8B8B8B"/>
                </a:solidFill>
                <a:latin typeface="Times New Roman"/>
                <a:ea typeface="Times New Roman"/>
                <a:cs typeface="Times New Roman"/>
              </a:defRPr>
            </a:lvl6pPr>
            <a:lvl7pPr algn="r">
              <a:defRPr sz="1200" b="0">
                <a:solidFill>
                  <a:srgbClr val="8B8B8B"/>
                </a:solidFill>
                <a:latin typeface="Times New Roman"/>
                <a:ea typeface="Times New Roman"/>
                <a:cs typeface="Times New Roman"/>
              </a:defRPr>
            </a:lvl7pPr>
            <a:lvl8pPr algn="r">
              <a:defRPr sz="1200" b="0">
                <a:solidFill>
                  <a:srgbClr val="8B8B8B"/>
                </a:solidFill>
                <a:latin typeface="Times New Roman"/>
                <a:ea typeface="Times New Roman"/>
                <a:cs typeface="Times New Roman"/>
              </a:defRPr>
            </a:lvl8pPr>
            <a:lvl9pPr algn="r">
              <a:defRPr sz="1200" b="0">
                <a:solidFill>
                  <a:srgbClr val="8B8B8B"/>
                </a:solidFill>
                <a:latin typeface="Times New Roman"/>
                <a:ea typeface="Times New Roman"/>
                <a:cs typeface="Times New Roman"/>
              </a:defRPr>
            </a:lvl9pPr>
          </a:lstStyle>
          <a:p xmlns:a="http://schemas.openxmlformats.org/drawingml/2006/main">
            <a:pPr algn="r">
              <a:defRPr sz="1200" b="0">
                <a:solidFill>
                  <a:srgbClr val="8B8B8B"/>
                </a:solidFill>
                <a:latin typeface="Times New Roman"/>
                <a:ea typeface="Times New Roman"/>
                <a:cs typeface="Times New Roman"/>
              </a:defRPr>
            </a:pPr>
            <a:r>
              <a:rPr sz="1200" b="0">
                <a:solidFill>
                  <a:srgbClr val="8B8B8B"/>
                </a:solidFill>
                <a:latin typeface="Times New Roman"/>
                <a:ea typeface="Times New Roman"/>
                <a:cs typeface="Times New Roman"/>
              </a:rPr>
              <a:t>15</a:t>
            </a:r>
          </a:p>
        </p:txBody>
      </p:sp>
      <p:sp>
        <p:nvSpPr>
          <p:cNvPr id="8" name="">
            <a:extLst xmlns:a="http://schemas.openxmlformats.org/drawingml/2006/main">
              <a:ext uri="{FF2B5EF4-FFF2-40B4-BE49-F238E27FC236}">
                <a16:creationId xmlns:a16="http://schemas.microsoft.com/office/drawing/2014/main" id="{88DF08C7-ACB6-466D-9C76-837C74A4F9BD}"/>
              </a:ext>
            </a:extLst>
          </p:cNvPr>
          <p:cNvSpPr>
            <a:spLocks xmlns:a="http://schemas.openxmlformats.org/drawingml/2006/main" noGrp="1"/>
          </p:cNvSpPr>
          <p:nvPr/>
        </p:nvSpPr>
        <p:spPr>
          <a:xfrm xmlns:a="http://schemas.openxmlformats.org/drawingml/2006/main">
            <a:off x="838200" y="1638300"/>
            <a:ext cx="10515600" cy="433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000" b="0">
                <a:solidFill>
                  <a:srgbClr val="000000"/>
                </a:solidFill>
                <a:latin typeface="Times New Roman"/>
                <a:ea typeface="Times New Roman"/>
                <a:cs typeface="Times New Roman"/>
              </a:defRPr>
            </a:defPPr>
            <a:lvl1pPr algn="l">
              <a:defRPr sz="2000" b="0">
                <a:solidFill>
                  <a:srgbClr val="000000"/>
                </a:solidFill>
                <a:latin typeface="Times New Roman"/>
                <a:ea typeface="Times New Roman"/>
                <a:cs typeface="Times New Roman"/>
              </a:defRPr>
            </a:lvl1pPr>
            <a:lvl2pPr algn="l">
              <a:defRPr sz="2000" b="0">
                <a:solidFill>
                  <a:srgbClr val="000000"/>
                </a:solidFill>
                <a:latin typeface="Times New Roman"/>
                <a:ea typeface="Times New Roman"/>
                <a:cs typeface="Times New Roman"/>
              </a:defRPr>
            </a:lvl2pPr>
            <a:lvl3pPr algn="l">
              <a:defRPr sz="2000" b="0">
                <a:solidFill>
                  <a:srgbClr val="000000"/>
                </a:solidFill>
                <a:latin typeface="Times New Roman"/>
                <a:ea typeface="Times New Roman"/>
                <a:cs typeface="Times New Roman"/>
              </a:defRPr>
            </a:lvl3pPr>
            <a:lvl4pPr algn="l">
              <a:defRPr sz="2000" b="0">
                <a:solidFill>
                  <a:srgbClr val="000000"/>
                </a:solidFill>
                <a:latin typeface="Times New Roman"/>
                <a:ea typeface="Times New Roman"/>
                <a:cs typeface="Times New Roman"/>
              </a:defRPr>
            </a:lvl4pPr>
            <a:lvl5pPr algn="l">
              <a:defRPr sz="2000" b="0">
                <a:solidFill>
                  <a:srgbClr val="000000"/>
                </a:solidFill>
                <a:latin typeface="Times New Roman"/>
                <a:ea typeface="Times New Roman"/>
                <a:cs typeface="Times New Roman"/>
              </a:defRPr>
            </a:lvl5pPr>
            <a:lvl6pPr algn="l">
              <a:defRPr sz="2000" b="0">
                <a:solidFill>
                  <a:srgbClr val="000000"/>
                </a:solidFill>
                <a:latin typeface="Times New Roman"/>
                <a:ea typeface="Times New Roman"/>
                <a:cs typeface="Times New Roman"/>
              </a:defRPr>
            </a:lvl6pPr>
            <a:lvl7pPr algn="l">
              <a:defRPr sz="2000" b="0">
                <a:solidFill>
                  <a:srgbClr val="000000"/>
                </a:solidFill>
                <a:latin typeface="Times New Roman"/>
                <a:ea typeface="Times New Roman"/>
                <a:cs typeface="Times New Roman"/>
              </a:defRPr>
            </a:lvl7pPr>
            <a:lvl8pPr algn="l">
              <a:defRPr sz="2000" b="0">
                <a:solidFill>
                  <a:srgbClr val="000000"/>
                </a:solidFill>
                <a:latin typeface="Times New Roman"/>
                <a:ea typeface="Times New Roman"/>
                <a:cs typeface="Times New Roman"/>
              </a:defRPr>
            </a:lvl8pPr>
            <a:lvl9pPr algn="l">
              <a:defRPr sz="2000" b="0">
                <a:solidFill>
                  <a:srgbClr val="000000"/>
                </a:solidFill>
                <a:latin typeface="Times New Roman"/>
                <a:ea typeface="Times New Roman"/>
                <a:cs typeface="Times New Roman"/>
              </a:defRPr>
            </a:lvl9pPr>
          </a:lstStyle>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[1] Liu, Ting and Zhou. Isolation Forest. IEEE ICDM, 2008.</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[2] Lundberg and Lee. A Unified Approach to Interpreting Model Predictions. NeurIPS, 2017.</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[3] Sethi and Kantardzic. Reliable detection of concept drift from unlabelled data. ESWA, 2017.</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[4] Han et al. Normality Shift Detection, Explanation and Adaptation. NDSS, 2023.</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[5] Lee et al. Explainable model drift detection in unsupervised settings. CMC, 2023.</a:t>
            </a:r>
          </a:p>
          <a:p xmlns:a="http://schemas.openxmlformats.org/drawingml/2006/main">
            <a:pPr algn="l">
              <a:spcAft>
                <a:spcPts val="18"/>
              </a:spcAft>
              <a:defRPr sz="2000" b="0">
                <a:solidFill>
                  <a:srgbClr val="000000"/>
                </a:solidFill>
                <a:latin typeface="Times New Roman"/>
                <a:ea typeface="Times New Roman"/>
                <a:cs typeface="Times New Roman"/>
              </a:defRPr>
            </a:pPr>
            <a:r>
              <a:rPr sz="2000">
                <a:latin typeface="Times New Roman"/>
                <a:ea typeface="Times New Roman"/>
                <a:cs typeface="Times New Roman"/>
              </a:rPr>
              <a:t>[6] AWS CloudTrail and SageMaker feature-attribution documentation.</a:t>
            </a:r>
          </a:p>
        </p:txBody>
      </p:sp>
    </p:spTree>
    <p:extLst>
      <p:ext uri="{BB962C8B-B14F-4D97-AF65-F5344CB8AC3E}">
        <p14:creationId xmlns:p14="http://schemas.microsoft.com/office/powerpoint/2010/main" val="351052624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2026-10-26T21:20:13.1020000Z</dcterms:created>
  <dcterms:modified xsi:type="dcterms:W3CDTF">2026-10-26T21:20:13.1020000Z</dcterms:modified>
</coreProperties>
</file>