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7CA4"/>
          </a:solidFill>
          <a:ln w="10160">
            <a:solidFill>
              <a:srgbClr val="267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67CA4"/>
                </a:solidFill>
                <a:latin typeface="Arial"/>
              </a:rPr>
              <a:t>CAPSTONE / IDP JOURNAL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768096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365D"/>
                </a:solidFill>
                <a:latin typeface="Arial"/>
              </a:rPr>
              <a:t>SHAP-Guided Drift Diagnosis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365D"/>
                </a:solidFill>
                <a:latin typeface="Arial"/>
              </a:rPr>
              <a:t>for Adaptive AWS CloudTrail 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706866"/>
                </a:solidFill>
                <a:latin typeface="Arial"/>
              </a:rPr>
              <a:t>Research implementation, PRISMA evidence package, and Q1/Q2 journal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983480"/>
            <a:ext cx="7132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7291F"/>
                </a:solidFill>
                <a:latin typeface="Arial"/>
              </a:rPr>
              <a:t>Project folder placeholder: Project_XX - replace XX with assigned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Prepared for supervisor progress review | 21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The research problem is deciding when to adapt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64208"/>
            <a:ext cx="4480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37291F"/>
                </a:solidFill>
                <a:latin typeface="Arial"/>
              </a:rPr>
              <a:t>Cloud activity changes for legitimate reasons: new services, regions, identities, and automation. A feature alarm alone cannot tell us whether the detector should be retrained.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600200"/>
            <a:ext cx="2788920" cy="896112"/>
          </a:xfrm>
          <a:prstGeom prst="roundRect">
            <a:avLst/>
          </a:prstGeom>
          <a:solidFill>
            <a:srgbClr val="F8F1E8"/>
          </a:solidFill>
          <a:ln w="10160">
            <a:solidFill>
              <a:srgbClr val="E0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06440" y="176479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7365D"/>
                </a:solidFill>
                <a:latin typeface="Arial"/>
              </a:rPr>
              <a:t>Feature drift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112264"/>
            <a:ext cx="2377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The observed records 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2834640"/>
            <a:ext cx="2788920" cy="896112"/>
          </a:xfrm>
          <a:prstGeom prst="roundRect">
            <a:avLst/>
          </a:prstGeom>
          <a:solidFill>
            <a:srgbClr val="F4F6EA"/>
          </a:solidFill>
          <a:ln w="10160">
            <a:solidFill>
              <a:srgbClr val="D8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299923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67CA4"/>
                </a:solidFill>
                <a:latin typeface="Arial"/>
              </a:rPr>
              <a:t>Attribution drift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346704"/>
            <a:ext cx="2377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The detector relies differently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069080"/>
            <a:ext cx="2788920" cy="896112"/>
          </a:xfrm>
          <a:prstGeom prst="roundRect">
            <a:avLst/>
          </a:prstGeom>
          <a:solidFill>
            <a:srgbClr val="E5F4FF"/>
          </a:solidFill>
          <a:ln w="10160">
            <a:solidFill>
              <a:srgbClr val="D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423367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F6AB8"/>
                </a:solidFill>
                <a:latin typeface="Arial"/>
              </a:rPr>
              <a:t>Adaptation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4581144"/>
            <a:ext cx="2377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Retrain only with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4572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7365D"/>
                </a:solidFill>
                <a:latin typeface="Arial"/>
              </a:rPr>
              <a:t>Research question: does combining feature drift with SHAP-attribution drift reduce unnecessary adaptation without losing controlled security sensitivity?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Source: project artifacts | Status: research prototype and submission package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The study separates observation from labelled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657600" cy="3154680"/>
          </a:xfrm>
          <a:prstGeom prst="roundRect">
            <a:avLst/>
          </a:prstGeom>
          <a:solidFill>
            <a:srgbClr val="F8F1E8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365D"/>
                </a:solidFill>
                <a:latin typeface="Arial"/>
              </a:rPr>
              <a:t>TRACK A - REAL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31546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- 1,939,207 CloudTrail-style records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- 45 chronological monthly windows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feature and SHAP drift timelines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no attack labels -&gt; observational claims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691640"/>
            <a:ext cx="3657600" cy="3154680"/>
          </a:xfrm>
          <a:prstGeom prst="roundRect">
            <a:avLst/>
          </a:prstGeom>
          <a:solidFill>
            <a:srgbClr val="F4F6EA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96596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67CA4"/>
                </a:solidFill>
                <a:latin typeface="Arial"/>
              </a:rPr>
              <a:t>TRACK B - CONTROLLED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468880"/>
            <a:ext cx="31546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semantic benign/security perturbations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validation-tuned thresholds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held-out seeds and scenarios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diagnosis and adaptation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Source: data_manifest/real_cloudtrail_manifest.json; data/benchmark/*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The real corpus is large, but the protocol respects its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719072" cy="1280160"/>
          </a:xfrm>
          <a:prstGeom prst="roundRect">
            <a:avLst/>
          </a:prstGeom>
          <a:solidFill>
            <a:srgbClr val="FCF9F7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71907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7365D"/>
                </a:solidFill>
                <a:latin typeface="Arial"/>
              </a:rPr>
              <a:t>1.94M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71907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2888" y="1645920"/>
            <a:ext cx="1719072" cy="1280160"/>
          </a:xfrm>
          <a:prstGeom prst="roundRect">
            <a:avLst/>
          </a:prstGeom>
          <a:solidFill>
            <a:srgbClr val="FCF9F7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32888" y="1874519"/>
            <a:ext cx="171907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7365D"/>
                </a:solidFill>
                <a:latin typeface="Arial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2331720"/>
            <a:ext cx="171907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months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1645920"/>
            <a:ext cx="1719072" cy="1280160"/>
          </a:xfrm>
          <a:prstGeom prst="roundRect">
            <a:avLst/>
          </a:prstGeom>
          <a:solidFill>
            <a:srgbClr val="FCF9F7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874519"/>
            <a:ext cx="171907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7365D"/>
                </a:solidFill>
                <a:latin typeface="Arial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331720"/>
            <a:ext cx="171907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383" y="1645920"/>
            <a:ext cx="1719072" cy="1280160"/>
          </a:xfrm>
          <a:prstGeom prst="roundRect">
            <a:avLst/>
          </a:prstGeom>
          <a:solidFill>
            <a:srgbClr val="FCF9F7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3" y="1874519"/>
            <a:ext cx="171907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7365D"/>
                </a:solidFill>
                <a:latin typeface="Arial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3" y="2331720"/>
            <a:ext cx="171907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attack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67CA4"/>
                </a:solidFill>
                <a:latin typeface="Arial"/>
              </a:rPr>
              <a:t>Chronological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37291F"/>
                </a:solidFill>
                <a:latin typeface="Arial"/>
              </a:rPr>
              <a:t>27 train months  -&gt;  9 validation months  -&gt;  9 held-out test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7680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706866"/>
                </a:solidFill>
                <a:latin typeface="Arial"/>
              </a:rPr>
              <a:t>The richer raw export confirms day/hour timestamps exist, but it is the same underlying corpus - not independent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Source: project artifacts | Status: research prototype and submission package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Dual-signal diagnosis gates protected adaptation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103120"/>
            <a:ext cx="1517904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67CA4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7365D"/>
                </a:solidFill>
                <a:latin typeface="Arial"/>
              </a:rPr>
              <a:t>Encode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126187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06866"/>
                </a:solidFill>
                <a:latin typeface="Arial"/>
              </a:rPr>
              <a:t>Train-only category maps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12264" y="2103120"/>
            <a:ext cx="1517904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2860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67CA4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7432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7365D"/>
                </a:solidFill>
                <a:latin typeface="Arial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1136" y="3246120"/>
            <a:ext cx="126187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06866"/>
                </a:solidFill>
                <a:latin typeface="Arial"/>
              </a:rPr>
              <a:t>Isolation Forest anomaly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103120"/>
            <a:ext cx="1517904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22860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67CA4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27432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7365D"/>
                </a:solidFill>
                <a:latin typeface="Arial"/>
              </a:rPr>
              <a:t>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3246120"/>
            <a:ext cx="126187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06866"/>
                </a:solidFill>
                <a:latin typeface="Arial"/>
              </a:rPr>
              <a:t>TreeSHAP attribution vectors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68696" y="2103120"/>
            <a:ext cx="1517904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7568" y="22860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67CA4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27432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7365D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3246120"/>
            <a:ext cx="126187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06866"/>
                </a:solidFill>
                <a:latin typeface="Arial"/>
              </a:rPr>
              <a:t>Feature + attribution drift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6912" y="2103120"/>
            <a:ext cx="1517904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5783" y="22860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67CA4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7432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7365D"/>
                </a:solidFill>
                <a:latin typeface="Arial"/>
              </a:rPr>
              <a:t>Adapt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783" y="3246120"/>
            <a:ext cx="126187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06866"/>
                </a:solidFill>
                <a:latin typeface="Arial"/>
              </a:rPr>
              <a:t>Replay + normal-candidate retraining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F6AB8"/>
                </a:solidFill>
                <a:latin typeface="Arial"/>
              </a:rPr>
              <a:t>Stable -&gt; benign drift -&gt; security-relevant drift -&gt; review 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Source: project artifacts | Status: research prototype and submission package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The benchmark shows lower unnecessary adaptation, not universal F1 gains</a:t>
            </a:r>
          </a:p>
        </p:txBody>
      </p:sp>
      <p:pic>
        <p:nvPicPr>
          <p:cNvPr id="4" name="Picture 3" descr="adaptation_poli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5029200" cy="3063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783080"/>
            <a:ext cx="2743200" cy="2697480"/>
          </a:xfrm>
          <a:prstGeom prst="roundRect">
            <a:avLst/>
          </a:prstGeom>
          <a:solidFill>
            <a:srgbClr val="FCF9F7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0" y="20574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67CA4"/>
                </a:solidFill>
                <a:latin typeface="Arial"/>
              </a:rPr>
              <a:t>Measured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514600"/>
            <a:ext cx="219456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>Dual-signal vs static: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>F1 difference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>-0.0028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>False-positive-rate difference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>-0.0885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>BH-adjusted q = 0.00043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Source: results/paired_inference.csv; semi-synthetic benchmark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Ablations expose detector and window-size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7365D"/>
                </a:solidFill>
                <a:latin typeface="Arial"/>
              </a:rPr>
              <a:t>Independent labelled CloudTrail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466344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291F"/>
                </a:solidFill>
                <a:latin typeface="Arial"/>
              </a:rPr>
              <a:t>Isolation Forest: recall 0.7137 | F1 0.4519 | FPR 0.1738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291F"/>
                </a:solidFill>
                <a:latin typeface="Arial"/>
              </a:rPr>
              <a:t>LOF: recall 0.9954 | F1 0.5334 | FPR 0.2088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291F"/>
                </a:solidFill>
                <a:latin typeface="Arial"/>
              </a:rPr>
              <a:t>One-Class SVM: recall 0.0008 | F1 0.0015 | FPR 0.0042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291F"/>
                </a:solidFill>
                <a:latin typeface="Arial"/>
              </a:rPr>
              <a:t>External temporal checkpoint: all policies F1 0.9524; FPR 0.5000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67CA4"/>
                </a:solidFill>
                <a:latin typeface="Arial"/>
              </a:rPr>
              <a:t>Window-size ablation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33832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Security recall: 100 rows = 0.0884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200 rows = 0.4918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500 rows = 0.4152</a:t>
            </a:r>
          </a:p>
        </p:txBody>
      </p:sp>
      <p:pic>
        <p:nvPicPr>
          <p:cNvPr id="8" name="Picture 7" descr="diagnosis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37360"/>
            <a:ext cx="274320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Source: data/robustness/*; data/external_validation/*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The submission package is prepared; four actions remain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749039" cy="3200400"/>
          </a:xfrm>
          <a:prstGeom prst="roundRect">
            <a:avLst/>
          </a:prstGeom>
          <a:solidFill>
            <a:srgbClr val="F4F6EA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38528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67CA4"/>
                </a:solidFill>
                <a:latin typeface="Arial"/>
              </a:rPr>
              <a:t>READY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423160"/>
            <a:ext cx="3200400" cy="2057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[OK] Working implementation and results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[OK] 100-record 2022-2026 evidence set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[OK] PRISMA protocol and flow accounting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[OK] Consolidated Word review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[OK] Project report draft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[OK] Presentation and journal shortlist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645920"/>
            <a:ext cx="3657600" cy="3200400"/>
          </a:xfrm>
          <a:prstGeom prst="roundRect">
            <a:avLst/>
          </a:prstGeom>
          <a:solidFill>
            <a:srgbClr val="E5F4FF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93792" y="1938528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F6AB8"/>
                </a:solidFill>
                <a:latin typeface="Arial"/>
              </a:rPr>
              <a:t>MANUAL BEFORE SENDING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3792" y="2423160"/>
            <a:ext cx="306324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1. Replace Project_XX with assigned number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2. Two-reviewer title/abstract/full-text screening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3. Recheck current Q1/Q2 status and author guidelines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4. Supervisor/team review and Google Drive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8046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365D"/>
                </a:solidFill>
                <a:latin typeface="Arial"/>
              </a:rPr>
              <a:t>Working target: IEEE Transactions on Cloud Computing (Q1 in the attached 2023 JCR list)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The package is transparent about what is complete and what still requires human confirmation.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